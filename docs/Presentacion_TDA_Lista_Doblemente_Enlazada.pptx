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daab9e3a-f137-1b8e-78af-e963c0643297}">
          <p14:sldIdLst>
            <p14:sldId id="256"/>
            <p14:sldId id="257"/>
          </p14:sldIdLst>
        </p14:section>
        <p14:section name="Fundamentos" id="{774090a9-1ec0-a2e4-99a9-a8146e60fe5b}">
          <p14:sldIdLst>
            <p14:sldId id="258"/>
            <p14:sldId id="259"/>
            <p14:sldId id="260"/>
            <p14:sldId id="261"/>
          </p14:sldIdLst>
        </p14:section>
        <p14:section name="Especificación" id="{5e3fb4ad-6f6a-47d8-c8cc-e339d689022c}">
          <p14:sldIdLst>
            <p14:sldId id="262"/>
            <p14:sldId id="263"/>
            <p14:sldId id="264"/>
          </p14:sldIdLst>
        </p14:section>
        <p14:section name="Implementación" id="{c1c351cc-0244-4f56-47d8-3784f0e51af1}">
          <p14:sldIdLst>
            <p14:sldId id="265"/>
            <p14:sldId id="266"/>
            <p14:sldId id="267"/>
            <p14:sldId id="268"/>
            <p14:sldId id="269"/>
            <p14:sldId id="270"/>
            <p14:sldId id="271"/>
            <p14:sldId id="272"/>
            <p14:sldId id="273"/>
          </p14:sldIdLst>
        </p14:section>
        <p14:section name="Historial" id="{21484cfb-f2ca-7993-70f1-2a20f4700562}">
          <p14:sldIdLst>
            <p14:sldId id="274"/>
            <p14:sldId id="275"/>
            <p14:sldId id="276"/>
            <p14:sldId id="277"/>
            <p14:sldId id="278"/>
          </p14:sldIdLst>
        </p14:section>
        <p14:section name="Verificación" id="{61ecf321-69fe-bdfa-39d6-a4ac4e97d384}">
          <p14:sldIdLst>
            <p14:sldId id="279"/>
            <p14:sldId id="280"/>
            <p14:sldId id="281"/>
            <p14:sldId id="282"/>
          </p14:sldIdLst>
        </p14:section>
        <p14:section name="Cierre" id="{30673617-f3b1-96e1-4765-d1a561e888c0}">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En esta exposición explicamos a nivel técnico cómo diseñamos e implementamos un Tipo de Dato Abstracto Lista con una lista doblemente enlazada, y cómo lo usa nuestro juego Chess Java para guardar, anotar y deshacer las jugadas de cada partida.
Vamos a mostrar el código real de cada operación: crear, consultar, editar, eliminar y recorrer, junto con la lógica de punteros que hay detrás.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exposición tiene cinco partes. Primero los fundamentos: qué es un TDA y cómo funcionan los punteros en Java. Luego la especificación, que es el contrato de la lista. Después la implementación, operación por operación. En la cuarta parte vemos cómo el historial de movimientos usa la lista dentro del juego, y cerramos con la complejidad, las pruebas y las decisiones de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los fundamentos que justifican el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TDA separa el contrato de la representación. A la izquierda está lo público: la interfaz TADLista con sus operaciones agrupadas en crear, consultar, editar, eliminar y recorrer. Es lo único que conocen las demás clases.
A la derecha está lo privado. Están encapsuladas tanto las variables, que son cabeza, cola, tamaño y el contador de modificaciones, como el tipo Nodo y los métodos auxiliares que manipulan punteros. Ninguna clase externa puede llamar a desenlazar o a nodoEn, ni ver un nodo: el compilador lo impide. Así garantizamos que la lista nunca quede en un estado inválido por culpa de código externo.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Java no existe la aritmética de punteros de C, pero cada variable de tipo objeto es una referencia, es decir, guarda la dirección del objeto. Funciona exactamente como un puntero, con la diferencia de que la JVM lo administra.
Arriba vemos una lista doble en memoria: cada nodo guarda la dirección de su anterior y de su siguiente. El primer nodo, en la 500, tiene anterior null; el último, en la 700, tiene siguiente null. La lista solo guarda dos referencias: cabeza, que vale 500, y cola, que vale 700.
La tabla muestra la equivalencia con C. Lo importante es la última fila: en Java no hay free; para liberar un nodo basta con cortar todas las referencias hacia él y el recolector de basura lo elimina. Por eso, al eliminar, nosotros ponemos en null los punteros del nodo.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quedó la arquitectura. En el paquete estructuras está lo genérico: la interfaz TADLista y su implementación ListaDoblementeEnlazada. Dentro de la implementación, como clases privadas, están el Nodo y el Iterador; no existen fuera de ella.
En el paquete modelos está lo propio del ajedrez. Movimiento es el dato que guarda cada nodo. HistorialMovimientos es un segundo TDA, del dominio, que usa la lista. Y Partida es quien registra, marca y deshace jugadas a través del historial.
Notar que HistorialMovimientos depende de la interfaz, no de la implementación: si mañana cambiamos la estructura interna, el resto del sistema no se entera.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la especificación, que es el contrato del TDA.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interfaz completa. Las operaciones están agrupadas en las cinco acciones del TDA. Es genérica, así que la misma especificación sirve para jugadas, partidas o cualquier otro tipo. Extiende Iterable para poder usarla en un for-each.
A la derecha están las convenciones del contrato: los índices van de cero a tamaño menos uno, no se aceptan nulls, y cuando se viola una precondición se lanza una excepción sin modificar la lista. Esto último es clave: una operación rechazada nunca deja la lista a medio modificar.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el contrato formal. Para cada operación indicamos su precondición, qué excepción lanza si no se cumple y su costo.
Las operaciones en los extremos son O(1) porque tenemos punteros a la cabeza y a la cola. Las que acceden por índice son O(n), pero en la práctica recorren a lo sumo la mitad, como veremos.
Elegimos lanzar excepciones en lugar de devolver null porque una precondición rota es un error de quien llama: fallar en el punto exacto lo hace visible, en vez de propagar un null que explota más adelante en otro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la implementación, operación por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representación interna. El Nodo es una clase privada, estática y anidada. Privada, para que nadie fuera de la lista pueda nombrarla. Estática, para que cada nodo no guarde una referencia oculta a la lista que lo contiene, lo que ahorra memoria. Su constructor recibe los dos punteros, así el nodo nace ya enlazado.
La lista guarda cuatro variables: cabeza, cola, tamaño y un contador de modificaciones que usan los iteradores.
A la derecha están los cuatro invariantes de representación: condiciones que deben cumplirse al terminar cualquier operación pública. Si alguno se rompe, la lista está corrupta. Tenemos un método verificarInvariantes que los comprueba, y las pruebas lo llaman después de cada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operación de crear más usada es insertar al final; el historial la llama en cada jugada.
Paso uno: creamos el nodo pasándole la cola actual como anterior. Así el nuevo ya apunta hacia atrás. Si la lista estaba vacía, el nuevo también es la cabeza. Si no, paso dos: la cola actual apunta hacia adelante al nuevo. Paso tres: el nuevo pasa a ser la cola. Finalmente incrementamos el tamaño y el contador de modificaciones.
En el diagrama, los números marcan qué puntero se asigna en cada paso. Son tres asignaciones de punteros, sin recorrer nada: O(1). insertarAlInicio es el espejo de esta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Insertar en una posición intermedia muestra la lógica completa de punteros. Si el índice es cero o es igual al tamaño, delegamos en las operaciones de los extremos, que son O(1).
En el medio, primero localizamos el sucesor, que es el nodo que hoy ocupa esa posición, y su predecesor. El constructor del nuevo nodo asigna los punteros uno y dos: hacia atrás al predecesor y hacia adelante al sucesor. Luego el predecesor apunta hacia adelante al nuevo, paso tres, y el sucesor apunta hacia atrás al nuevo, paso cuatro.
El orden importa: guardamos el predecesor antes de modificar nada, porque después de cambiar sucesor.anterior ya no podríamos llegar a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consultar por posición usamos un método privado, nodoEn, que aprovecha el doble enlace. Si el índice está en la primera mitad, avanza desde la cabeza por siguiente; si está en la segunda mitad, retrocede desde la cola por anterior.
En el ejemplo, con ocho elementos, pedir la posición seis cuesta un solo paso desde la cola, mientras que una lista simple necesitaría seis pasos desde la cabeza. En el peor caso recorremos la mitad de la lista. Sigue siendo O(n), pero con la mitad de la constante.
Este método lo reutilizan cuatro operaciones públicas, así que la lógica de recorrido está escrita una sola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Editar significa reemplazar el dato de un nodo existente sin tocar la estructura. Las dos operaciones públicas validan su precondición y delegan en un método privado, reemplazarDato, que cambia solo el campo dato y devuelve el valor anterior.
modificarUltimo es O(1) porque llega directo por el puntero cola. En el juego lo usamos para anotar el jaque: la jugada d1-h5 se reemplaza por d1-h5 con el signo más.
Un detalle técnico: editar no incrementa el contador de modificaciones, porque no cambia la forma de la lista. Por eso un iterador que esté recorriendo en ese momento sigue siendo válido.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eliminaciones terminan en este método privado, desenlazar. Concentrar la lógica de punteros en un solo lugar evita duplicarla en cuatro métodos y reduce los errores.
Primero guardamos el predecesor y el sucesor. El primer if conecta el lado izquierdo: si no hay predecesor, el nodo era la cabeza y la nueva cabeza es el sucesor; si no, el predecesor salta directamente al sucesor. El segundo if hace lo mismo con el lado derecho y la cola.
Con solo dos if se cubren los cuatro casos de la tabla: único nodo, cabeza, cola y medio. Al final ponemos en null los tres campos del nodo eliminado, para que no quede ninguna referencia y el recolector de basura lo libere.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operaciones públicas de eliminar se reducen a validar la precondición, localizar el nodo y llamar a desenlazar.
Aquí se ve por qué elegimos una lista doblemente enlazada. En una lista simple, eliminar el último exige encontrar el penúltimo, y para eso hay que recorrer toda la lista: O(n). Con el puntero anterior, el penúltimo es simplemente cola.anterior: O(1). Y eliminar el último es justamente lo que hace el juego al regresar un movimiento.
El costo es memoria: un puntero extra por nodo. Para un historial de jugadas es un intercambio muy favorable.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recorrido se implementa con una clase interna privada, Iterador. Es no estática a propósito: necesita leer el contador de modificaciones de la lista.
La misma clase sirve para los dos sentidos: según el flag haciaAdelante, sigue el puntero siguiente o el puntero anterior.
Al crearse, el iterador copia el contador de modificaciones. En cada next compara: si la lista cambió estructuralmente durante el recorrido, lanza ConcurrentModificationException. Es el mismo comportamiento fail-fast de las colecciones de java.util, y evita que el recorrido siga un puntero que ya no es válido.
Y el iterador entrega datos, no nodos, por eso la vista puede recorrer el historial con un for-each sin conocer la 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vemos cómo el juego usa la lista a través del historial de movimientos.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Movimiento es el dato que guarda cada nodo. Es inmutable: todos sus campos son final y la clase también. No tiene punteros; eso es responsabilidad del nodo.
Tiene dos notaciones. toNotacion produce el formato e2 guion e4, que es el que se guarda en MySQL para las partidas online; lo mantuvimos igual para no romper la sincronización. toNotacionCompleta es la que ve el usuario: agrega una x si hubo captura y el sufijo de jaque o mate.
Como es inmutable, para anotar un jaque usamos conEstado, que crea una copia con el nuevo estado, y la lista reemplaza el dato del nodo. Además guarda la pieza capturada, que es lo que nos permite deshacer la jugada.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HistorialMovimientos es un TDA construido sobre otro TDA. Internamente guarda una TADLista de movimientos, declarada con el tipo de la interfaz.
La tabla es la clave de la integración: cada acción del juego corresponde a una acción de la lista. Jugar es crear, con insertarAlFinal. Anotar jaque o mate es editar, con modificarUltimo. Regresar un movimiento es eliminar, con eliminarUltimo. Y mostrar la tabla o sincronizar online es recorrer. Las tres operaciones frecuentes son O(1).
Además, el historial restringe el TDA genérico: no ofrece insertarEn ni eliminarEn, porque en una partida de ajedrez no tiene sentido insertar o borrar una jugada en medio. El TDA del dominio solo expone lo que el dominio permite.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flujo cuando un jugador mueve. La vista llama a Partida.realizarMovimiento. El tablero valida la jugada; si es ilegal, por ejemplo porque deja al rey en jaque, se devuelve false y el historial no cambia.
Si es válida, se crea el Movimiento con la pieza capturada y se registra al final de la lista. Luego cambia el turno.
Después evaluamos la posición resultante: si el rival quedó en jaque, editamos la jugada recién registrada para anotar jaque o jaque mate. Lo hacemos después de registrar porque el jaque depende de la posición que deja la jugada, y editar el último nodo cuesta O(1).
Finalmente la vista recorre el historial con un for-each y redibuja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Regresar un movimiento es la acción de eliminar. Primero puedeRetroceder valida tres condiciones usando el último nodo: que exista, que sea del jugador que pide retroceder, es decir que el rival todavía no respondió, y que le queden retrocesos, máximo dos por partida.
Luego deshacerUltimo elimina la cola de la lista en O(1) y devuelve el movimiento. Con ese dato el tablero revierte la jugada: la pieza vuelve a su origen y, si hubo captura, la pieza capturada vuelve a su casilla. Como la anotación de jaque vivía en ese nodo, desaparece con él.
En las partidas online la lista se serializa recorriéndola, y el rival compara la cantidad de jugadas guardadas con el tamaño local, que es O(1). Si hay más, reproduce las nuevas; si hay menos, el oponente retrocedió y se deshace localmente.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la verificación: complejidad, pruebas y decisiones de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Comparamos tres estructuras. El arreglo gana en acceso por índice. La lista simple es buena en la cabeza, pero mala en la cola. La lista doble con puntero a la cola es O(1) en ambos extremos, tanto para insertar como para editar y eliminar.
El historial opera casi siempre sobre la última jugada y recorre en orden, así que todas sus operaciones frecuentes son de tiempo constante. El precio es un puntero extra por nodo.
No usamos listas para todo: el tablero sigue siendo una matriz de ocho por ocho porque necesita acceso directo a cualquier casilla. Elegimos cada estructura según cómo se 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verificar la implementación escribimos verificarInvariantes, que recorre la lista y comprueba los cuatro invariantes: extremos con null, doble enlace simétrico, ausencia de ciclos y que la cantidad de nodos coincida con el tamaño. Tiene visibilidad de paquete, así que solo la usan las pruebas, que están en el mismo paquete.
La suite tiene quince pruebas sin dependencias externas. Cubren cada grupo de operaciones, las precondiciones, comprobando que una operación rechazada no corrompe la lista, los iteradores, incluido el fail-fast, y pruebas de integración con partidas reales: una captura con su regreso, verificando que la pieza capturada vuelve a su casilla, y el mate del pastor, que debe quedar anotado como h5 x f7 numeral. Las quince pasan.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Resumimos las decisiones de diseño y su motivo. Separar la interfaz para programar contra el contrato. El nodo privado y estático para encapsular los punteros. Un único método de eliminación. La búsqueda bidireccional. Excepciones para que la lista nunca quede inconsistente. Iteradores fail-fast. Un dato inmutable que se edita por reemplazo. Y un TDA de dominio que restringe al genérico.
Cada una responde a un criterio técnico concreto: encapsulamiento, corrección o eficiencia.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concluir: implementamos un TDA real, con un contrato público y toda la representación privada. Los punteros solo los mueve la lista y sus invariantes están verificados por pruebas. Las operaciones que el juego usa en cada turno son de tiempo constante. Y cada acción de la lista, crear, editar, eliminar y recorrer, tiene un uso concreto dentro del juego.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280160"/>
            <a:ext cx="7498080" cy="19202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383280"/>
            <a:ext cx="7498080" cy="91440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Chess Java · TDA Lista doblemente enlazada</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SO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822960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520440"/>
            <a:ext cx="8229600" cy="82296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5.xml"/><Relationship Id="rId6"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280160"/>
            <a:ext cx="7498080" cy="19202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TDA Lista doblemente enlazada</a:t>
            </a:r>
            <a:endParaRPr lang="en-US" sz="4400" dirty="0"/>
          </a:p>
        </p:txBody>
      </p:sp>
      <p:sp>
        <p:nvSpPr>
          <p:cNvPr id="3" name="Text 0"/>
          <p:cNvSpPr/>
          <p:nvPr>
            <p:ph idx="101" type="body" hasCustomPrompt="1"/>
          </p:nvPr>
        </p:nvSpPr>
        <p:spPr>
          <a:xfrm>
            <a:off x="731520" y="3383280"/>
            <a:ext cx="7498080" cy="914400"/>
          </a:xfrm>
          <a:prstGeom prst="rect">
            <a:avLst/>
          </a:prstGeom>
          <a:noFill/>
          <a:ln/>
        </p:spPr>
        <p:txBody>
          <a:bodyPr wrap="square" lIns="0" tIns="0" rIns="0" bIns="0" rtlCol="0" anchor="t"/>
          <a:lstStyle/>
          <a:p>
            <a:pPr indent="0" marL="0">
              <a:buNone/>
            </a:pPr>
            <a:r>
              <a:rPr lang="en-US" sz="2000" dirty="0">
                <a:solidFill>
                  <a:schemeClr val="accent1"/>
                </a:solidFill>
              </a:rPr>
              <a:t>Diseño, implementación y uso en el historial de Chess Java</a:t>
            </a:r>
            <a:endParaRPr lang="en-US" sz="2000" dirty="0"/>
          </a:p>
        </p:txBody>
      </p:sp>
      <p:sp>
        <p:nvSpPr>
          <p:cNvPr id="4" name="Text 2"/>
          <p:cNvSpPr txBox="1"/>
          <p:nvPr/>
        </p:nvSpPr>
        <p:spPr>
          <a:xfrm>
            <a:off x="731520" y="5852160"/>
            <a:ext cx="6400800" cy="365760"/>
          </a:xfrm>
          <a:prstGeom prst="rect">
            <a:avLst/>
          </a:prstGeom>
          <a:noFill/>
          <a:ln/>
        </p:spPr>
        <p:txBody>
          <a:bodyPr wrap="square" lIns="0" tIns="0" rIns="0" bIns="0" rtlCol="0" anchor="t"/>
          <a:lstStyle/>
          <a:p>
            <a:pPr indent="0" marL="0">
              <a:buNone/>
            </a:pPr>
            <a:r>
              <a:rPr lang="en-US" sz="1400" dirty="0">
                <a:solidFill>
                  <a:schemeClr val="accent5"/>
                </a:solidFill>
              </a:rPr>
              <a:t>Algoritmos y Estructuras de Datos · UTP · Ciclo 7</a:t>
            </a:r>
            <a:endParaRPr lang="en-US" sz="1400" dirty="0"/>
          </a:p>
        </p:txBody>
      </p:sp>
      <p:sp>
        <p:nvSpPr>
          <p:cNvPr id="5" name="Shape 3"/>
          <p:cNvSpPr/>
          <p:nvPr/>
        </p:nvSpPr>
        <p:spPr>
          <a:xfrm>
            <a:off x="9601200" y="548640"/>
            <a:ext cx="960120" cy="960120"/>
          </a:xfrm>
          <a:prstGeom prst="ellipse">
            <a:avLst/>
          </a:prstGeom>
          <a:solidFill>
            <a:schemeClr val="accent6"/>
          </a:solidFill>
          <a:ln w="12700">
            <a:solidFill>
              <a:schemeClr val="accent6"/>
            </a:solidFill>
            <a:prstDash val="solid"/>
          </a:ln>
        </p:spPr>
      </p:sp>
      <p:pic>
        <p:nvPicPr>
          <p:cNvPr id="6" name="Image 0" descr="rey blanco">    </p:cNvPr>
          <p:cNvPicPr>
            <a:picLocks noChangeAspect="1"/>
          </p:cNvPicPr>
          <p:nvPr/>
        </p:nvPicPr>
        <p:blipFill>
          <a:blip r:embed="rId1"/>
          <a:stretch>
            <a:fillRect/>
          </a:stretch>
        </p:blipFill>
        <p:spPr>
          <a:xfrm>
            <a:off x="9774022" y="721462"/>
            <a:ext cx="614477" cy="614477"/>
          </a:xfrm>
          <a:prstGeom prst="rect">
            <a:avLst/>
          </a:prstGeom>
        </p:spPr>
      </p:pic>
      <p:sp>
        <p:nvSpPr>
          <p:cNvPr id="7" name="Shape 4"/>
          <p:cNvSpPr/>
          <p:nvPr/>
        </p:nvSpPr>
        <p:spPr>
          <a:xfrm>
            <a:off x="9985248" y="1554480"/>
            <a:ext cx="914" cy="429768"/>
          </a:xfrm>
          <a:prstGeom prst="line">
            <a:avLst/>
          </a:prstGeom>
          <a:noFill/>
          <a:ln w="25400">
            <a:solidFill>
              <a:schemeClr val="accent1"/>
            </a:solidFill>
            <a:prstDash val="solid"/>
            <a:tailEnd type="triangle"/>
          </a:ln>
        </p:spPr>
      </p:sp>
      <p:sp>
        <p:nvSpPr>
          <p:cNvPr id="8" name="Shape 5"/>
          <p:cNvSpPr/>
          <p:nvPr/>
        </p:nvSpPr>
        <p:spPr>
          <a:xfrm flipV="1">
            <a:off x="10177272" y="1554480"/>
            <a:ext cx="914" cy="429768"/>
          </a:xfrm>
          <a:prstGeom prst="line">
            <a:avLst/>
          </a:prstGeom>
          <a:noFill/>
          <a:ln w="25400">
            <a:solidFill>
              <a:schemeClr val="accent4"/>
            </a:solidFill>
            <a:prstDash val="solid"/>
            <a:tailEnd type="triangle"/>
          </a:ln>
        </p:spPr>
      </p:sp>
      <p:sp>
        <p:nvSpPr>
          <p:cNvPr id="9" name="Shape 6"/>
          <p:cNvSpPr/>
          <p:nvPr/>
        </p:nvSpPr>
        <p:spPr>
          <a:xfrm>
            <a:off x="9601200" y="2029968"/>
            <a:ext cx="960120" cy="960120"/>
          </a:xfrm>
          <a:prstGeom prst="ellipse">
            <a:avLst/>
          </a:prstGeom>
          <a:solidFill>
            <a:schemeClr val="accent6"/>
          </a:solidFill>
          <a:ln w="12700">
            <a:solidFill>
              <a:schemeClr val="accent6"/>
            </a:solidFill>
            <a:prstDash val="solid"/>
          </a:ln>
        </p:spPr>
      </p:sp>
      <p:pic>
        <p:nvPicPr>
          <p:cNvPr id="10" name="Image 1" descr="reina blanco">    </p:cNvPr>
          <p:cNvPicPr>
            <a:picLocks noChangeAspect="1"/>
          </p:cNvPicPr>
          <p:nvPr/>
        </p:nvPicPr>
        <p:blipFill>
          <a:blip r:embed="rId2"/>
          <a:stretch>
            <a:fillRect/>
          </a:stretch>
        </p:blipFill>
        <p:spPr>
          <a:xfrm>
            <a:off x="9774022" y="2202790"/>
            <a:ext cx="614477" cy="614477"/>
          </a:xfrm>
          <a:prstGeom prst="rect">
            <a:avLst/>
          </a:prstGeom>
        </p:spPr>
      </p:pic>
      <p:sp>
        <p:nvSpPr>
          <p:cNvPr id="11" name="Shape 7"/>
          <p:cNvSpPr/>
          <p:nvPr/>
        </p:nvSpPr>
        <p:spPr>
          <a:xfrm>
            <a:off x="9985248" y="3035808"/>
            <a:ext cx="914" cy="429768"/>
          </a:xfrm>
          <a:prstGeom prst="line">
            <a:avLst/>
          </a:prstGeom>
          <a:noFill/>
          <a:ln w="25400">
            <a:solidFill>
              <a:schemeClr val="accent1"/>
            </a:solidFill>
            <a:prstDash val="solid"/>
            <a:tailEnd type="triangle"/>
          </a:ln>
        </p:spPr>
      </p:sp>
      <p:sp>
        <p:nvSpPr>
          <p:cNvPr id="12" name="Shape 8"/>
          <p:cNvSpPr/>
          <p:nvPr/>
        </p:nvSpPr>
        <p:spPr>
          <a:xfrm flipV="1">
            <a:off x="10177272" y="3035808"/>
            <a:ext cx="914" cy="429768"/>
          </a:xfrm>
          <a:prstGeom prst="line">
            <a:avLst/>
          </a:prstGeom>
          <a:noFill/>
          <a:ln w="25400">
            <a:solidFill>
              <a:schemeClr val="accent4"/>
            </a:solidFill>
            <a:prstDash val="solid"/>
            <a:tailEnd type="triangle"/>
          </a:ln>
        </p:spPr>
      </p:sp>
      <p:sp>
        <p:nvSpPr>
          <p:cNvPr id="13" name="Shape 9"/>
          <p:cNvSpPr/>
          <p:nvPr/>
        </p:nvSpPr>
        <p:spPr>
          <a:xfrm>
            <a:off x="9601200" y="3511296"/>
            <a:ext cx="960120" cy="960120"/>
          </a:xfrm>
          <a:prstGeom prst="ellipse">
            <a:avLst/>
          </a:prstGeom>
          <a:solidFill>
            <a:schemeClr val="accent6"/>
          </a:solidFill>
          <a:ln w="12700">
            <a:solidFill>
              <a:schemeClr val="accent6"/>
            </a:solidFill>
            <a:prstDash val="solid"/>
          </a:ln>
        </p:spPr>
      </p:sp>
      <p:pic>
        <p:nvPicPr>
          <p:cNvPr id="14" name="Image 2" descr="torre blanco">    </p:cNvPr>
          <p:cNvPicPr>
            <a:picLocks noChangeAspect="1"/>
          </p:cNvPicPr>
          <p:nvPr/>
        </p:nvPicPr>
        <p:blipFill>
          <a:blip r:embed="rId3"/>
          <a:stretch>
            <a:fillRect/>
          </a:stretch>
        </p:blipFill>
        <p:spPr>
          <a:xfrm>
            <a:off x="9774022" y="3684118"/>
            <a:ext cx="614477" cy="614477"/>
          </a:xfrm>
          <a:prstGeom prst="rect">
            <a:avLst/>
          </a:prstGeom>
        </p:spPr>
      </p:pic>
      <p:sp>
        <p:nvSpPr>
          <p:cNvPr id="15" name="Shape 10"/>
          <p:cNvSpPr/>
          <p:nvPr/>
        </p:nvSpPr>
        <p:spPr>
          <a:xfrm>
            <a:off x="9985248" y="4517136"/>
            <a:ext cx="914" cy="429768"/>
          </a:xfrm>
          <a:prstGeom prst="line">
            <a:avLst/>
          </a:prstGeom>
          <a:noFill/>
          <a:ln w="25400">
            <a:solidFill>
              <a:schemeClr val="accent1"/>
            </a:solidFill>
            <a:prstDash val="solid"/>
            <a:tailEnd type="triangle"/>
          </a:ln>
        </p:spPr>
      </p:sp>
      <p:sp>
        <p:nvSpPr>
          <p:cNvPr id="16" name="Shape 11"/>
          <p:cNvSpPr/>
          <p:nvPr/>
        </p:nvSpPr>
        <p:spPr>
          <a:xfrm flipV="1">
            <a:off x="10177272" y="4517136"/>
            <a:ext cx="914" cy="429768"/>
          </a:xfrm>
          <a:prstGeom prst="line">
            <a:avLst/>
          </a:prstGeom>
          <a:noFill/>
          <a:ln w="25400">
            <a:solidFill>
              <a:schemeClr val="accent4"/>
            </a:solidFill>
            <a:prstDash val="solid"/>
            <a:tailEnd type="triangle"/>
          </a:ln>
        </p:spPr>
      </p:sp>
      <p:sp>
        <p:nvSpPr>
          <p:cNvPr id="17" name="Shape 12"/>
          <p:cNvSpPr/>
          <p:nvPr/>
        </p:nvSpPr>
        <p:spPr>
          <a:xfrm>
            <a:off x="9601200" y="4992624"/>
            <a:ext cx="960120" cy="960120"/>
          </a:xfrm>
          <a:prstGeom prst="ellipse">
            <a:avLst/>
          </a:prstGeom>
          <a:solidFill>
            <a:schemeClr val="accent6"/>
          </a:solidFill>
          <a:ln w="12700">
            <a:solidFill>
              <a:schemeClr val="accent6"/>
            </a:solidFill>
            <a:prstDash val="solid"/>
          </a:ln>
        </p:spPr>
      </p:sp>
      <p:pic>
        <p:nvPicPr>
          <p:cNvPr id="18" name="Image 3" descr="caballo blanco">    </p:cNvPr>
          <p:cNvPicPr>
            <a:picLocks noChangeAspect="1"/>
          </p:cNvPicPr>
          <p:nvPr/>
        </p:nvPicPr>
        <p:blipFill>
          <a:blip r:embed="rId4"/>
          <a:stretch>
            <a:fillRect/>
          </a:stretch>
        </p:blipFill>
        <p:spPr>
          <a:xfrm>
            <a:off x="9774022" y="5165446"/>
            <a:ext cx="614477" cy="614477"/>
          </a:xfrm>
          <a:prstGeom prst="rect">
            <a:avLst/>
          </a:prstGeom>
        </p:spPr>
      </p:pic>
      <p:sp>
        <p:nvSpPr>
          <p:cNvPr id="19" name="Text 13"/>
          <p:cNvSpPr txBox="1"/>
          <p:nvPr/>
        </p:nvSpPr>
        <p:spPr>
          <a:xfrm>
            <a:off x="8503920" y="868680"/>
            <a:ext cx="914400" cy="320040"/>
          </a:xfrm>
          <a:prstGeom prst="rect">
            <a:avLst/>
          </a:prstGeom>
          <a:noFill/>
          <a:ln/>
        </p:spPr>
        <p:txBody>
          <a:bodyPr wrap="square" lIns="0" tIns="0" rIns="0" bIns="0" rtlCol="0" anchor="t"/>
          <a:lstStyle/>
          <a:p>
            <a:pPr algn="r" indent="0" marL="0">
              <a:buNone/>
            </a:pPr>
            <a:r>
              <a:rPr lang="en-US" sz="1400" dirty="0">
                <a:solidFill>
                  <a:schemeClr val="accent1"/>
                </a:solidFill>
                <a:latin typeface="Courier New" pitchFamily="34" charset="0"/>
                <a:ea typeface="Courier New" pitchFamily="34" charset="-122"/>
                <a:cs typeface="Courier New" pitchFamily="34" charset="-120"/>
              </a:rPr>
              <a:t>cabeza</a:t>
            </a:r>
            <a:endParaRPr lang="en-US" sz="1400" dirty="0"/>
          </a:p>
        </p:txBody>
      </p:sp>
      <p:sp>
        <p:nvSpPr>
          <p:cNvPr id="20" name="Text 14"/>
          <p:cNvSpPr txBox="1"/>
          <p:nvPr/>
        </p:nvSpPr>
        <p:spPr>
          <a:xfrm>
            <a:off x="8503920" y="5312664"/>
            <a:ext cx="914400" cy="320040"/>
          </a:xfrm>
          <a:prstGeom prst="rect">
            <a:avLst/>
          </a:prstGeom>
          <a:noFill/>
          <a:ln/>
        </p:spPr>
        <p:txBody>
          <a:bodyPr wrap="square" lIns="0" tIns="0" rIns="0" bIns="0" rtlCol="0" anchor="t"/>
          <a:lstStyle/>
          <a:p>
            <a:pPr algn="r" indent="0" marL="0">
              <a:buNone/>
            </a:pPr>
            <a:r>
              <a:rPr lang="en-US" sz="1400" dirty="0">
                <a:solidFill>
                  <a:schemeClr val="accent1"/>
                </a:solidFill>
                <a:latin typeface="Courier New" pitchFamily="34" charset="0"/>
                <a:ea typeface="Courier New" pitchFamily="34" charset="-122"/>
                <a:cs typeface="Courier New" pitchFamily="34" charset="-120"/>
              </a:rPr>
              <a:t>cola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Contenido</a:t>
            </a:r>
            <a:endParaRPr lang="en-US" sz="3200" dirty="0"/>
          </a:p>
        </p:txBody>
      </p:sp>
      <p:sp>
        <p:nvSpPr>
          <p:cNvPr id="3" name="Shape 1"/>
          <p:cNvSpPr/>
          <p:nvPr/>
        </p:nvSpPr>
        <p:spPr>
          <a:xfrm>
            <a:off x="548640" y="1325880"/>
            <a:ext cx="11064240" cy="804672"/>
          </a:xfrm>
          <a:prstGeom prst="roundRect">
            <a:avLst>
              <a:gd name="adj" fmla="val 909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77240" y="1325880"/>
            <a:ext cx="822960" cy="804672"/>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01</a:t>
            </a:r>
            <a:endParaRPr lang="en-US" sz="2600" dirty="0"/>
          </a:p>
        </p:txBody>
      </p:sp>
      <p:sp>
        <p:nvSpPr>
          <p:cNvPr id="5" name="Text 3"/>
          <p:cNvSpPr txBox="1"/>
          <p:nvPr/>
        </p:nvSpPr>
        <p:spPr>
          <a:xfrm>
            <a:off x="1691640" y="1325880"/>
            <a:ext cx="2926080" cy="804672"/>
          </a:xfrm>
          <a:prstGeom prst="rect">
            <a:avLst/>
          </a:prstGeom>
          <a:noFill/>
          <a:ln/>
        </p:spPr>
        <p:txBody>
          <a:bodyPr wrap="square" lIns="0" tIns="0" rIns="0" bIns="0" rtlCol="0" anchor="ctr"/>
          <a:lstStyle/>
          <a:p>
            <a:pPr indent="0" marL="0">
              <a:buNone/>
            </a:pPr>
            <a:r>
              <a:rPr lang="en-US" sz="2100" b="1" dirty="0">
                <a:solidFill>
                  <a:schemeClr val="tx1"/>
                </a:solidFill>
              </a:rPr>
              <a:t>Fundamentos</a:t>
            </a:r>
            <a:endParaRPr lang="en-US" sz="2100" dirty="0"/>
          </a:p>
        </p:txBody>
      </p:sp>
      <p:sp>
        <p:nvSpPr>
          <p:cNvPr id="6" name="Text 4"/>
          <p:cNvSpPr txBox="1"/>
          <p:nvPr/>
        </p:nvSpPr>
        <p:spPr>
          <a:xfrm>
            <a:off x="4663440" y="1325880"/>
            <a:ext cx="6766560" cy="804672"/>
          </a:xfrm>
          <a:prstGeom prst="rect">
            <a:avLst/>
          </a:prstGeom>
          <a:noFill/>
          <a:ln/>
        </p:spPr>
        <p:txBody>
          <a:bodyPr wrap="square" lIns="0" tIns="0" rIns="0" bIns="0" rtlCol="0" anchor="ctr"/>
          <a:lstStyle/>
          <a:p>
            <a:pPr indent="0" marL="0">
              <a:buNone/>
            </a:pPr>
            <a:r>
              <a:rPr lang="en-US" sz="1600" dirty="0">
                <a:solidFill>
                  <a:schemeClr val="tx2"/>
                </a:solidFill>
              </a:rPr>
              <a:t>TDA, encapsulamiento y punteros en Java</a:t>
            </a:r>
            <a:endParaRPr lang="en-US" sz="1600" dirty="0"/>
          </a:p>
        </p:txBody>
      </p:sp>
      <p:sp>
        <p:nvSpPr>
          <p:cNvPr id="7" name="Shape 5"/>
          <p:cNvSpPr/>
          <p:nvPr/>
        </p:nvSpPr>
        <p:spPr>
          <a:xfrm>
            <a:off x="548640" y="2286000"/>
            <a:ext cx="11064240" cy="804672"/>
          </a:xfrm>
          <a:prstGeom prst="roundRect">
            <a:avLst>
              <a:gd name="adj" fmla="val 909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777240" y="2286000"/>
            <a:ext cx="822960" cy="804672"/>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02</a:t>
            </a:r>
            <a:endParaRPr lang="en-US" sz="2600" dirty="0"/>
          </a:p>
        </p:txBody>
      </p:sp>
      <p:sp>
        <p:nvSpPr>
          <p:cNvPr id="9" name="Text 7"/>
          <p:cNvSpPr txBox="1"/>
          <p:nvPr/>
        </p:nvSpPr>
        <p:spPr>
          <a:xfrm>
            <a:off x="1691640" y="2286000"/>
            <a:ext cx="2926080" cy="804672"/>
          </a:xfrm>
          <a:prstGeom prst="rect">
            <a:avLst/>
          </a:prstGeom>
          <a:noFill/>
          <a:ln/>
        </p:spPr>
        <p:txBody>
          <a:bodyPr wrap="square" lIns="0" tIns="0" rIns="0" bIns="0" rtlCol="0" anchor="ctr"/>
          <a:lstStyle/>
          <a:p>
            <a:pPr indent="0" marL="0">
              <a:buNone/>
            </a:pPr>
            <a:r>
              <a:rPr lang="en-US" sz="2100" b="1" dirty="0">
                <a:solidFill>
                  <a:schemeClr val="tx1"/>
                </a:solidFill>
              </a:rPr>
              <a:t>Especificación</a:t>
            </a:r>
            <a:endParaRPr lang="en-US" sz="2100" dirty="0"/>
          </a:p>
        </p:txBody>
      </p:sp>
      <p:sp>
        <p:nvSpPr>
          <p:cNvPr id="10" name="Text 8"/>
          <p:cNvSpPr txBox="1"/>
          <p:nvPr/>
        </p:nvSpPr>
        <p:spPr>
          <a:xfrm>
            <a:off x="4663440" y="2286000"/>
            <a:ext cx="6766560" cy="804672"/>
          </a:xfrm>
          <a:prstGeom prst="rect">
            <a:avLst/>
          </a:prstGeom>
          <a:noFill/>
          <a:ln/>
        </p:spPr>
        <p:txBody>
          <a:bodyPr wrap="square" lIns="0" tIns="0" rIns="0" bIns="0" rtlCol="0" anchor="ctr"/>
          <a:lstStyle/>
          <a:p>
            <a:pPr indent="0" marL="0">
              <a:buNone/>
            </a:pPr>
            <a:r>
              <a:rPr lang="en-US" sz="1600" dirty="0">
                <a:solidFill>
                  <a:schemeClr val="tx2"/>
                </a:solidFill>
              </a:rPr>
              <a:t>Contrato del TDA: operaciones, precondiciones y costo</a:t>
            </a:r>
            <a:endParaRPr lang="en-US" sz="1600" dirty="0"/>
          </a:p>
        </p:txBody>
      </p:sp>
      <p:sp>
        <p:nvSpPr>
          <p:cNvPr id="11" name="Shape 9"/>
          <p:cNvSpPr/>
          <p:nvPr/>
        </p:nvSpPr>
        <p:spPr>
          <a:xfrm>
            <a:off x="548640" y="3246120"/>
            <a:ext cx="11064240" cy="804672"/>
          </a:xfrm>
          <a:prstGeom prst="roundRect">
            <a:avLst>
              <a:gd name="adj" fmla="val 909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777240" y="3246120"/>
            <a:ext cx="822960" cy="804672"/>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03</a:t>
            </a:r>
            <a:endParaRPr lang="en-US" sz="2600" dirty="0"/>
          </a:p>
        </p:txBody>
      </p:sp>
      <p:sp>
        <p:nvSpPr>
          <p:cNvPr id="13" name="Text 11"/>
          <p:cNvSpPr txBox="1"/>
          <p:nvPr/>
        </p:nvSpPr>
        <p:spPr>
          <a:xfrm>
            <a:off x="1691640" y="3246120"/>
            <a:ext cx="2926080" cy="804672"/>
          </a:xfrm>
          <a:prstGeom prst="rect">
            <a:avLst/>
          </a:prstGeom>
          <a:noFill/>
          <a:ln/>
        </p:spPr>
        <p:txBody>
          <a:bodyPr wrap="square" lIns="0" tIns="0" rIns="0" bIns="0" rtlCol="0" anchor="ctr"/>
          <a:lstStyle/>
          <a:p>
            <a:pPr indent="0" marL="0">
              <a:buNone/>
            </a:pPr>
            <a:r>
              <a:rPr lang="en-US" sz="2100" b="1" dirty="0">
                <a:solidFill>
                  <a:schemeClr val="tx1"/>
                </a:solidFill>
              </a:rPr>
              <a:t>Implementación</a:t>
            </a:r>
            <a:endParaRPr lang="en-US" sz="2100" dirty="0"/>
          </a:p>
        </p:txBody>
      </p:sp>
      <p:sp>
        <p:nvSpPr>
          <p:cNvPr id="14" name="Text 12"/>
          <p:cNvSpPr txBox="1"/>
          <p:nvPr/>
        </p:nvSpPr>
        <p:spPr>
          <a:xfrm>
            <a:off x="4663440" y="3246120"/>
            <a:ext cx="6766560" cy="804672"/>
          </a:xfrm>
          <a:prstGeom prst="rect">
            <a:avLst/>
          </a:prstGeom>
          <a:noFill/>
          <a:ln/>
        </p:spPr>
        <p:txBody>
          <a:bodyPr wrap="square" lIns="0" tIns="0" rIns="0" bIns="0" rtlCol="0" anchor="ctr"/>
          <a:lstStyle/>
          <a:p>
            <a:pPr indent="0" marL="0">
              <a:buNone/>
            </a:pPr>
            <a:r>
              <a:rPr lang="en-US" sz="1600" dirty="0">
                <a:solidFill>
                  <a:schemeClr val="tx2"/>
                </a:solidFill>
              </a:rPr>
              <a:t>Nodo, invariantes, crear, consultar, editar, eliminar, recorrer</a:t>
            </a:r>
            <a:endParaRPr lang="en-US" sz="1600" dirty="0"/>
          </a:p>
        </p:txBody>
      </p:sp>
      <p:sp>
        <p:nvSpPr>
          <p:cNvPr id="15" name="Shape 13"/>
          <p:cNvSpPr/>
          <p:nvPr/>
        </p:nvSpPr>
        <p:spPr>
          <a:xfrm>
            <a:off x="548640" y="4206240"/>
            <a:ext cx="11064240" cy="804672"/>
          </a:xfrm>
          <a:prstGeom prst="roundRect">
            <a:avLst>
              <a:gd name="adj" fmla="val 909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777240" y="4206240"/>
            <a:ext cx="822960" cy="804672"/>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04</a:t>
            </a:r>
            <a:endParaRPr lang="en-US" sz="2600" dirty="0"/>
          </a:p>
        </p:txBody>
      </p:sp>
      <p:sp>
        <p:nvSpPr>
          <p:cNvPr id="17" name="Text 15"/>
          <p:cNvSpPr txBox="1"/>
          <p:nvPr/>
        </p:nvSpPr>
        <p:spPr>
          <a:xfrm>
            <a:off x="1691640" y="4206240"/>
            <a:ext cx="2926080" cy="804672"/>
          </a:xfrm>
          <a:prstGeom prst="rect">
            <a:avLst/>
          </a:prstGeom>
          <a:noFill/>
          <a:ln/>
        </p:spPr>
        <p:txBody>
          <a:bodyPr wrap="square" lIns="0" tIns="0" rIns="0" bIns="0" rtlCol="0" anchor="ctr"/>
          <a:lstStyle/>
          <a:p>
            <a:pPr indent="0" marL="0">
              <a:buNone/>
            </a:pPr>
            <a:r>
              <a:rPr lang="en-US" sz="2100" b="1" dirty="0">
                <a:solidFill>
                  <a:schemeClr val="tx1"/>
                </a:solidFill>
              </a:rPr>
              <a:t>Historial</a:t>
            </a:r>
            <a:endParaRPr lang="en-US" sz="2100" dirty="0"/>
          </a:p>
        </p:txBody>
      </p:sp>
      <p:sp>
        <p:nvSpPr>
          <p:cNvPr id="18" name="Text 16"/>
          <p:cNvSpPr txBox="1"/>
          <p:nvPr/>
        </p:nvSpPr>
        <p:spPr>
          <a:xfrm>
            <a:off x="4663440" y="4206240"/>
            <a:ext cx="6766560" cy="804672"/>
          </a:xfrm>
          <a:prstGeom prst="rect">
            <a:avLst/>
          </a:prstGeom>
          <a:noFill/>
          <a:ln/>
        </p:spPr>
        <p:txBody>
          <a:bodyPr wrap="square" lIns="0" tIns="0" rIns="0" bIns="0" rtlCol="0" anchor="ctr"/>
          <a:lstStyle/>
          <a:p>
            <a:pPr indent="0" marL="0">
              <a:buNone/>
            </a:pPr>
            <a:r>
              <a:rPr lang="en-US" sz="1600" dirty="0">
                <a:solidFill>
                  <a:schemeClr val="tx2"/>
                </a:solidFill>
              </a:rPr>
              <a:t>Movimiento, HistorialMovimientos y el flujo en Partida</a:t>
            </a:r>
            <a:endParaRPr lang="en-US" sz="1600" dirty="0"/>
          </a:p>
        </p:txBody>
      </p:sp>
      <p:sp>
        <p:nvSpPr>
          <p:cNvPr id="19" name="Shape 17"/>
          <p:cNvSpPr/>
          <p:nvPr/>
        </p:nvSpPr>
        <p:spPr>
          <a:xfrm>
            <a:off x="548640" y="5166360"/>
            <a:ext cx="11064240" cy="804672"/>
          </a:xfrm>
          <a:prstGeom prst="roundRect">
            <a:avLst>
              <a:gd name="adj" fmla="val 909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777240" y="5166360"/>
            <a:ext cx="822960" cy="804672"/>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05</a:t>
            </a:r>
            <a:endParaRPr lang="en-US" sz="2600" dirty="0"/>
          </a:p>
        </p:txBody>
      </p:sp>
      <p:sp>
        <p:nvSpPr>
          <p:cNvPr id="21" name="Text 19"/>
          <p:cNvSpPr txBox="1"/>
          <p:nvPr/>
        </p:nvSpPr>
        <p:spPr>
          <a:xfrm>
            <a:off x="1691640" y="5166360"/>
            <a:ext cx="2926080" cy="804672"/>
          </a:xfrm>
          <a:prstGeom prst="rect">
            <a:avLst/>
          </a:prstGeom>
          <a:noFill/>
          <a:ln/>
        </p:spPr>
        <p:txBody>
          <a:bodyPr wrap="square" lIns="0" tIns="0" rIns="0" bIns="0" rtlCol="0" anchor="ctr"/>
          <a:lstStyle/>
          <a:p>
            <a:pPr indent="0" marL="0">
              <a:buNone/>
            </a:pPr>
            <a:r>
              <a:rPr lang="en-US" sz="2100" b="1" dirty="0">
                <a:solidFill>
                  <a:schemeClr val="tx1"/>
                </a:solidFill>
              </a:rPr>
              <a:t>Verificación</a:t>
            </a:r>
            <a:endParaRPr lang="en-US" sz="2100" dirty="0"/>
          </a:p>
        </p:txBody>
      </p:sp>
      <p:sp>
        <p:nvSpPr>
          <p:cNvPr id="22" name="Text 20"/>
          <p:cNvSpPr txBox="1"/>
          <p:nvPr/>
        </p:nvSpPr>
        <p:spPr>
          <a:xfrm>
            <a:off x="4663440" y="5166360"/>
            <a:ext cx="6766560" cy="804672"/>
          </a:xfrm>
          <a:prstGeom prst="rect">
            <a:avLst/>
          </a:prstGeom>
          <a:noFill/>
          <a:ln/>
        </p:spPr>
        <p:txBody>
          <a:bodyPr wrap="square" lIns="0" tIns="0" rIns="0" bIns="0" rtlCol="0" anchor="ctr"/>
          <a:lstStyle/>
          <a:p>
            <a:pPr indent="0" marL="0">
              <a:buNone/>
            </a:pPr>
            <a:r>
              <a:rPr lang="en-US" sz="1600" dirty="0">
                <a:solidFill>
                  <a:schemeClr val="tx2"/>
                </a:solidFill>
              </a:rPr>
              <a:t>Complejidad, pruebas y decisiones de diseño</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1463040"/>
            <a:ext cx="2743200" cy="8229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01</a:t>
            </a:r>
            <a:endParaRPr lang="en-US" sz="5400" dirty="0"/>
          </a:p>
        </p:txBody>
      </p:sp>
      <p:sp>
        <p:nvSpPr>
          <p:cNvPr id="3" name="Text 0"/>
          <p:cNvSpPr/>
          <p:nvPr>
            <p:ph idx="100" type="title" hasCustomPrompt="1"/>
          </p:nvPr>
        </p:nvSpPr>
        <p:spPr>
          <a:xfrm>
            <a:off x="731520" y="2377440"/>
            <a:ext cx="82296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Fundamentos</a:t>
            </a:r>
            <a:endParaRPr lang="en-US" sz="4000" dirty="0"/>
          </a:p>
        </p:txBody>
      </p:sp>
      <p:sp>
        <p:nvSpPr>
          <p:cNvPr id="4" name="Text 0"/>
          <p:cNvSpPr/>
          <p:nvPr>
            <p:ph idx="101" type="body" hasCustomPrompt="1"/>
          </p:nvPr>
        </p:nvSpPr>
        <p:spPr>
          <a:xfrm>
            <a:off x="731520" y="3520440"/>
            <a:ext cx="8229600" cy="822960"/>
          </a:xfrm>
          <a:prstGeom prst="rect">
            <a:avLst/>
          </a:prstGeom>
          <a:noFill/>
          <a:ln/>
        </p:spPr>
        <p:txBody>
          <a:bodyPr wrap="square" lIns="0" tIns="0" rIns="0" bIns="0" rtlCol="0" anchor="t"/>
          <a:lstStyle/>
          <a:p>
            <a:pPr indent="0" marL="0">
              <a:buNone/>
            </a:pPr>
            <a:r>
              <a:rPr lang="en-US" sz="2000" dirty="0">
                <a:solidFill>
                  <a:schemeClr val="accent1"/>
                </a:solidFill>
              </a:rPr>
              <a:t>TDA, encapsulamiento y punteros</a:t>
            </a:r>
            <a:endParaRPr lang="en-US" sz="2000" dirty="0"/>
          </a:p>
        </p:txBody>
      </p:sp>
      <p:sp>
        <p:nvSpPr>
          <p:cNvPr id="5" name="Shape 3"/>
          <p:cNvSpPr/>
          <p:nvPr/>
        </p:nvSpPr>
        <p:spPr>
          <a:xfrm>
            <a:off x="9052560" y="2011680"/>
            <a:ext cx="2194560" cy="2194560"/>
          </a:xfrm>
          <a:prstGeom prst="ellipse">
            <a:avLst/>
          </a:prstGeom>
          <a:solidFill>
            <a:schemeClr val="accent6"/>
          </a:solidFill>
          <a:ln w="12700">
            <a:solidFill>
              <a:schemeClr val="accent6"/>
            </a:solidFill>
            <a:prstDash val="solid"/>
          </a:ln>
        </p:spPr>
      </p:sp>
      <p:pic>
        <p:nvPicPr>
          <p:cNvPr id="6" name="Image 0" descr="peon blanco">    </p:cNvPr>
          <p:cNvPicPr>
            <a:picLocks noChangeAspect="1"/>
          </p:cNvPicPr>
          <p:nvPr/>
        </p:nvPicPr>
        <p:blipFill>
          <a:blip r:embed="rId1"/>
          <a:stretch>
            <a:fillRect/>
          </a:stretch>
        </p:blipFill>
        <p:spPr>
          <a:xfrm>
            <a:off x="9447581" y="2406701"/>
            <a:ext cx="1404518" cy="1404518"/>
          </a:xfrm>
          <a:prstGeom prst="rect">
            <a:avLst/>
          </a:prstGeom>
        </p:spPr>
      </p:pic>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TDA: contrato público, representación privada</a:t>
            </a:r>
            <a:endParaRPr lang="en-US" sz="3200" dirty="0"/>
          </a:p>
        </p:txBody>
      </p:sp>
      <p:sp>
        <p:nvSpPr>
          <p:cNvPr id="3" name="Shape 1"/>
          <p:cNvSpPr/>
          <p:nvPr/>
        </p:nvSpPr>
        <p:spPr>
          <a:xfrm>
            <a:off x="548640" y="1325880"/>
            <a:ext cx="5394960" cy="4800600"/>
          </a:xfrm>
          <a:prstGeom prst="roundRect">
            <a:avLst>
              <a:gd name="adj" fmla="val 152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508760"/>
            <a:ext cx="2651760" cy="347472"/>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777240" y="1508760"/>
            <a:ext cx="2651760" cy="347472"/>
          </a:xfrm>
          <a:prstGeom prst="rect">
            <a:avLst/>
          </a:prstGeom>
          <a:noFill/>
          <a:ln/>
        </p:spPr>
        <p:txBody>
          <a:bodyPr wrap="square" lIns="0" tIns="0" rIns="0" bIns="0" rtlCol="0" anchor="ctr"/>
          <a:lstStyle/>
          <a:p>
            <a:pPr algn="ctr" indent="0" marL="0">
              <a:buNone/>
            </a:pPr>
            <a:r>
              <a:rPr lang="en-US" sz="1300" b="1" dirty="0">
                <a:solidFill>
                  <a:schemeClr val="bg1"/>
                </a:solidFill>
              </a:rPr>
              <a:t>PÚBLICO · el contrato</a:t>
            </a:r>
            <a:endParaRPr lang="en-US" sz="1300" dirty="0"/>
          </a:p>
        </p:txBody>
      </p:sp>
      <p:sp>
        <p:nvSpPr>
          <p:cNvPr id="6" name="Text 4"/>
          <p:cNvSpPr txBox="1"/>
          <p:nvPr/>
        </p:nvSpPr>
        <p:spPr>
          <a:xfrm>
            <a:off x="777240" y="2011680"/>
            <a:ext cx="4937760" cy="548640"/>
          </a:xfrm>
          <a:prstGeom prst="rect">
            <a:avLst/>
          </a:prstGeom>
          <a:noFill/>
          <a:ln/>
        </p:spPr>
        <p:txBody>
          <a:bodyPr wrap="square" lIns="0" tIns="0" rIns="0" bIns="0" rtlCol="0" anchor="t"/>
          <a:lstStyle/>
          <a:p>
            <a:pPr indent="0" marL="0">
              <a:buNone/>
            </a:pPr>
            <a:r>
              <a:rPr lang="en-US" sz="1500" dirty="0">
                <a:solidFill>
                  <a:schemeClr val="tx2"/>
                </a:solidFill>
              </a:rPr>
              <a:t>Lo único que ven las demás clases (interfaz TADLista&lt;T&gt;):</a:t>
            </a:r>
            <a:endParaRPr lang="en-US" sz="1500" dirty="0"/>
          </a:p>
        </p:txBody>
      </p:sp>
      <p:sp>
        <p:nvSpPr>
          <p:cNvPr id="7" name="Text 5"/>
          <p:cNvSpPr txBox="1"/>
          <p:nvPr/>
        </p:nvSpPr>
        <p:spPr>
          <a:xfrm>
            <a:off x="777240" y="2651760"/>
            <a:ext cx="1371600" cy="548640"/>
          </a:xfrm>
          <a:prstGeom prst="rect">
            <a:avLst/>
          </a:prstGeom>
          <a:noFill/>
          <a:ln/>
        </p:spPr>
        <p:txBody>
          <a:bodyPr wrap="square" lIns="0" tIns="0" rIns="0" bIns="0" rtlCol="0" anchor="ctr"/>
          <a:lstStyle/>
          <a:p>
            <a:pPr indent="0" marL="0">
              <a:buNone/>
            </a:pPr>
            <a:r>
              <a:rPr lang="en-US" sz="1600" b="1" dirty="0">
                <a:solidFill>
                  <a:schemeClr val="tx1"/>
                </a:solidFill>
              </a:rPr>
              <a:t>Crear</a:t>
            </a:r>
            <a:endParaRPr lang="en-US" sz="1600" dirty="0"/>
          </a:p>
        </p:txBody>
      </p:sp>
      <p:sp>
        <p:nvSpPr>
          <p:cNvPr id="8" name="Text 6"/>
          <p:cNvSpPr txBox="1"/>
          <p:nvPr/>
        </p:nvSpPr>
        <p:spPr>
          <a:xfrm>
            <a:off x="2148840" y="2651760"/>
            <a:ext cx="3657600" cy="5486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insertarAlInicio</a:t>
            </a:r>
            <a:endParaRPr lang="en-US" sz="1400" dirty="0"/>
          </a:p>
          <a:p>
            <a:pPr indent="0" marL="0">
              <a:buNone/>
            </a:pPr>
            <a:r>
              <a:rPr lang="en-US" sz="1400" dirty="0">
                <a:solidFill>
                  <a:schemeClr val="tx2"/>
                </a:solidFill>
                <a:latin typeface="Courier New" pitchFamily="34" charset="0"/>
                <a:ea typeface="Courier New" pitchFamily="34" charset="-122"/>
                <a:cs typeface="Courier New" pitchFamily="34" charset="-120"/>
              </a:rPr>
              <a:t>insertarAlFinal · insertarEn</a:t>
            </a:r>
            <a:endParaRPr lang="en-US" sz="1400" dirty="0"/>
          </a:p>
        </p:txBody>
      </p:sp>
      <p:sp>
        <p:nvSpPr>
          <p:cNvPr id="9" name="Text 7"/>
          <p:cNvSpPr txBox="1"/>
          <p:nvPr/>
        </p:nvSpPr>
        <p:spPr>
          <a:xfrm>
            <a:off x="777240" y="3328416"/>
            <a:ext cx="1371600" cy="548640"/>
          </a:xfrm>
          <a:prstGeom prst="rect">
            <a:avLst/>
          </a:prstGeom>
          <a:noFill/>
          <a:ln/>
        </p:spPr>
        <p:txBody>
          <a:bodyPr wrap="square" lIns="0" tIns="0" rIns="0" bIns="0" rtlCol="0" anchor="ctr"/>
          <a:lstStyle/>
          <a:p>
            <a:pPr indent="0" marL="0">
              <a:buNone/>
            </a:pPr>
            <a:r>
              <a:rPr lang="en-US" sz="1600" b="1" dirty="0">
                <a:solidFill>
                  <a:schemeClr val="tx1"/>
                </a:solidFill>
              </a:rPr>
              <a:t>Consultar</a:t>
            </a:r>
            <a:endParaRPr lang="en-US" sz="1600" dirty="0"/>
          </a:p>
        </p:txBody>
      </p:sp>
      <p:sp>
        <p:nvSpPr>
          <p:cNvPr id="10" name="Text 8"/>
          <p:cNvSpPr txBox="1"/>
          <p:nvPr/>
        </p:nvSpPr>
        <p:spPr>
          <a:xfrm>
            <a:off x="2148840" y="3328416"/>
            <a:ext cx="3657600" cy="5486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obtener* · indiceDe</a:t>
            </a:r>
            <a:endParaRPr lang="en-US" sz="1400" dirty="0"/>
          </a:p>
          <a:p>
            <a:pPr indent="0" marL="0">
              <a:buNone/>
            </a:pPr>
            <a:r>
              <a:rPr lang="en-US" sz="1400" dirty="0">
                <a:solidFill>
                  <a:schemeClr val="tx2"/>
                </a:solidFill>
                <a:latin typeface="Courier New" pitchFamily="34" charset="0"/>
                <a:ea typeface="Courier New" pitchFamily="34" charset="-122"/>
                <a:cs typeface="Courier New" pitchFamily="34" charset="-120"/>
              </a:rPr>
              <a:t>contiene · tamanio</a:t>
            </a:r>
            <a:endParaRPr lang="en-US" sz="1400" dirty="0"/>
          </a:p>
        </p:txBody>
      </p:sp>
      <p:sp>
        <p:nvSpPr>
          <p:cNvPr id="11" name="Text 9"/>
          <p:cNvSpPr txBox="1"/>
          <p:nvPr/>
        </p:nvSpPr>
        <p:spPr>
          <a:xfrm>
            <a:off x="777240" y="4005072"/>
            <a:ext cx="1371600" cy="548640"/>
          </a:xfrm>
          <a:prstGeom prst="rect">
            <a:avLst/>
          </a:prstGeom>
          <a:noFill/>
          <a:ln/>
        </p:spPr>
        <p:txBody>
          <a:bodyPr wrap="square" lIns="0" tIns="0" rIns="0" bIns="0" rtlCol="0" anchor="ctr"/>
          <a:lstStyle/>
          <a:p>
            <a:pPr indent="0" marL="0">
              <a:buNone/>
            </a:pPr>
            <a:r>
              <a:rPr lang="en-US" sz="1600" b="1" dirty="0">
                <a:solidFill>
                  <a:schemeClr val="tx1"/>
                </a:solidFill>
              </a:rPr>
              <a:t>Editar</a:t>
            </a:r>
            <a:endParaRPr lang="en-US" sz="1600" dirty="0"/>
          </a:p>
        </p:txBody>
      </p:sp>
      <p:sp>
        <p:nvSpPr>
          <p:cNvPr id="12" name="Text 10"/>
          <p:cNvSpPr txBox="1"/>
          <p:nvPr/>
        </p:nvSpPr>
        <p:spPr>
          <a:xfrm>
            <a:off x="2148840" y="4005072"/>
            <a:ext cx="3657600" cy="5486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modificar · modificarUltimo</a:t>
            </a:r>
            <a:endParaRPr lang="en-US" sz="1400" dirty="0"/>
          </a:p>
        </p:txBody>
      </p:sp>
      <p:sp>
        <p:nvSpPr>
          <p:cNvPr id="13" name="Text 11"/>
          <p:cNvSpPr txBox="1"/>
          <p:nvPr/>
        </p:nvSpPr>
        <p:spPr>
          <a:xfrm>
            <a:off x="777240" y="4681728"/>
            <a:ext cx="1371600" cy="548640"/>
          </a:xfrm>
          <a:prstGeom prst="rect">
            <a:avLst/>
          </a:prstGeom>
          <a:noFill/>
          <a:ln/>
        </p:spPr>
        <p:txBody>
          <a:bodyPr wrap="square" lIns="0" tIns="0" rIns="0" bIns="0" rtlCol="0" anchor="ctr"/>
          <a:lstStyle/>
          <a:p>
            <a:pPr indent="0" marL="0">
              <a:buNone/>
            </a:pPr>
            <a:r>
              <a:rPr lang="en-US" sz="1600" b="1" dirty="0">
                <a:solidFill>
                  <a:schemeClr val="tx1"/>
                </a:solidFill>
              </a:rPr>
              <a:t>Eliminar</a:t>
            </a:r>
            <a:endParaRPr lang="en-US" sz="1600" dirty="0"/>
          </a:p>
        </p:txBody>
      </p:sp>
      <p:sp>
        <p:nvSpPr>
          <p:cNvPr id="14" name="Text 12"/>
          <p:cNvSpPr txBox="1"/>
          <p:nvPr/>
        </p:nvSpPr>
        <p:spPr>
          <a:xfrm>
            <a:off x="2148840" y="4681728"/>
            <a:ext cx="3657600" cy="5486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eliminar* · eliminarEn · vaciar</a:t>
            </a:r>
            <a:endParaRPr lang="en-US" sz="1400" dirty="0"/>
          </a:p>
        </p:txBody>
      </p:sp>
      <p:sp>
        <p:nvSpPr>
          <p:cNvPr id="15" name="Text 13"/>
          <p:cNvSpPr txBox="1"/>
          <p:nvPr/>
        </p:nvSpPr>
        <p:spPr>
          <a:xfrm>
            <a:off x="777240" y="5358384"/>
            <a:ext cx="1371600" cy="548640"/>
          </a:xfrm>
          <a:prstGeom prst="rect">
            <a:avLst/>
          </a:prstGeom>
          <a:noFill/>
          <a:ln/>
        </p:spPr>
        <p:txBody>
          <a:bodyPr wrap="square" lIns="0" tIns="0" rIns="0" bIns="0" rtlCol="0" anchor="ctr"/>
          <a:lstStyle/>
          <a:p>
            <a:pPr indent="0" marL="0">
              <a:buNone/>
            </a:pPr>
            <a:r>
              <a:rPr lang="en-US" sz="1600" b="1" dirty="0">
                <a:solidFill>
                  <a:schemeClr val="tx1"/>
                </a:solidFill>
              </a:rPr>
              <a:t>Recorrer</a:t>
            </a:r>
            <a:endParaRPr lang="en-US" sz="1600" dirty="0"/>
          </a:p>
        </p:txBody>
      </p:sp>
      <p:sp>
        <p:nvSpPr>
          <p:cNvPr id="16" name="Text 14"/>
          <p:cNvSpPr txBox="1"/>
          <p:nvPr/>
        </p:nvSpPr>
        <p:spPr>
          <a:xfrm>
            <a:off x="2148840" y="5358384"/>
            <a:ext cx="3657600" cy="5486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iterator · iteradorInverso</a:t>
            </a:r>
            <a:endParaRPr lang="en-US" sz="1400" dirty="0"/>
          </a:p>
        </p:txBody>
      </p:sp>
      <p:sp>
        <p:nvSpPr>
          <p:cNvPr id="17" name="Shape 15"/>
          <p:cNvSpPr/>
          <p:nvPr/>
        </p:nvSpPr>
        <p:spPr>
          <a:xfrm>
            <a:off x="6217920" y="1325880"/>
            <a:ext cx="5394960" cy="4800600"/>
          </a:xfrm>
          <a:prstGeom prst="roundRect">
            <a:avLst>
              <a:gd name="adj" fmla="val 1524"/>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6446520" y="1508760"/>
            <a:ext cx="3108960" cy="347472"/>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6446520" y="1508760"/>
            <a:ext cx="3108960" cy="347472"/>
          </a:xfrm>
          <a:prstGeom prst="rect">
            <a:avLst/>
          </a:prstGeom>
          <a:noFill/>
          <a:ln/>
        </p:spPr>
        <p:txBody>
          <a:bodyPr wrap="square" lIns="0" tIns="0" rIns="0" bIns="0" rtlCol="0" anchor="ctr"/>
          <a:lstStyle/>
          <a:p>
            <a:pPr algn="ctr" indent="0" marL="0">
              <a:buNone/>
            </a:pPr>
            <a:r>
              <a:rPr lang="en-US" sz="1300" b="1" dirty="0">
                <a:solidFill>
                  <a:schemeClr val="bg1"/>
                </a:solidFill>
              </a:rPr>
              <a:t>PRIVADO · la representación</a:t>
            </a:r>
            <a:endParaRPr lang="en-US" sz="1300" dirty="0"/>
          </a:p>
        </p:txBody>
      </p:sp>
      <p:sp>
        <p:nvSpPr>
          <p:cNvPr id="20" name="Text 18"/>
          <p:cNvSpPr txBox="1"/>
          <p:nvPr/>
        </p:nvSpPr>
        <p:spPr>
          <a:xfrm>
            <a:off x="6446520" y="2011680"/>
            <a:ext cx="4937760" cy="548640"/>
          </a:xfrm>
          <a:prstGeom prst="rect">
            <a:avLst/>
          </a:prstGeom>
          <a:noFill/>
          <a:ln/>
        </p:spPr>
        <p:txBody>
          <a:bodyPr wrap="square" lIns="0" tIns="0" rIns="0" bIns="0" rtlCol="0" anchor="t"/>
          <a:lstStyle/>
          <a:p>
            <a:pPr indent="0" marL="0">
              <a:buNone/>
            </a:pPr>
            <a:r>
              <a:rPr lang="en-US" sz="1500" dirty="0">
                <a:solidFill>
                  <a:schemeClr val="bg1"/>
                </a:solidFill>
              </a:rPr>
              <a:t>Encapsulado dentro de ListaDoblementeEnlazada&lt;T&gt;:</a:t>
            </a:r>
            <a:endParaRPr lang="en-US" sz="1500" dirty="0"/>
          </a:p>
        </p:txBody>
      </p:sp>
      <p:sp>
        <p:nvSpPr>
          <p:cNvPr id="21" name="Text 19"/>
          <p:cNvSpPr txBox="1"/>
          <p:nvPr/>
        </p:nvSpPr>
        <p:spPr>
          <a:xfrm>
            <a:off x="6446520" y="2651760"/>
            <a:ext cx="4937760" cy="3291840"/>
          </a:xfrm>
          <a:prstGeom prst="rect">
            <a:avLst/>
          </a:prstGeom>
          <a:noFill/>
          <a:ln/>
        </p:spPr>
        <p:txBody>
          <a:bodyPr wrap="square" lIns="0" tIns="0" rIns="0" bIns="0" rtlCol="0" anchor="t"/>
          <a:lstStyle/>
          <a:p>
            <a:pPr indent="0" marL="0">
              <a:buNone/>
            </a:pPr>
            <a:r>
              <a:rPr lang="en-US" sz="1800" b="1" dirty="0">
                <a:solidFill>
                  <a:schemeClr val="accent1"/>
                </a:solidFill>
              </a:rPr>
              <a:t>Variables</a:t>
            </a:r>
            <a:endParaRPr lang="en-US" sz="1800" dirty="0"/>
          </a:p>
          <a:p>
            <a:pPr indent="0" marL="0">
              <a:buNone/>
            </a:pPr>
            <a:r>
              <a:rPr lang="en-US" sz="1400" dirty="0">
                <a:solidFill>
                  <a:schemeClr val="bg1"/>
                </a:solidFill>
                <a:latin typeface="Courier New" pitchFamily="34" charset="0"/>
                <a:ea typeface="Courier New" pitchFamily="34" charset="-122"/>
                <a:cs typeface="Courier New" pitchFamily="34" charset="-120"/>
              </a:rPr>
              <a:t>cabeza · cola · tamanio · modificaciones</a:t>
            </a:r>
            <a:endParaRPr lang="en-US" sz="1800" dirty="0"/>
          </a:p>
          <a:p>
            <a:pPr indent="0" marL="0">
              <a:buNone/>
            </a:pPr>
            <a:r>
              <a:rPr lang="en-US" sz="1400" dirty="0">
                <a:solidFill>
                  <a:schemeClr val="bg1"/>
                </a:solidFill>
              </a:rPr>
              <a:t> </a:t>
            </a:r>
            <a:endParaRPr lang="en-US" sz="1800" dirty="0"/>
          </a:p>
          <a:p>
            <a:pPr indent="0" marL="0">
              <a:buNone/>
            </a:pPr>
            <a:r>
              <a:rPr lang="en-US" sz="1800" b="1" dirty="0">
                <a:solidFill>
                  <a:schemeClr val="accent1"/>
                </a:solidFill>
              </a:rPr>
              <a:t>Tipo interno</a:t>
            </a:r>
            <a:endParaRPr lang="en-US" sz="1800" dirty="0"/>
          </a:p>
          <a:p>
            <a:pPr indent="0" marL="0">
              <a:buNone/>
            </a:pPr>
            <a:r>
              <a:rPr lang="en-US" sz="1400" dirty="0">
                <a:solidFill>
                  <a:schemeClr val="bg1"/>
                </a:solidFill>
                <a:latin typeface="Courier New" pitchFamily="34" charset="0"/>
                <a:ea typeface="Courier New" pitchFamily="34" charset="-122"/>
                <a:cs typeface="Courier New" pitchFamily="34" charset="-120"/>
              </a:rPr>
              <a:t>private static final class Nodo&lt;T&gt;</a:t>
            </a:r>
            <a:endParaRPr lang="en-US" sz="1800" dirty="0"/>
          </a:p>
          <a:p>
            <a:pPr indent="0" marL="0">
              <a:buNone/>
            </a:pPr>
            <a:r>
              <a:rPr lang="en-US" sz="1400" dirty="0">
                <a:solidFill>
                  <a:schemeClr val="bg1"/>
                </a:solidFill>
                <a:latin typeface="Courier New" pitchFamily="34" charset="0"/>
                <a:ea typeface="Courier New" pitchFamily="34" charset="-122"/>
                <a:cs typeface="Courier New" pitchFamily="34" charset="-120"/>
              </a:rPr>
              <a:t>private final class Iterador</a:t>
            </a:r>
            <a:endParaRPr lang="en-US" sz="1800" dirty="0"/>
          </a:p>
          <a:p>
            <a:pPr indent="0" marL="0">
              <a:buNone/>
            </a:pPr>
            <a:r>
              <a:rPr lang="en-US" sz="1400" dirty="0">
                <a:solidFill>
                  <a:schemeClr val="bg1"/>
                </a:solidFill>
              </a:rPr>
              <a:t> </a:t>
            </a:r>
            <a:endParaRPr lang="en-US" sz="1800" dirty="0"/>
          </a:p>
          <a:p>
            <a:pPr indent="0" marL="0">
              <a:buNone/>
            </a:pPr>
            <a:r>
              <a:rPr lang="en-US" sz="1800" b="1" dirty="0">
                <a:solidFill>
                  <a:schemeClr val="accent1"/>
                </a:solidFill>
              </a:rPr>
              <a:t>Métodos auxiliares</a:t>
            </a:r>
            <a:endParaRPr lang="en-US" sz="1800" dirty="0"/>
          </a:p>
          <a:p>
            <a:pPr indent="0" marL="0">
              <a:buNone/>
            </a:pPr>
            <a:r>
              <a:rPr lang="en-US" sz="1400" dirty="0">
                <a:solidFill>
                  <a:schemeClr val="bg1"/>
                </a:solidFill>
                <a:latin typeface="Courier New" pitchFamily="34" charset="0"/>
                <a:ea typeface="Courier New" pitchFamily="34" charset="-122"/>
                <a:cs typeface="Courier New" pitchFamily="34" charset="-120"/>
              </a:rPr>
              <a:t>nodoEn · desenlazar · reemplazarDato</a:t>
            </a:r>
            <a:endParaRPr lang="en-US" sz="1800" dirty="0"/>
          </a:p>
          <a:p>
            <a:pPr indent="0" marL="0">
              <a:buNone/>
            </a:pPr>
            <a:r>
              <a:rPr lang="en-US" sz="1400" dirty="0">
                <a:solidFill>
                  <a:schemeClr val="bg1"/>
                </a:solidFill>
                <a:latin typeface="Courier New" pitchFamily="34" charset="0"/>
                <a:ea typeface="Courier New" pitchFamily="34" charset="-122"/>
                <a:cs typeface="Courier New" pitchFamily="34" charset="-120"/>
              </a:rPr>
              <a:t>verificarIndice · verificarNoVacia</a:t>
            </a:r>
            <a:endParaRPr lang="en-US" sz="18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Punteros en Java: referencias entre nodos</a:t>
            </a:r>
            <a:endParaRPr lang="en-US" sz="3200" dirty="0"/>
          </a:p>
        </p:txBody>
      </p:sp>
      <p:sp>
        <p:nvSpPr>
          <p:cNvPr id="3" name="Text 1"/>
          <p:cNvSpPr txBox="1"/>
          <p:nvPr/>
        </p:nvSpPr>
        <p:spPr>
          <a:xfrm>
            <a:off x="548640" y="1280160"/>
            <a:ext cx="11064240" cy="457200"/>
          </a:xfrm>
          <a:prstGeom prst="rect">
            <a:avLst/>
          </a:prstGeom>
          <a:noFill/>
          <a:ln/>
        </p:spPr>
        <p:txBody>
          <a:bodyPr wrap="square" lIns="0" tIns="0" rIns="0" bIns="0" rtlCol="0" anchor="t"/>
          <a:lstStyle/>
          <a:p>
            <a:pPr indent="0" marL="0">
              <a:buNone/>
            </a:pPr>
            <a:r>
              <a:rPr lang="en-US" sz="1700" dirty="0">
                <a:solidFill>
                  <a:schemeClr val="tx1"/>
                </a:solidFill>
              </a:rPr>
              <a:t>Java no tiene * ni &amp;: toda variable de tipo objeto guarda una referencia (dirección) administrada por la JVM.</a:t>
            </a:r>
            <a:endParaRPr lang="en-US" sz="1700" dirty="0"/>
          </a:p>
        </p:txBody>
      </p:sp>
      <p:sp>
        <p:nvSpPr>
          <p:cNvPr id="4" name="Text 2"/>
          <p:cNvSpPr txBox="1"/>
          <p:nvPr/>
        </p:nvSpPr>
        <p:spPr>
          <a:xfrm>
            <a:off x="548640" y="1920240"/>
            <a:ext cx="3657600" cy="320040"/>
          </a:xfrm>
          <a:prstGeom prst="rect">
            <a:avLst/>
          </a:prstGeom>
          <a:noFill/>
          <a:ln/>
        </p:spPr>
        <p:txBody>
          <a:bodyPr wrap="square" lIns="0" tIns="0" rIns="0" bIns="0" rtlCol="0" anchor="t"/>
          <a:lstStyle/>
          <a:p>
            <a:pPr indent="0" marL="0">
              <a:buNone/>
            </a:pPr>
            <a:r>
              <a:rPr lang="en-US" sz="1500" b="1" dirty="0">
                <a:solidFill>
                  <a:schemeClr val="tx2"/>
                </a:solidFill>
              </a:rPr>
              <a:t>Vista en memoria</a:t>
            </a:r>
            <a:endParaRPr lang="en-US" sz="1500" dirty="0"/>
          </a:p>
        </p:txBody>
      </p:sp>
      <p:sp>
        <p:nvSpPr>
          <p:cNvPr id="5" name="Shape 3"/>
          <p:cNvSpPr/>
          <p:nvPr/>
        </p:nvSpPr>
        <p:spPr>
          <a:xfrm>
            <a:off x="548640" y="2377440"/>
            <a:ext cx="731520" cy="548640"/>
          </a:xfrm>
          <a:prstGeom prst="rect">
            <a:avLst/>
          </a:prstGeom>
          <a:solidFill>
            <a:schemeClr val="bg1"/>
          </a:solidFill>
          <a:ln w="15875">
            <a:solidFill>
              <a:schemeClr val="tx1"/>
            </a:solidFill>
            <a:prstDash val="solid"/>
          </a:ln>
        </p:spPr>
      </p:sp>
      <p:sp>
        <p:nvSpPr>
          <p:cNvPr id="6" name="Text 4"/>
          <p:cNvSpPr txBox="1"/>
          <p:nvPr/>
        </p:nvSpPr>
        <p:spPr>
          <a:xfrm>
            <a:off x="548640" y="2377440"/>
            <a:ext cx="731520" cy="548640"/>
          </a:xfrm>
          <a:prstGeom prst="rect">
            <a:avLst/>
          </a:prstGeom>
          <a:noFill/>
          <a:ln/>
        </p:spPr>
        <p:txBody>
          <a:bodyPr wrap="square" lIns="0" tIns="0" rIns="0" bIns="0" rtlCol="0" anchor="ctr"/>
          <a:lstStyle/>
          <a:p>
            <a:pPr algn="ctr" indent="0" marL="0">
              <a:buNone/>
            </a:pPr>
            <a:r>
              <a:rPr lang="en-US" sz="1300" b="1" dirty="0">
                <a:solidFill>
                  <a:schemeClr val="accent4"/>
                </a:solidFill>
                <a:latin typeface="Courier New" pitchFamily="34" charset="0"/>
                <a:ea typeface="Courier New" pitchFamily="34" charset="-122"/>
                <a:cs typeface="Courier New" pitchFamily="34" charset="-120"/>
              </a:rPr>
              <a:t>null</a:t>
            </a:r>
            <a:endParaRPr lang="en-US" sz="1300" dirty="0"/>
          </a:p>
        </p:txBody>
      </p:sp>
      <p:sp>
        <p:nvSpPr>
          <p:cNvPr id="7" name="Shape 5"/>
          <p:cNvSpPr/>
          <p:nvPr/>
        </p:nvSpPr>
        <p:spPr>
          <a:xfrm>
            <a:off x="1280160" y="2377440"/>
            <a:ext cx="1097280" cy="548640"/>
          </a:xfrm>
          <a:prstGeom prst="rect">
            <a:avLst/>
          </a:prstGeom>
          <a:solidFill>
            <a:schemeClr val="accent6"/>
          </a:solidFill>
          <a:ln w="15875">
            <a:solidFill>
              <a:schemeClr val="tx1"/>
            </a:solidFill>
            <a:prstDash val="solid"/>
          </a:ln>
        </p:spPr>
      </p:sp>
      <p:sp>
        <p:nvSpPr>
          <p:cNvPr id="8" name="Text 6"/>
          <p:cNvSpPr txBox="1"/>
          <p:nvPr/>
        </p:nvSpPr>
        <p:spPr>
          <a:xfrm>
            <a:off x="1280160" y="2377440"/>
            <a:ext cx="109728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e2-e4</a:t>
            </a:r>
            <a:endParaRPr lang="en-US" sz="1300" dirty="0"/>
          </a:p>
        </p:txBody>
      </p:sp>
      <p:sp>
        <p:nvSpPr>
          <p:cNvPr id="9" name="Shape 7"/>
          <p:cNvSpPr/>
          <p:nvPr/>
        </p:nvSpPr>
        <p:spPr>
          <a:xfrm>
            <a:off x="2377440" y="2377440"/>
            <a:ext cx="731520" cy="548640"/>
          </a:xfrm>
          <a:prstGeom prst="rect">
            <a:avLst/>
          </a:prstGeom>
          <a:solidFill>
            <a:schemeClr val="bg1"/>
          </a:solidFill>
          <a:ln w="15875">
            <a:solidFill>
              <a:schemeClr val="tx1"/>
            </a:solidFill>
            <a:prstDash val="solid"/>
          </a:ln>
        </p:spPr>
      </p:sp>
      <p:sp>
        <p:nvSpPr>
          <p:cNvPr id="10" name="Text 8"/>
          <p:cNvSpPr txBox="1"/>
          <p:nvPr/>
        </p:nvSpPr>
        <p:spPr>
          <a:xfrm>
            <a:off x="2377440" y="2377440"/>
            <a:ext cx="731520" cy="548640"/>
          </a:xfrm>
          <a:prstGeom prst="rect">
            <a:avLst/>
          </a:prstGeom>
          <a:noFill/>
          <a:ln/>
        </p:spPr>
        <p:txBody>
          <a:bodyPr wrap="square" lIns="0" tIns="0" rIns="0" bIns="0" rtlCol="0" anchor="ctr"/>
          <a:lstStyle/>
          <a:p>
            <a:pPr algn="ctr" indent="0" marL="0">
              <a:buNone/>
            </a:pPr>
            <a:r>
              <a:rPr lang="en-US" sz="1300" b="1" dirty="0">
                <a:solidFill>
                  <a:schemeClr val="accent4"/>
                </a:solidFill>
                <a:latin typeface="Courier New" pitchFamily="34" charset="0"/>
                <a:ea typeface="Courier New" pitchFamily="34" charset="-122"/>
                <a:cs typeface="Courier New" pitchFamily="34" charset="-120"/>
              </a:rPr>
              <a:t>300</a:t>
            </a:r>
            <a:endParaRPr lang="en-US" sz="1300" dirty="0"/>
          </a:p>
        </p:txBody>
      </p:sp>
      <p:sp>
        <p:nvSpPr>
          <p:cNvPr id="11" name="Text 9"/>
          <p:cNvSpPr txBox="1"/>
          <p:nvPr/>
        </p:nvSpPr>
        <p:spPr>
          <a:xfrm>
            <a:off x="548640" y="2999232"/>
            <a:ext cx="2560320" cy="274320"/>
          </a:xfrm>
          <a:prstGeom prst="rect">
            <a:avLst/>
          </a:prstGeom>
          <a:noFill/>
          <a:ln/>
        </p:spPr>
        <p:txBody>
          <a:bodyPr wrap="square" lIns="0" tIns="0" rIns="0" bIns="0" rtlCol="0" anchor="t"/>
          <a:lstStyle/>
          <a:p>
            <a:pPr algn="ctr" indent="0" marL="0">
              <a:buNone/>
            </a:pPr>
            <a:r>
              <a:rPr lang="en-US" sz="1200" dirty="0">
                <a:solidFill>
                  <a:schemeClr val="accent5"/>
                </a:solidFill>
              </a:rPr>
              <a:t>dir. 500</a:t>
            </a:r>
            <a:endParaRPr lang="en-US" sz="1200" dirty="0"/>
          </a:p>
        </p:txBody>
      </p:sp>
      <p:sp>
        <p:nvSpPr>
          <p:cNvPr id="12" name="Shape 10"/>
          <p:cNvSpPr/>
          <p:nvPr/>
        </p:nvSpPr>
        <p:spPr>
          <a:xfrm>
            <a:off x="3520440" y="2377440"/>
            <a:ext cx="731520" cy="548640"/>
          </a:xfrm>
          <a:prstGeom prst="rect">
            <a:avLst/>
          </a:prstGeom>
          <a:solidFill>
            <a:schemeClr val="bg1"/>
          </a:solidFill>
          <a:ln w="15875">
            <a:solidFill>
              <a:schemeClr val="tx1"/>
            </a:solidFill>
            <a:prstDash val="solid"/>
          </a:ln>
        </p:spPr>
      </p:sp>
      <p:sp>
        <p:nvSpPr>
          <p:cNvPr id="13" name="Text 11"/>
          <p:cNvSpPr txBox="1"/>
          <p:nvPr/>
        </p:nvSpPr>
        <p:spPr>
          <a:xfrm>
            <a:off x="3520440" y="2377440"/>
            <a:ext cx="731520" cy="548640"/>
          </a:xfrm>
          <a:prstGeom prst="rect">
            <a:avLst/>
          </a:prstGeom>
          <a:noFill/>
          <a:ln/>
        </p:spPr>
        <p:txBody>
          <a:bodyPr wrap="square" lIns="0" tIns="0" rIns="0" bIns="0" rtlCol="0" anchor="ctr"/>
          <a:lstStyle/>
          <a:p>
            <a:pPr algn="ctr" indent="0" marL="0">
              <a:buNone/>
            </a:pPr>
            <a:r>
              <a:rPr lang="en-US" sz="1300" b="1" dirty="0">
                <a:solidFill>
                  <a:schemeClr val="accent4"/>
                </a:solidFill>
                <a:latin typeface="Courier New" pitchFamily="34" charset="0"/>
                <a:ea typeface="Courier New" pitchFamily="34" charset="-122"/>
                <a:cs typeface="Courier New" pitchFamily="34" charset="-120"/>
              </a:rPr>
              <a:t>500</a:t>
            </a:r>
            <a:endParaRPr lang="en-US" sz="1300" dirty="0"/>
          </a:p>
        </p:txBody>
      </p:sp>
      <p:sp>
        <p:nvSpPr>
          <p:cNvPr id="14" name="Shape 12"/>
          <p:cNvSpPr/>
          <p:nvPr/>
        </p:nvSpPr>
        <p:spPr>
          <a:xfrm>
            <a:off x="4251960" y="2377440"/>
            <a:ext cx="1097280" cy="548640"/>
          </a:xfrm>
          <a:prstGeom prst="rect">
            <a:avLst/>
          </a:prstGeom>
          <a:solidFill>
            <a:schemeClr val="accent6"/>
          </a:solidFill>
          <a:ln w="15875">
            <a:solidFill>
              <a:schemeClr val="tx1"/>
            </a:solidFill>
            <a:prstDash val="solid"/>
          </a:ln>
        </p:spPr>
      </p:sp>
      <p:sp>
        <p:nvSpPr>
          <p:cNvPr id="15" name="Text 13"/>
          <p:cNvSpPr txBox="1"/>
          <p:nvPr/>
        </p:nvSpPr>
        <p:spPr>
          <a:xfrm>
            <a:off x="4251960" y="2377440"/>
            <a:ext cx="109728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d7-d5</a:t>
            </a:r>
            <a:endParaRPr lang="en-US" sz="1300" dirty="0"/>
          </a:p>
        </p:txBody>
      </p:sp>
      <p:sp>
        <p:nvSpPr>
          <p:cNvPr id="16" name="Shape 14"/>
          <p:cNvSpPr/>
          <p:nvPr/>
        </p:nvSpPr>
        <p:spPr>
          <a:xfrm>
            <a:off x="5349240" y="2377440"/>
            <a:ext cx="731520" cy="548640"/>
          </a:xfrm>
          <a:prstGeom prst="rect">
            <a:avLst/>
          </a:prstGeom>
          <a:solidFill>
            <a:schemeClr val="bg1"/>
          </a:solidFill>
          <a:ln w="15875">
            <a:solidFill>
              <a:schemeClr val="tx1"/>
            </a:solidFill>
            <a:prstDash val="solid"/>
          </a:ln>
        </p:spPr>
      </p:sp>
      <p:sp>
        <p:nvSpPr>
          <p:cNvPr id="17" name="Text 15"/>
          <p:cNvSpPr txBox="1"/>
          <p:nvPr/>
        </p:nvSpPr>
        <p:spPr>
          <a:xfrm>
            <a:off x="5349240" y="2377440"/>
            <a:ext cx="731520" cy="548640"/>
          </a:xfrm>
          <a:prstGeom prst="rect">
            <a:avLst/>
          </a:prstGeom>
          <a:noFill/>
          <a:ln/>
        </p:spPr>
        <p:txBody>
          <a:bodyPr wrap="square" lIns="0" tIns="0" rIns="0" bIns="0" rtlCol="0" anchor="ctr"/>
          <a:lstStyle/>
          <a:p>
            <a:pPr algn="ctr" indent="0" marL="0">
              <a:buNone/>
            </a:pPr>
            <a:r>
              <a:rPr lang="en-US" sz="1300" b="1" dirty="0">
                <a:solidFill>
                  <a:schemeClr val="accent4"/>
                </a:solidFill>
                <a:latin typeface="Courier New" pitchFamily="34" charset="0"/>
                <a:ea typeface="Courier New" pitchFamily="34" charset="-122"/>
                <a:cs typeface="Courier New" pitchFamily="34" charset="-120"/>
              </a:rPr>
              <a:t>700</a:t>
            </a:r>
            <a:endParaRPr lang="en-US" sz="1300" dirty="0"/>
          </a:p>
        </p:txBody>
      </p:sp>
      <p:sp>
        <p:nvSpPr>
          <p:cNvPr id="18" name="Text 16"/>
          <p:cNvSpPr txBox="1"/>
          <p:nvPr/>
        </p:nvSpPr>
        <p:spPr>
          <a:xfrm>
            <a:off x="3520440" y="2999232"/>
            <a:ext cx="2560320" cy="274320"/>
          </a:xfrm>
          <a:prstGeom prst="rect">
            <a:avLst/>
          </a:prstGeom>
          <a:noFill/>
          <a:ln/>
        </p:spPr>
        <p:txBody>
          <a:bodyPr wrap="square" lIns="0" tIns="0" rIns="0" bIns="0" rtlCol="0" anchor="t"/>
          <a:lstStyle/>
          <a:p>
            <a:pPr algn="ctr" indent="0" marL="0">
              <a:buNone/>
            </a:pPr>
            <a:r>
              <a:rPr lang="en-US" sz="1200" dirty="0">
                <a:solidFill>
                  <a:schemeClr val="accent5"/>
                </a:solidFill>
              </a:rPr>
              <a:t>dir. 300</a:t>
            </a:r>
            <a:endParaRPr lang="en-US" sz="1200" dirty="0"/>
          </a:p>
        </p:txBody>
      </p:sp>
      <p:sp>
        <p:nvSpPr>
          <p:cNvPr id="19" name="Shape 17"/>
          <p:cNvSpPr/>
          <p:nvPr/>
        </p:nvSpPr>
        <p:spPr>
          <a:xfrm>
            <a:off x="6492240" y="2377440"/>
            <a:ext cx="731520" cy="548640"/>
          </a:xfrm>
          <a:prstGeom prst="rect">
            <a:avLst/>
          </a:prstGeom>
          <a:solidFill>
            <a:schemeClr val="bg1"/>
          </a:solidFill>
          <a:ln w="15875">
            <a:solidFill>
              <a:schemeClr val="tx1"/>
            </a:solidFill>
            <a:prstDash val="solid"/>
          </a:ln>
        </p:spPr>
      </p:sp>
      <p:sp>
        <p:nvSpPr>
          <p:cNvPr id="20" name="Text 18"/>
          <p:cNvSpPr txBox="1"/>
          <p:nvPr/>
        </p:nvSpPr>
        <p:spPr>
          <a:xfrm>
            <a:off x="6492240" y="2377440"/>
            <a:ext cx="731520" cy="548640"/>
          </a:xfrm>
          <a:prstGeom prst="rect">
            <a:avLst/>
          </a:prstGeom>
          <a:noFill/>
          <a:ln/>
        </p:spPr>
        <p:txBody>
          <a:bodyPr wrap="square" lIns="0" tIns="0" rIns="0" bIns="0" rtlCol="0" anchor="ctr"/>
          <a:lstStyle/>
          <a:p>
            <a:pPr algn="ctr" indent="0" marL="0">
              <a:buNone/>
            </a:pPr>
            <a:r>
              <a:rPr lang="en-US" sz="1300" b="1" dirty="0">
                <a:solidFill>
                  <a:schemeClr val="accent4"/>
                </a:solidFill>
                <a:latin typeface="Courier New" pitchFamily="34" charset="0"/>
                <a:ea typeface="Courier New" pitchFamily="34" charset="-122"/>
                <a:cs typeface="Courier New" pitchFamily="34" charset="-120"/>
              </a:rPr>
              <a:t>300</a:t>
            </a:r>
            <a:endParaRPr lang="en-US" sz="1300" dirty="0"/>
          </a:p>
        </p:txBody>
      </p:sp>
      <p:sp>
        <p:nvSpPr>
          <p:cNvPr id="21" name="Shape 19"/>
          <p:cNvSpPr/>
          <p:nvPr/>
        </p:nvSpPr>
        <p:spPr>
          <a:xfrm>
            <a:off x="7223760" y="2377440"/>
            <a:ext cx="1097280" cy="548640"/>
          </a:xfrm>
          <a:prstGeom prst="rect">
            <a:avLst/>
          </a:prstGeom>
          <a:solidFill>
            <a:schemeClr val="accent6"/>
          </a:solidFill>
          <a:ln w="15875">
            <a:solidFill>
              <a:schemeClr val="tx1"/>
            </a:solidFill>
            <a:prstDash val="solid"/>
          </a:ln>
        </p:spPr>
      </p:sp>
      <p:sp>
        <p:nvSpPr>
          <p:cNvPr id="22" name="Text 20"/>
          <p:cNvSpPr txBox="1"/>
          <p:nvPr/>
        </p:nvSpPr>
        <p:spPr>
          <a:xfrm>
            <a:off x="7223760" y="2377440"/>
            <a:ext cx="109728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e4xd5</a:t>
            </a:r>
            <a:endParaRPr lang="en-US" sz="1300" dirty="0"/>
          </a:p>
        </p:txBody>
      </p:sp>
      <p:sp>
        <p:nvSpPr>
          <p:cNvPr id="23" name="Shape 21"/>
          <p:cNvSpPr/>
          <p:nvPr/>
        </p:nvSpPr>
        <p:spPr>
          <a:xfrm>
            <a:off x="8321040" y="2377440"/>
            <a:ext cx="731520" cy="548640"/>
          </a:xfrm>
          <a:prstGeom prst="rect">
            <a:avLst/>
          </a:prstGeom>
          <a:solidFill>
            <a:schemeClr val="bg1"/>
          </a:solidFill>
          <a:ln w="15875">
            <a:solidFill>
              <a:schemeClr val="tx1"/>
            </a:solidFill>
            <a:prstDash val="solid"/>
          </a:ln>
        </p:spPr>
      </p:sp>
      <p:sp>
        <p:nvSpPr>
          <p:cNvPr id="24" name="Text 22"/>
          <p:cNvSpPr txBox="1"/>
          <p:nvPr/>
        </p:nvSpPr>
        <p:spPr>
          <a:xfrm>
            <a:off x="8321040" y="2377440"/>
            <a:ext cx="731520" cy="548640"/>
          </a:xfrm>
          <a:prstGeom prst="rect">
            <a:avLst/>
          </a:prstGeom>
          <a:noFill/>
          <a:ln/>
        </p:spPr>
        <p:txBody>
          <a:bodyPr wrap="square" lIns="0" tIns="0" rIns="0" bIns="0" rtlCol="0" anchor="ctr"/>
          <a:lstStyle/>
          <a:p>
            <a:pPr algn="ctr" indent="0" marL="0">
              <a:buNone/>
            </a:pPr>
            <a:r>
              <a:rPr lang="en-US" sz="1300" b="1" dirty="0">
                <a:solidFill>
                  <a:schemeClr val="accent4"/>
                </a:solidFill>
                <a:latin typeface="Courier New" pitchFamily="34" charset="0"/>
                <a:ea typeface="Courier New" pitchFamily="34" charset="-122"/>
                <a:cs typeface="Courier New" pitchFamily="34" charset="-120"/>
              </a:rPr>
              <a:t>null</a:t>
            </a:r>
            <a:endParaRPr lang="en-US" sz="1300" dirty="0"/>
          </a:p>
        </p:txBody>
      </p:sp>
      <p:sp>
        <p:nvSpPr>
          <p:cNvPr id="25" name="Text 23"/>
          <p:cNvSpPr txBox="1"/>
          <p:nvPr/>
        </p:nvSpPr>
        <p:spPr>
          <a:xfrm>
            <a:off x="6492240" y="2999232"/>
            <a:ext cx="2560320" cy="274320"/>
          </a:xfrm>
          <a:prstGeom prst="rect">
            <a:avLst/>
          </a:prstGeom>
          <a:noFill/>
          <a:ln/>
        </p:spPr>
        <p:txBody>
          <a:bodyPr wrap="square" lIns="0" tIns="0" rIns="0" bIns="0" rtlCol="0" anchor="t"/>
          <a:lstStyle/>
          <a:p>
            <a:pPr algn="ctr" indent="0" marL="0">
              <a:buNone/>
            </a:pPr>
            <a:r>
              <a:rPr lang="en-US" sz="1200" dirty="0">
                <a:solidFill>
                  <a:schemeClr val="accent5"/>
                </a:solidFill>
              </a:rPr>
              <a:t>dir. 700</a:t>
            </a:r>
            <a:endParaRPr lang="en-US" sz="1200" dirty="0"/>
          </a:p>
        </p:txBody>
      </p:sp>
      <p:sp>
        <p:nvSpPr>
          <p:cNvPr id="26" name="Text 24"/>
          <p:cNvSpPr txBox="1"/>
          <p:nvPr/>
        </p:nvSpPr>
        <p:spPr>
          <a:xfrm>
            <a:off x="548640" y="3337560"/>
            <a:ext cx="82296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anterior</a:t>
            </a:r>
            <a:endParaRPr lang="en-US" sz="1100" dirty="0"/>
          </a:p>
        </p:txBody>
      </p:sp>
      <p:sp>
        <p:nvSpPr>
          <p:cNvPr id="27" name="Text 25"/>
          <p:cNvSpPr txBox="1"/>
          <p:nvPr/>
        </p:nvSpPr>
        <p:spPr>
          <a:xfrm>
            <a:off x="2286000" y="3337560"/>
            <a:ext cx="91440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siguiente</a:t>
            </a:r>
            <a:endParaRPr lang="en-US" sz="1100" dirty="0"/>
          </a:p>
        </p:txBody>
      </p:sp>
      <p:sp>
        <p:nvSpPr>
          <p:cNvPr id="28" name="Shape 26"/>
          <p:cNvSpPr/>
          <p:nvPr/>
        </p:nvSpPr>
        <p:spPr>
          <a:xfrm>
            <a:off x="9601200" y="2377440"/>
            <a:ext cx="914400" cy="548640"/>
          </a:xfrm>
          <a:prstGeom prst="rect">
            <a:avLst/>
          </a:prstGeom>
          <a:solidFill>
            <a:schemeClr val="bg2"/>
          </a:solidFill>
          <a:ln w="15875">
            <a:solidFill>
              <a:schemeClr val="tx1"/>
            </a:solidFill>
            <a:prstDash val="solid"/>
          </a:ln>
        </p:spPr>
      </p:sp>
      <p:sp>
        <p:nvSpPr>
          <p:cNvPr id="29" name="Text 27"/>
          <p:cNvSpPr txBox="1"/>
          <p:nvPr/>
        </p:nvSpPr>
        <p:spPr>
          <a:xfrm>
            <a:off x="9601200" y="2377440"/>
            <a:ext cx="91440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500</a:t>
            </a:r>
            <a:endParaRPr lang="en-US" sz="1300" dirty="0"/>
          </a:p>
        </p:txBody>
      </p:sp>
      <p:sp>
        <p:nvSpPr>
          <p:cNvPr id="30" name="Text 28"/>
          <p:cNvSpPr txBox="1"/>
          <p:nvPr/>
        </p:nvSpPr>
        <p:spPr>
          <a:xfrm>
            <a:off x="9601200" y="2999232"/>
            <a:ext cx="914400" cy="274320"/>
          </a:xfrm>
          <a:prstGeom prst="rect">
            <a:avLst/>
          </a:prstGeom>
          <a:noFill/>
          <a:ln/>
        </p:spPr>
        <p:txBody>
          <a:bodyPr wrap="square" lIns="0" tIns="0" rIns="0" bIns="0" rtlCol="0" anchor="t"/>
          <a:lstStyle/>
          <a:p>
            <a:pPr algn="ctr" indent="0" marL="0">
              <a:buNone/>
            </a:pPr>
            <a:r>
              <a:rPr lang="en-US" sz="1200" dirty="0">
                <a:solidFill>
                  <a:schemeClr val="accent5"/>
                </a:solidFill>
              </a:rPr>
              <a:t>cabeza</a:t>
            </a:r>
            <a:endParaRPr lang="en-US" sz="1200" dirty="0"/>
          </a:p>
        </p:txBody>
      </p:sp>
      <p:sp>
        <p:nvSpPr>
          <p:cNvPr id="31" name="Shape 29"/>
          <p:cNvSpPr/>
          <p:nvPr/>
        </p:nvSpPr>
        <p:spPr>
          <a:xfrm>
            <a:off x="10698480" y="2377440"/>
            <a:ext cx="914400" cy="548640"/>
          </a:xfrm>
          <a:prstGeom prst="rect">
            <a:avLst/>
          </a:prstGeom>
          <a:solidFill>
            <a:schemeClr val="bg2"/>
          </a:solidFill>
          <a:ln w="15875">
            <a:solidFill>
              <a:schemeClr val="tx1"/>
            </a:solidFill>
            <a:prstDash val="solid"/>
          </a:ln>
        </p:spPr>
      </p:sp>
      <p:sp>
        <p:nvSpPr>
          <p:cNvPr id="32" name="Text 30"/>
          <p:cNvSpPr txBox="1"/>
          <p:nvPr/>
        </p:nvSpPr>
        <p:spPr>
          <a:xfrm>
            <a:off x="10698480" y="2377440"/>
            <a:ext cx="91440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700</a:t>
            </a:r>
            <a:endParaRPr lang="en-US" sz="1300" dirty="0"/>
          </a:p>
        </p:txBody>
      </p:sp>
      <p:sp>
        <p:nvSpPr>
          <p:cNvPr id="33" name="Text 31"/>
          <p:cNvSpPr txBox="1"/>
          <p:nvPr/>
        </p:nvSpPr>
        <p:spPr>
          <a:xfrm>
            <a:off x="10698480" y="2999232"/>
            <a:ext cx="914400" cy="274320"/>
          </a:xfrm>
          <a:prstGeom prst="rect">
            <a:avLst/>
          </a:prstGeom>
          <a:noFill/>
          <a:ln/>
        </p:spPr>
        <p:txBody>
          <a:bodyPr wrap="square" lIns="0" tIns="0" rIns="0" bIns="0" rtlCol="0" anchor="t"/>
          <a:lstStyle/>
          <a:p>
            <a:pPr algn="ctr" indent="0" marL="0">
              <a:buNone/>
            </a:pPr>
            <a:r>
              <a:rPr lang="en-US" sz="1200" dirty="0">
                <a:solidFill>
                  <a:schemeClr val="accent5"/>
                </a:solidFill>
              </a:rPr>
              <a:t>cola</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64240" cy="914400"/>
        </p:xfrm>
        <a:graphic>
          <a:graphicData uri="http://schemas.openxmlformats.org/drawingml/2006/table">
            <a:tbl>
              <a:tblPr/>
              <a:tblGrid>
                <a:gridCol w="2743200"/>
                <a:gridCol w="3566160"/>
                <a:gridCol w="4754880"/>
              </a:tblGrid>
              <a:tr h="411480">
                <a:tc>
                  <a:txBody>
                    <a:bodyPr/>
                    <a:lstStyle/>
                    <a:p>
                      <a:pPr indent="0" marL="0">
                        <a:buNone/>
                      </a:pPr>
                      <a:r>
                        <a:rPr lang="en-US" sz="1400" b="1" dirty="0">
                          <a:solidFill>
                            <a:schemeClr val="bg1"/>
                          </a:solidFill>
                        </a:rPr>
                        <a:t>Concepto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Java (nuestro código)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r>
              <a:tr h="411480">
                <a:tc>
                  <a:txBody>
                    <a:bodyPr/>
                    <a:lstStyle/>
                    <a:p>
                      <a:pPr indent="0" marL="0">
                        <a:buNone/>
                      </a:pPr>
                      <a:r>
                        <a:rPr lang="en-US" sz="1400" dirty="0">
                          <a:solidFill>
                            <a:schemeClr val="tx1"/>
                          </a:solidFill>
                        </a:rPr>
                        <a:t>Declarar puntero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struct Nodo *sig;</a:t>
                      </a:r>
                      <a:endParaRPr lang="en-US" sz="13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latin typeface="Courier New" pitchFamily="34" charset="0"/>
                          <a:ea typeface="Courier New" pitchFamily="34" charset="-122"/>
                          <a:cs typeface="Courier New" pitchFamily="34" charset="-120"/>
                        </a:rPr>
                        <a:t>Nodo&lt;T&gt; siguiente;</a:t>
                      </a:r>
                      <a:endParaRPr lang="en-US" sz="13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11480">
                <a:tc>
                  <a:txBody>
                    <a:bodyPr/>
                    <a:lstStyle/>
                    <a:p>
                      <a:pPr indent="0" marL="0">
                        <a:buNone/>
                      </a:pPr>
                      <a:r>
                        <a:rPr lang="en-US" sz="1400" dirty="0">
                          <a:solidFill>
                            <a:schemeClr val="tx1"/>
                          </a:solidFill>
                        </a:rPr>
                        <a:t>Seguir el puntero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p = p-&gt;sig;</a:t>
                      </a:r>
                      <a:endParaRPr lang="en-US" sz="13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latin typeface="Courier New" pitchFamily="34" charset="0"/>
                          <a:ea typeface="Courier New" pitchFamily="34" charset="-122"/>
                          <a:cs typeface="Courier New" pitchFamily="34" charset="-120"/>
                        </a:rPr>
                        <a:t>actual = actual.siguiente;</a:t>
                      </a:r>
                      <a:endParaRPr lang="en-US" sz="13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11480">
                <a:tc>
                  <a:txBody>
                    <a:bodyPr/>
                    <a:lstStyle/>
                    <a:p>
                      <a:pPr indent="0" marL="0">
                        <a:buNone/>
                      </a:pPr>
                      <a:r>
                        <a:rPr lang="en-US" sz="1400" dirty="0">
                          <a:solidFill>
                            <a:schemeClr val="tx1"/>
                          </a:solidFill>
                        </a:rPr>
                        <a:t>Reservar nodo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malloc(sizeof(Nodo))</a:t>
                      </a:r>
                      <a:endParaRPr lang="en-US" sz="13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latin typeface="Courier New" pitchFamily="34" charset="0"/>
                          <a:ea typeface="Courier New" pitchFamily="34" charset="-122"/>
                          <a:cs typeface="Courier New" pitchFamily="34" charset="-120"/>
                        </a:rPr>
                        <a:t>new Nodo&lt;&gt;(dato, ant, sig)</a:t>
                      </a:r>
                      <a:endParaRPr lang="en-US" sz="13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11480">
                <a:tc>
                  <a:txBody>
                    <a:bodyPr/>
                    <a:lstStyle/>
                    <a:p>
                      <a:pPr indent="0" marL="0">
                        <a:buNone/>
                      </a:pPr>
                      <a:r>
                        <a:rPr lang="en-US" sz="1400" dirty="0">
                          <a:solidFill>
                            <a:schemeClr val="tx1"/>
                          </a:solidFill>
                        </a:rPr>
                        <a:t>Liberar nodo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free(nodo)</a:t>
                      </a:r>
                      <a:endParaRPr lang="en-US" sz="13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latin typeface="Courier New" pitchFamily="34" charset="0"/>
                          <a:ea typeface="Courier New" pitchFamily="34" charset="-122"/>
                          <a:cs typeface="Courier New" pitchFamily="34" charset="-120"/>
                        </a:rPr>
                        <a:t>cortar referencias → GC</a:t>
                      </a:r>
                      <a:endParaRPr lang="en-US" sz="13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Arquitectura: dato, nodo y TDA en capas</a:t>
            </a:r>
            <a:endParaRPr lang="en-US" sz="3200" dirty="0"/>
          </a:p>
        </p:txBody>
      </p:sp>
      <p:sp>
        <p:nvSpPr>
          <p:cNvPr id="3" name="Shape 1"/>
          <p:cNvSpPr/>
          <p:nvPr/>
        </p:nvSpPr>
        <p:spPr>
          <a:xfrm>
            <a:off x="548640" y="1280160"/>
            <a:ext cx="5669280" cy="4846320"/>
          </a:xfrm>
          <a:prstGeom prst="roundRect">
            <a:avLst>
              <a:gd name="adj" fmla="val 1887"/>
            </a:avLst>
          </a:prstGeom>
          <a:solidFill>
            <a:schemeClr val="bg1"/>
          </a:solidFill>
          <a:ln w="12700">
            <a:solidFill>
              <a:schemeClr val="accent5"/>
            </a:solidFill>
            <a:prstDash val="dash"/>
          </a:ln>
        </p:spPr>
      </p:sp>
      <p:sp>
        <p:nvSpPr>
          <p:cNvPr id="4" name="Text 2"/>
          <p:cNvSpPr txBox="1"/>
          <p:nvPr/>
        </p:nvSpPr>
        <p:spPr>
          <a:xfrm>
            <a:off x="777240" y="1371600"/>
            <a:ext cx="3657600" cy="292608"/>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dominio.estructuras</a:t>
            </a:r>
            <a:endParaRPr lang="en-US" sz="1300" dirty="0"/>
          </a:p>
        </p:txBody>
      </p:sp>
      <p:sp>
        <p:nvSpPr>
          <p:cNvPr id="5" name="Shape 3"/>
          <p:cNvSpPr/>
          <p:nvPr/>
        </p:nvSpPr>
        <p:spPr>
          <a:xfrm>
            <a:off x="1188720" y="1783080"/>
            <a:ext cx="4389120" cy="914400"/>
          </a:xfrm>
          <a:prstGeom prst="roundRect">
            <a:avLst>
              <a:gd name="adj" fmla="val 8000"/>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1188720" y="1892808"/>
            <a:ext cx="4389120" cy="384048"/>
          </a:xfrm>
          <a:prstGeom prst="rect">
            <a:avLst/>
          </a:prstGeom>
          <a:noFill/>
          <a:ln/>
        </p:spPr>
        <p:txBody>
          <a:bodyPr wrap="square" lIns="0" tIns="0" rIns="0" bIns="0" rtlCol="0" anchor="t"/>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«interface» TADLista&lt;T&gt;</a:t>
            </a:r>
            <a:endParaRPr lang="en-US" sz="1500" dirty="0"/>
          </a:p>
        </p:txBody>
      </p:sp>
      <p:sp>
        <p:nvSpPr>
          <p:cNvPr id="7" name="Text 5"/>
          <p:cNvSpPr txBox="1"/>
          <p:nvPr/>
        </p:nvSpPr>
        <p:spPr>
          <a:xfrm>
            <a:off x="1280160" y="2286000"/>
            <a:ext cx="4206240" cy="365760"/>
          </a:xfrm>
          <a:prstGeom prst="rect">
            <a:avLst/>
          </a:prstGeom>
          <a:noFill/>
          <a:ln/>
        </p:spPr>
        <p:txBody>
          <a:bodyPr wrap="square" lIns="0" tIns="0" rIns="0" bIns="0" rtlCol="0" anchor="t"/>
          <a:lstStyle/>
          <a:p>
            <a:pPr algn="ctr" indent="0" marL="0">
              <a:buNone/>
            </a:pPr>
            <a:r>
              <a:rPr lang="en-US" sz="1300" dirty="0">
                <a:solidFill>
                  <a:schemeClr val="bg1"/>
                </a:solidFill>
              </a:rPr>
              <a:t>contrato · extends Iterable&lt;T&gt;</a:t>
            </a:r>
            <a:endParaRPr lang="en-US" sz="1300" dirty="0"/>
          </a:p>
        </p:txBody>
      </p:sp>
      <p:sp>
        <p:nvSpPr>
          <p:cNvPr id="8" name="Shape 6"/>
          <p:cNvSpPr/>
          <p:nvPr/>
        </p:nvSpPr>
        <p:spPr>
          <a:xfrm>
            <a:off x="1188720" y="3337560"/>
            <a:ext cx="4389120" cy="2514600"/>
          </a:xfrm>
          <a:prstGeom prst="roundRect">
            <a:avLst>
              <a:gd name="adj" fmla="val 2909"/>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1188720" y="3447288"/>
            <a:ext cx="4389120" cy="384048"/>
          </a:xfrm>
          <a:prstGeom prst="rect">
            <a:avLst/>
          </a:prstGeom>
          <a:noFill/>
          <a:ln/>
        </p:spPr>
        <p:txBody>
          <a:bodyPr wrap="square" lIns="0" tIns="0" rIns="0" bIns="0" rtlCol="0" anchor="t"/>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ListaDoblementeEnlazada&lt;T&gt;</a:t>
            </a:r>
            <a:endParaRPr lang="en-US" sz="1500" dirty="0"/>
          </a:p>
        </p:txBody>
      </p:sp>
      <p:sp>
        <p:nvSpPr>
          <p:cNvPr id="10" name="Text 8"/>
          <p:cNvSpPr txBox="1"/>
          <p:nvPr/>
        </p:nvSpPr>
        <p:spPr>
          <a:xfrm>
            <a:off x="1280160" y="3840480"/>
            <a:ext cx="4206240" cy="1965960"/>
          </a:xfrm>
          <a:prstGeom prst="rect">
            <a:avLst/>
          </a:prstGeom>
          <a:noFill/>
          <a:ln/>
        </p:spPr>
        <p:txBody>
          <a:bodyPr wrap="square" lIns="0" tIns="0" rIns="0" bIns="0" rtlCol="0" anchor="t"/>
          <a:lstStyle/>
          <a:p>
            <a:pPr algn="ctr" indent="0" marL="0">
              <a:buNone/>
            </a:pPr>
            <a:endParaRPr lang="en-US" sz="1300" dirty="0"/>
          </a:p>
        </p:txBody>
      </p:sp>
      <p:sp>
        <p:nvSpPr>
          <p:cNvPr id="11" name="Text 9"/>
          <p:cNvSpPr txBox="1"/>
          <p:nvPr/>
        </p:nvSpPr>
        <p:spPr>
          <a:xfrm>
            <a:off x="1280160" y="3794760"/>
            <a:ext cx="4206240" cy="274320"/>
          </a:xfrm>
          <a:prstGeom prst="rect">
            <a:avLst/>
          </a:prstGeom>
          <a:noFill/>
          <a:ln/>
        </p:spPr>
        <p:txBody>
          <a:bodyPr wrap="square" lIns="0" tIns="0" rIns="0" bIns="0" rtlCol="0" anchor="t"/>
          <a:lstStyle/>
          <a:p>
            <a:pPr algn="ctr" indent="0" marL="0">
              <a:buNone/>
            </a:pPr>
            <a:r>
              <a:rPr lang="en-US" sz="1300" dirty="0">
                <a:solidFill>
                  <a:schemeClr val="bg1"/>
                </a:solidFill>
              </a:rPr>
              <a:t>cabeza · cola · tamanio · modificaciones</a:t>
            </a:r>
            <a:endParaRPr lang="en-US" sz="1300" dirty="0"/>
          </a:p>
        </p:txBody>
      </p:sp>
      <p:sp>
        <p:nvSpPr>
          <p:cNvPr id="12" name="Shape 10"/>
          <p:cNvSpPr/>
          <p:nvPr/>
        </p:nvSpPr>
        <p:spPr>
          <a:xfrm>
            <a:off x="1554480" y="4206240"/>
            <a:ext cx="3657600" cy="914400"/>
          </a:xfrm>
          <a:prstGeom prst="roundRect">
            <a:avLst>
              <a:gd name="adj" fmla="val 8000"/>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1554480" y="4270248"/>
            <a:ext cx="3657600" cy="36576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private static Nodo&lt;T&gt;</a:t>
            </a:r>
            <a:endParaRPr lang="en-US" sz="1400" dirty="0"/>
          </a:p>
        </p:txBody>
      </p:sp>
      <p:sp>
        <p:nvSpPr>
          <p:cNvPr id="14" name="Text 12"/>
          <p:cNvSpPr txBox="1"/>
          <p:nvPr/>
        </p:nvSpPr>
        <p:spPr>
          <a:xfrm>
            <a:off x="1554480" y="4645152"/>
            <a:ext cx="3657600" cy="320040"/>
          </a:xfrm>
          <a:prstGeom prst="rect">
            <a:avLst/>
          </a:prstGeom>
          <a:noFill/>
          <a:ln/>
        </p:spPr>
        <p:txBody>
          <a:bodyPr wrap="square" lIns="0" tIns="0" rIns="0" bIns="0" rtlCol="0" anchor="t"/>
          <a:lstStyle/>
          <a:p>
            <a:pPr algn="ctr" indent="0" marL="0">
              <a:buNone/>
            </a:pPr>
            <a:r>
              <a:rPr lang="en-US" sz="1300" dirty="0">
                <a:solidFill>
                  <a:schemeClr val="tx2"/>
                </a:solidFill>
              </a:rPr>
              <a:t>dato · anterior · siguiente</a:t>
            </a:r>
            <a:endParaRPr lang="en-US" sz="1300" dirty="0"/>
          </a:p>
        </p:txBody>
      </p:sp>
      <p:sp>
        <p:nvSpPr>
          <p:cNvPr id="15" name="Text 13"/>
          <p:cNvSpPr txBox="1"/>
          <p:nvPr/>
        </p:nvSpPr>
        <p:spPr>
          <a:xfrm>
            <a:off x="1280160" y="5303520"/>
            <a:ext cx="4206240" cy="320040"/>
          </a:xfrm>
          <a:prstGeom prst="rect">
            <a:avLst/>
          </a:prstGeom>
          <a:noFill/>
          <a:ln/>
        </p:spPr>
        <p:txBody>
          <a:bodyPr wrap="square" lIns="0" tIns="0" rIns="0" bIns="0" rtlCol="0" anchor="t"/>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private class Iterador</a:t>
            </a:r>
            <a:endParaRPr lang="en-US" sz="1300" dirty="0"/>
          </a:p>
        </p:txBody>
      </p:sp>
      <p:sp>
        <p:nvSpPr>
          <p:cNvPr id="16" name="Shape 14"/>
          <p:cNvSpPr/>
          <p:nvPr/>
        </p:nvSpPr>
        <p:spPr>
          <a:xfrm flipV="1">
            <a:off x="3383280" y="2743200"/>
            <a:ext cx="914" cy="548640"/>
          </a:xfrm>
          <a:prstGeom prst="line">
            <a:avLst/>
          </a:prstGeom>
          <a:noFill/>
          <a:ln w="25400">
            <a:solidFill>
              <a:schemeClr val="tx1"/>
            </a:solidFill>
            <a:prstDash val="dash"/>
            <a:tailEnd type="triangle"/>
          </a:ln>
        </p:spPr>
      </p:sp>
      <p:sp>
        <p:nvSpPr>
          <p:cNvPr id="17" name="Text 15"/>
          <p:cNvSpPr txBox="1"/>
          <p:nvPr/>
        </p:nvSpPr>
        <p:spPr>
          <a:xfrm>
            <a:off x="3520440" y="2852928"/>
            <a:ext cx="1371600" cy="27432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implements</a:t>
            </a:r>
            <a:endParaRPr lang="en-US" sz="1200" dirty="0"/>
          </a:p>
        </p:txBody>
      </p:sp>
      <p:sp>
        <p:nvSpPr>
          <p:cNvPr id="18" name="Shape 16"/>
          <p:cNvSpPr/>
          <p:nvPr/>
        </p:nvSpPr>
        <p:spPr>
          <a:xfrm>
            <a:off x="6583680" y="1280160"/>
            <a:ext cx="5029200" cy="4846320"/>
          </a:xfrm>
          <a:prstGeom prst="roundRect">
            <a:avLst>
              <a:gd name="adj" fmla="val 1887"/>
            </a:avLst>
          </a:prstGeom>
          <a:solidFill>
            <a:schemeClr val="bg1"/>
          </a:solidFill>
          <a:ln w="12700">
            <a:solidFill>
              <a:schemeClr val="accent5"/>
            </a:solidFill>
            <a:prstDash val="dash"/>
          </a:ln>
        </p:spPr>
      </p:sp>
      <p:sp>
        <p:nvSpPr>
          <p:cNvPr id="19" name="Text 17"/>
          <p:cNvSpPr txBox="1"/>
          <p:nvPr/>
        </p:nvSpPr>
        <p:spPr>
          <a:xfrm>
            <a:off x="6812280" y="1371600"/>
            <a:ext cx="3657600" cy="292608"/>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dominio.modelos</a:t>
            </a:r>
            <a:endParaRPr lang="en-US" sz="1300" dirty="0"/>
          </a:p>
        </p:txBody>
      </p:sp>
      <p:sp>
        <p:nvSpPr>
          <p:cNvPr id="20" name="Shape 18"/>
          <p:cNvSpPr/>
          <p:nvPr/>
        </p:nvSpPr>
        <p:spPr>
          <a:xfrm>
            <a:off x="7498080" y="1783080"/>
            <a:ext cx="384048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7498080" y="1892808"/>
            <a:ext cx="3840480" cy="384048"/>
          </a:xfrm>
          <a:prstGeom prst="rect">
            <a:avLst/>
          </a:prstGeom>
          <a:noFill/>
          <a:ln/>
        </p:spPr>
        <p:txBody>
          <a:bodyPr wrap="square" lIns="0" tIns="0" rIns="0" bIns="0" rtlCol="0" anchor="t"/>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HistorialMovimientos</a:t>
            </a:r>
            <a:endParaRPr lang="en-US" sz="1500" dirty="0"/>
          </a:p>
        </p:txBody>
      </p:sp>
      <p:sp>
        <p:nvSpPr>
          <p:cNvPr id="22" name="Text 20"/>
          <p:cNvSpPr txBox="1"/>
          <p:nvPr/>
        </p:nvSpPr>
        <p:spPr>
          <a:xfrm>
            <a:off x="7589520" y="2286000"/>
            <a:ext cx="3657600" cy="365760"/>
          </a:xfrm>
          <a:prstGeom prst="rect">
            <a:avLst/>
          </a:prstGeom>
          <a:noFill/>
          <a:ln/>
        </p:spPr>
        <p:txBody>
          <a:bodyPr wrap="square" lIns="0" tIns="0" rIns="0" bIns="0" rtlCol="0" anchor="t"/>
          <a:lstStyle/>
          <a:p>
            <a:pPr algn="ctr" indent="0" marL="0">
              <a:buNone/>
            </a:pPr>
            <a:r>
              <a:rPr lang="en-US" sz="1300" dirty="0">
                <a:solidFill>
                  <a:schemeClr val="tx2"/>
                </a:solidFill>
              </a:rPr>
              <a:t>TDA del dominio</a:t>
            </a:r>
            <a:endParaRPr lang="en-US" sz="1300" dirty="0"/>
          </a:p>
        </p:txBody>
      </p:sp>
      <p:sp>
        <p:nvSpPr>
          <p:cNvPr id="23" name="Shape 21"/>
          <p:cNvSpPr/>
          <p:nvPr/>
        </p:nvSpPr>
        <p:spPr>
          <a:xfrm>
            <a:off x="7498080" y="3063240"/>
            <a:ext cx="3840480" cy="914400"/>
          </a:xfrm>
          <a:prstGeom prst="roundRect">
            <a:avLst>
              <a:gd name="adj" fmla="val 8000"/>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24" name="Text 22"/>
          <p:cNvSpPr txBox="1"/>
          <p:nvPr/>
        </p:nvSpPr>
        <p:spPr>
          <a:xfrm>
            <a:off x="7498080" y="3172968"/>
            <a:ext cx="3840480" cy="384048"/>
          </a:xfrm>
          <a:prstGeom prst="rect">
            <a:avLst/>
          </a:prstGeom>
          <a:noFill/>
          <a:ln/>
        </p:spPr>
        <p:txBody>
          <a:bodyPr wrap="square" lIns="0" tIns="0" rIns="0" bIns="0" rtlCol="0" anchor="t"/>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Movimiento</a:t>
            </a:r>
            <a:endParaRPr lang="en-US" sz="1500" dirty="0"/>
          </a:p>
        </p:txBody>
      </p:sp>
      <p:sp>
        <p:nvSpPr>
          <p:cNvPr id="25" name="Text 23"/>
          <p:cNvSpPr txBox="1"/>
          <p:nvPr/>
        </p:nvSpPr>
        <p:spPr>
          <a:xfrm>
            <a:off x="7589520" y="3566160"/>
            <a:ext cx="3657600" cy="365760"/>
          </a:xfrm>
          <a:prstGeom prst="rect">
            <a:avLst/>
          </a:prstGeom>
          <a:noFill/>
          <a:ln/>
        </p:spPr>
        <p:txBody>
          <a:bodyPr wrap="square" lIns="0" tIns="0" rIns="0" bIns="0" rtlCol="0" anchor="t"/>
          <a:lstStyle/>
          <a:p>
            <a:pPr algn="ctr" indent="0" marL="0">
              <a:buNone/>
            </a:pPr>
            <a:r>
              <a:rPr lang="en-US" sz="1300" dirty="0">
                <a:solidFill>
                  <a:schemeClr val="tx2"/>
                </a:solidFill>
              </a:rPr>
              <a:t>dato inmutable, sin punteros</a:t>
            </a:r>
            <a:endParaRPr lang="en-US" sz="1300" dirty="0"/>
          </a:p>
        </p:txBody>
      </p:sp>
      <p:sp>
        <p:nvSpPr>
          <p:cNvPr id="26" name="Shape 24"/>
          <p:cNvSpPr/>
          <p:nvPr/>
        </p:nvSpPr>
        <p:spPr>
          <a:xfrm>
            <a:off x="7498080" y="4343400"/>
            <a:ext cx="384048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Text 25"/>
          <p:cNvSpPr txBox="1"/>
          <p:nvPr/>
        </p:nvSpPr>
        <p:spPr>
          <a:xfrm>
            <a:off x="7498080" y="4453128"/>
            <a:ext cx="3840480" cy="384048"/>
          </a:xfrm>
          <a:prstGeom prst="rect">
            <a:avLst/>
          </a:prstGeom>
          <a:noFill/>
          <a:ln/>
        </p:spPr>
        <p:txBody>
          <a:bodyPr wrap="square" lIns="0" tIns="0" rIns="0" bIns="0" rtlCol="0" anchor="t"/>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Partida</a:t>
            </a:r>
            <a:endParaRPr lang="en-US" sz="1500" dirty="0"/>
          </a:p>
        </p:txBody>
      </p:sp>
      <p:sp>
        <p:nvSpPr>
          <p:cNvPr id="28" name="Text 26"/>
          <p:cNvSpPr txBox="1"/>
          <p:nvPr/>
        </p:nvSpPr>
        <p:spPr>
          <a:xfrm>
            <a:off x="7589520" y="4846320"/>
            <a:ext cx="3657600" cy="365760"/>
          </a:xfrm>
          <a:prstGeom prst="rect">
            <a:avLst/>
          </a:prstGeom>
          <a:noFill/>
          <a:ln/>
        </p:spPr>
        <p:txBody>
          <a:bodyPr wrap="square" lIns="0" tIns="0" rIns="0" bIns="0" rtlCol="0" anchor="t"/>
          <a:lstStyle/>
          <a:p>
            <a:pPr algn="ctr" indent="0" marL="0">
              <a:buNone/>
            </a:pPr>
            <a:r>
              <a:rPr lang="en-US" sz="1300" dirty="0">
                <a:solidFill>
                  <a:schemeClr val="tx2"/>
                </a:solidFill>
              </a:rPr>
              <a:t>registra · marca · deshace</a:t>
            </a:r>
            <a:endParaRPr lang="en-US" sz="1300" dirty="0"/>
          </a:p>
        </p:txBody>
      </p:sp>
      <p:sp>
        <p:nvSpPr>
          <p:cNvPr id="29" name="Text 27"/>
          <p:cNvSpPr txBox="1"/>
          <p:nvPr/>
        </p:nvSpPr>
        <p:spPr>
          <a:xfrm>
            <a:off x="6812280" y="5532120"/>
            <a:ext cx="4663440" cy="365760"/>
          </a:xfrm>
          <a:prstGeom prst="rect">
            <a:avLst/>
          </a:prstGeom>
          <a:noFill/>
          <a:ln/>
        </p:spPr>
        <p:txBody>
          <a:bodyPr wrap="square" lIns="0" tIns="0" rIns="0" bIns="0" rtlCol="0" anchor="t"/>
          <a:lstStyle/>
          <a:p>
            <a:pPr algn="ctr" indent="0" marL="0">
              <a:buNone/>
            </a:pPr>
            <a:r>
              <a:rPr lang="en-US" sz="1300" dirty="0">
                <a:solidFill>
                  <a:schemeClr val="tx2"/>
                </a:solidFill>
              </a:rPr>
              <a:t>Usuario también usa TADLista&lt;Partida&gt;</a:t>
            </a:r>
            <a:endParaRPr lang="en-US" sz="1300" dirty="0"/>
          </a:p>
        </p:txBody>
      </p:sp>
      <p:sp>
        <p:nvSpPr>
          <p:cNvPr id="30" name="Shape 28"/>
          <p:cNvSpPr/>
          <p:nvPr/>
        </p:nvSpPr>
        <p:spPr>
          <a:xfrm flipH="1">
            <a:off x="5623560" y="2240280"/>
            <a:ext cx="1828800" cy="914"/>
          </a:xfrm>
          <a:prstGeom prst="line">
            <a:avLst/>
          </a:prstGeom>
          <a:noFill/>
          <a:ln w="25400">
            <a:solidFill>
              <a:schemeClr val="tx1"/>
            </a:solidFill>
            <a:prstDash val="solid"/>
            <a:tailEnd type="triangle"/>
          </a:ln>
        </p:spPr>
      </p:sp>
      <p:sp>
        <p:nvSpPr>
          <p:cNvPr id="31" name="Text 29"/>
          <p:cNvSpPr txBox="1"/>
          <p:nvPr/>
        </p:nvSpPr>
        <p:spPr>
          <a:xfrm>
            <a:off x="6309360" y="1901952"/>
            <a:ext cx="548640" cy="274320"/>
          </a:xfrm>
          <a:prstGeom prst="rect">
            <a:avLst/>
          </a:prstGeom>
          <a:noFill/>
          <a:ln/>
        </p:spPr>
        <p:txBody>
          <a:bodyPr wrap="square" lIns="0" tIns="0" rIns="0" bIns="0" rtlCol="0" anchor="t"/>
          <a:lstStyle/>
          <a:p>
            <a:pPr indent="0" marL="0">
              <a:buNone/>
            </a:pPr>
            <a:r>
              <a:rPr lang="en-US" sz="1200" dirty="0">
                <a:solidFill>
                  <a:schemeClr val="tx2"/>
                </a:solidFill>
              </a:rPr>
              <a:t>usa</a:t>
            </a:r>
            <a:endParaRPr lang="en-US" sz="1200" dirty="0"/>
          </a:p>
        </p:txBody>
      </p:sp>
      <p:sp>
        <p:nvSpPr>
          <p:cNvPr id="32" name="Shape 30"/>
          <p:cNvSpPr/>
          <p:nvPr/>
        </p:nvSpPr>
        <p:spPr>
          <a:xfrm>
            <a:off x="9418320" y="2743200"/>
            <a:ext cx="914" cy="274320"/>
          </a:xfrm>
          <a:prstGeom prst="line">
            <a:avLst/>
          </a:prstGeom>
          <a:noFill/>
          <a:ln w="25400">
            <a:solidFill>
              <a:schemeClr val="tx1"/>
            </a:solidFill>
            <a:prstDash val="solid"/>
            <a:tailEnd type="triangle"/>
          </a:ln>
        </p:spPr>
      </p:sp>
      <p:sp>
        <p:nvSpPr>
          <p:cNvPr id="33" name="Text 31"/>
          <p:cNvSpPr txBox="1"/>
          <p:nvPr/>
        </p:nvSpPr>
        <p:spPr>
          <a:xfrm>
            <a:off x="9555480" y="2724912"/>
            <a:ext cx="914400" cy="274320"/>
          </a:xfrm>
          <a:prstGeom prst="rect">
            <a:avLst/>
          </a:prstGeom>
          <a:noFill/>
          <a:ln/>
        </p:spPr>
        <p:txBody>
          <a:bodyPr wrap="square" lIns="0" tIns="0" rIns="0" bIns="0" rtlCol="0" anchor="t"/>
          <a:lstStyle/>
          <a:p>
            <a:pPr indent="0" marL="0">
              <a:buNone/>
            </a:pPr>
            <a:r>
              <a:rPr lang="en-US" sz="1200" dirty="0">
                <a:solidFill>
                  <a:schemeClr val="tx2"/>
                </a:solidFill>
              </a:rPr>
              <a:t>guarda</a:t>
            </a:r>
            <a:endParaRPr lang="en-US" sz="1200" dirty="0"/>
          </a:p>
        </p:txBody>
      </p:sp>
      <p:sp>
        <p:nvSpPr>
          <p:cNvPr id="34" name="Shape 32"/>
          <p:cNvSpPr/>
          <p:nvPr/>
        </p:nvSpPr>
        <p:spPr>
          <a:xfrm flipV="1">
            <a:off x="9418320" y="4023360"/>
            <a:ext cx="914" cy="274320"/>
          </a:xfrm>
          <a:prstGeom prst="line">
            <a:avLst/>
          </a:prstGeom>
          <a:noFill/>
          <a:ln w="25400">
            <a:solidFill>
              <a:schemeClr val="tx1"/>
            </a:solidFill>
            <a:prstDash val="solid"/>
            <a:tailEnd type="triangle"/>
          </a:ln>
        </p:spPr>
      </p:sp>
      <p:sp>
        <p:nvSpPr>
          <p:cNvPr id="35" name="Text 33"/>
          <p:cNvSpPr txBox="1"/>
          <p:nvPr/>
        </p:nvSpPr>
        <p:spPr>
          <a:xfrm>
            <a:off x="9555480" y="4041648"/>
            <a:ext cx="914400" cy="274320"/>
          </a:xfrm>
          <a:prstGeom prst="rect">
            <a:avLst/>
          </a:prstGeom>
          <a:noFill/>
          <a:ln/>
        </p:spPr>
        <p:txBody>
          <a:bodyPr wrap="square" lIns="0" tIns="0" rIns="0" bIns="0" rtlCol="0" anchor="t"/>
          <a:lstStyle/>
          <a:p>
            <a:pPr indent="0" marL="0">
              <a:buNone/>
            </a:pPr>
            <a:r>
              <a:rPr lang="en-US" sz="1200" dirty="0">
                <a:solidFill>
                  <a:schemeClr val="tx2"/>
                </a:solidFill>
              </a:rPr>
              <a:t>crea</a:t>
            </a:r>
            <a:endParaRPr lang="en-US" sz="1200" dirty="0"/>
          </a:p>
        </p:txBody>
      </p:sp>
      <p:sp>
        <p:nvSpPr>
          <p:cNvPr id="36" name="Shape 34"/>
          <p:cNvSpPr/>
          <p:nvPr/>
        </p:nvSpPr>
        <p:spPr>
          <a:xfrm>
            <a:off x="7086600" y="2514600"/>
            <a:ext cx="914" cy="2286000"/>
          </a:xfrm>
          <a:prstGeom prst="line">
            <a:avLst/>
          </a:prstGeom>
          <a:noFill/>
          <a:ln w="25400">
            <a:solidFill>
              <a:schemeClr val="tx1"/>
            </a:solidFill>
            <a:prstDash val="solid"/>
          </a:ln>
        </p:spPr>
      </p:sp>
      <p:sp>
        <p:nvSpPr>
          <p:cNvPr id="37" name="Shape 35"/>
          <p:cNvSpPr/>
          <p:nvPr/>
        </p:nvSpPr>
        <p:spPr>
          <a:xfrm>
            <a:off x="7086600" y="4800600"/>
            <a:ext cx="365760" cy="914"/>
          </a:xfrm>
          <a:prstGeom prst="line">
            <a:avLst/>
          </a:prstGeom>
          <a:noFill/>
          <a:ln w="25400">
            <a:solidFill>
              <a:schemeClr val="tx1"/>
            </a:solidFill>
            <a:prstDash val="solid"/>
          </a:ln>
        </p:spPr>
      </p:sp>
      <p:sp>
        <p:nvSpPr>
          <p:cNvPr id="38" name="Shape 36"/>
          <p:cNvSpPr/>
          <p:nvPr/>
        </p:nvSpPr>
        <p:spPr>
          <a:xfrm>
            <a:off x="7086600" y="2514600"/>
            <a:ext cx="365760" cy="914"/>
          </a:xfrm>
          <a:prstGeom prst="line">
            <a:avLst/>
          </a:prstGeom>
          <a:noFill/>
          <a:ln w="25400">
            <a:solidFill>
              <a:schemeClr val="tx1"/>
            </a:solidFill>
            <a:prstDash val="solid"/>
            <a:tailEnd type="triangle"/>
          </a:ln>
        </p:spPr>
      </p:sp>
      <p:sp>
        <p:nvSpPr>
          <p:cNvPr id="39" name="Text 37"/>
          <p:cNvSpPr txBox="1"/>
          <p:nvPr/>
        </p:nvSpPr>
        <p:spPr>
          <a:xfrm>
            <a:off x="6720840" y="3566160"/>
            <a:ext cx="365760" cy="274320"/>
          </a:xfrm>
          <a:prstGeom prst="rect">
            <a:avLst/>
          </a:prstGeom>
          <a:noFill/>
          <a:ln/>
        </p:spPr>
        <p:txBody>
          <a:bodyPr wrap="square" lIns="0" tIns="0" rIns="0" bIns="0" rtlCol="0" anchor="t"/>
          <a:lstStyle/>
          <a:p>
            <a:pPr indent="0" marL="0">
              <a:buNone/>
            </a:pPr>
            <a:r>
              <a:rPr lang="en-US" sz="1200" dirty="0">
                <a:solidFill>
                  <a:schemeClr val="tx2"/>
                </a:solidFill>
              </a:rPr>
              <a:t>usa</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1463040"/>
            <a:ext cx="2743200" cy="8229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02</a:t>
            </a:r>
            <a:endParaRPr lang="en-US" sz="5400" dirty="0"/>
          </a:p>
        </p:txBody>
      </p:sp>
      <p:sp>
        <p:nvSpPr>
          <p:cNvPr id="3" name="Text 0"/>
          <p:cNvSpPr/>
          <p:nvPr>
            <p:ph idx="100" type="title" hasCustomPrompt="1"/>
          </p:nvPr>
        </p:nvSpPr>
        <p:spPr>
          <a:xfrm>
            <a:off x="731520" y="2377440"/>
            <a:ext cx="82296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Especificación del TDA</a:t>
            </a:r>
            <a:endParaRPr lang="en-US" sz="4000" dirty="0"/>
          </a:p>
        </p:txBody>
      </p:sp>
      <p:sp>
        <p:nvSpPr>
          <p:cNvPr id="4" name="Text 0"/>
          <p:cNvSpPr/>
          <p:nvPr>
            <p:ph idx="101" type="body" hasCustomPrompt="1"/>
          </p:nvPr>
        </p:nvSpPr>
        <p:spPr>
          <a:xfrm>
            <a:off x="731520" y="3520440"/>
            <a:ext cx="8229600" cy="822960"/>
          </a:xfrm>
          <a:prstGeom prst="rect">
            <a:avLst/>
          </a:prstGeom>
          <a:noFill/>
          <a:ln/>
        </p:spPr>
        <p:txBody>
          <a:bodyPr wrap="square" lIns="0" tIns="0" rIns="0" bIns="0" rtlCol="0" anchor="t"/>
          <a:lstStyle/>
          <a:p>
            <a:pPr indent="0" marL="0">
              <a:buNone/>
            </a:pPr>
            <a:r>
              <a:rPr lang="en-US" sz="2000" dirty="0">
                <a:solidFill>
                  <a:schemeClr val="accent1"/>
                </a:solidFill>
              </a:rPr>
              <a:t>El contrato: qué hace cada operación y bajo qué condiciones</a:t>
            </a:r>
            <a:endParaRPr lang="en-US" sz="2000" dirty="0"/>
          </a:p>
        </p:txBody>
      </p:sp>
      <p:sp>
        <p:nvSpPr>
          <p:cNvPr id="5" name="Shape 3"/>
          <p:cNvSpPr/>
          <p:nvPr/>
        </p:nvSpPr>
        <p:spPr>
          <a:xfrm>
            <a:off x="9052560" y="2011680"/>
            <a:ext cx="2194560" cy="2194560"/>
          </a:xfrm>
          <a:prstGeom prst="ellipse">
            <a:avLst/>
          </a:prstGeom>
          <a:solidFill>
            <a:schemeClr val="accent6"/>
          </a:solidFill>
          <a:ln w="12700">
            <a:solidFill>
              <a:schemeClr val="accent6"/>
            </a:solidFill>
            <a:prstDash val="solid"/>
          </a:ln>
        </p:spPr>
      </p:sp>
      <p:pic>
        <p:nvPicPr>
          <p:cNvPr id="6" name="Image 0" descr="torre blanco">    </p:cNvPr>
          <p:cNvPicPr>
            <a:picLocks noChangeAspect="1"/>
          </p:cNvPicPr>
          <p:nvPr/>
        </p:nvPicPr>
        <p:blipFill>
          <a:blip r:embed="rId1"/>
          <a:stretch>
            <a:fillRect/>
          </a:stretch>
        </p:blipFill>
        <p:spPr>
          <a:xfrm>
            <a:off x="9447581" y="2406701"/>
            <a:ext cx="1404518" cy="1404518"/>
          </a:xfrm>
          <a:prstGeom prst="rect">
            <a:avLst/>
          </a:prstGeom>
        </p:spPr>
      </p:pic>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TADLista&lt;T&gt;: la interfaz</a:t>
            </a:r>
            <a:endParaRPr lang="en-US" sz="3200" dirty="0"/>
          </a:p>
        </p:txBody>
      </p:sp>
      <p:sp>
        <p:nvSpPr>
          <p:cNvPr id="3" name="bloque de código"/>
          <p:cNvSpPr/>
          <p:nvPr/>
        </p:nvSpPr>
        <p:spPr>
          <a:xfrm>
            <a:off x="548640" y="1280160"/>
            <a:ext cx="6126480" cy="4617720"/>
          </a:xfrm>
          <a:prstGeom prst="roundRect">
            <a:avLst>
              <a:gd name="adj" fmla="val 1188"/>
            </a:avLst>
          </a:prstGeom>
          <a:solidFill>
            <a:schemeClr val="tx2"/>
          </a:solidFill>
          <a:ln w="12700">
            <a:solidFill>
              <a:schemeClr val="tx2"/>
            </a:solidFill>
            <a:prstDash val="solid"/>
          </a:ln>
        </p:spPr>
      </p:sp>
      <p:sp>
        <p:nvSpPr>
          <p:cNvPr id="4" name="Text 2"/>
          <p:cNvSpPr txBox="1"/>
          <p:nvPr/>
        </p:nvSpPr>
        <p:spPr>
          <a:xfrm>
            <a:off x="749808" y="1444752"/>
            <a:ext cx="5760720" cy="434340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public interface TADLista&lt;T&gt; extends Iterable&lt;T&gt;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1"/>
                </a:solidFill>
                <a:latin typeface="Courier New" pitchFamily="34" charset="0"/>
                <a:ea typeface="Courier New" pitchFamily="34" charset="-122"/>
                <a:cs typeface="Courier New" pitchFamily="34" charset="-120"/>
              </a:rPr>
              <a:t>// Crear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void insertarAlInicio(T dato);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void insertarAlFinal(T dato);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void insertarEn(int indice, T dato);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1"/>
                </a:solidFill>
                <a:latin typeface="Courier New" pitchFamily="34" charset="0"/>
                <a:ea typeface="Courier New" pitchFamily="34" charset="-122"/>
                <a:cs typeface="Courier New" pitchFamily="34" charset="-120"/>
              </a:rPr>
              <a:t>// Consultar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 obtenerPrimero();   T obtenerUltimo();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 obtener(int indice);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int indiceDe(T dato); boolean contiene(T dato);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int tamanio();        boolean estaVacia();</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1"/>
                </a:solidFill>
                <a:latin typeface="Courier New" pitchFamily="34" charset="0"/>
                <a:ea typeface="Courier New" pitchFamily="34" charset="-122"/>
                <a:cs typeface="Courier New" pitchFamily="34" charset="-120"/>
              </a:rPr>
              <a:t>// Editar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 modificar(int indice, T dato);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 modificarUltimo(T dato);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1"/>
                </a:solidFill>
                <a:latin typeface="Courier New" pitchFamily="34" charset="0"/>
                <a:ea typeface="Courier New" pitchFamily="34" charset="-122"/>
                <a:cs typeface="Courier New" pitchFamily="34" charset="-120"/>
              </a:rPr>
              <a:t>// Eliminar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 eliminarPrimero();  T eliminarUltimo();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 eliminarEn(int indice);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boolean eliminar(T dato);   void vaciar();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1"/>
                </a:solidFill>
                <a:latin typeface="Courier New" pitchFamily="34" charset="0"/>
                <a:ea typeface="Courier New" pitchFamily="34" charset="-122"/>
                <a:cs typeface="Courier New" pitchFamily="34" charset="-120"/>
              </a:rPr>
              <a:t>// Recorrer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Iterator&lt;T&gt; iterator();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Iterator&lt;T&gt; iteradorInverso();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5" name="Shape 3"/>
          <p:cNvSpPr/>
          <p:nvPr/>
        </p:nvSpPr>
        <p:spPr>
          <a:xfrm>
            <a:off x="6949440" y="1280160"/>
            <a:ext cx="466344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7178040" y="1444752"/>
            <a:ext cx="4206240" cy="365760"/>
          </a:xfrm>
          <a:prstGeom prst="rect">
            <a:avLst/>
          </a:prstGeom>
          <a:noFill/>
          <a:ln/>
        </p:spPr>
        <p:txBody>
          <a:bodyPr wrap="square" lIns="0" tIns="0" rIns="0" bIns="0" rtlCol="0" anchor="t"/>
          <a:lstStyle/>
          <a:p>
            <a:pPr indent="0" marL="0">
              <a:buNone/>
            </a:pPr>
            <a:r>
              <a:rPr lang="en-US" sz="1700" b="1" dirty="0">
                <a:solidFill>
                  <a:schemeClr val="tx1"/>
                </a:solidFill>
              </a:rPr>
              <a:t>Genérica</a:t>
            </a:r>
            <a:endParaRPr lang="en-US" sz="1700" dirty="0"/>
          </a:p>
        </p:txBody>
      </p:sp>
      <p:sp>
        <p:nvSpPr>
          <p:cNvPr id="7" name="Text 5"/>
          <p:cNvSpPr txBox="1"/>
          <p:nvPr/>
        </p:nvSpPr>
        <p:spPr>
          <a:xfrm>
            <a:off x="7178040" y="1847088"/>
            <a:ext cx="4206240" cy="365760"/>
          </a:xfrm>
          <a:prstGeom prst="rect">
            <a:avLst/>
          </a:prstGeom>
          <a:noFill/>
          <a:ln/>
        </p:spPr>
        <p:txBody>
          <a:bodyPr wrap="square" lIns="0" tIns="0" rIns="0" bIns="0" rtlCol="0" anchor="t"/>
          <a:lstStyle/>
          <a:p>
            <a:pPr indent="0" marL="0">
              <a:buNone/>
            </a:pPr>
            <a:r>
              <a:rPr lang="en-US" sz="1400" dirty="0">
                <a:solidFill>
                  <a:schemeClr val="tx2"/>
                </a:solidFill>
              </a:rPr>
              <a:t>TADLista&lt;T&gt; sirve para Movimiento, Partida o cualquier tipo.</a:t>
            </a:r>
            <a:endParaRPr lang="en-US" sz="1400" dirty="0"/>
          </a:p>
        </p:txBody>
      </p:sp>
      <p:sp>
        <p:nvSpPr>
          <p:cNvPr id="8" name="Shape 6"/>
          <p:cNvSpPr/>
          <p:nvPr/>
        </p:nvSpPr>
        <p:spPr>
          <a:xfrm>
            <a:off x="6949440" y="2487168"/>
            <a:ext cx="466344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7178040" y="2651760"/>
            <a:ext cx="4206240" cy="365760"/>
          </a:xfrm>
          <a:prstGeom prst="rect">
            <a:avLst/>
          </a:prstGeom>
          <a:noFill/>
          <a:ln/>
        </p:spPr>
        <p:txBody>
          <a:bodyPr wrap="square" lIns="0" tIns="0" rIns="0" bIns="0" rtlCol="0" anchor="t"/>
          <a:lstStyle/>
          <a:p>
            <a:pPr indent="0" marL="0">
              <a:buNone/>
            </a:pPr>
            <a:r>
              <a:rPr lang="en-US" sz="1700" b="1" dirty="0">
                <a:solidFill>
                  <a:schemeClr val="tx1"/>
                </a:solidFill>
              </a:rPr>
              <a:t>Índices</a:t>
            </a:r>
            <a:endParaRPr lang="en-US" sz="1700" dirty="0"/>
          </a:p>
        </p:txBody>
      </p:sp>
      <p:sp>
        <p:nvSpPr>
          <p:cNvPr id="10" name="Text 8"/>
          <p:cNvSpPr txBox="1"/>
          <p:nvPr/>
        </p:nvSpPr>
        <p:spPr>
          <a:xfrm>
            <a:off x="7178040" y="3054096"/>
            <a:ext cx="4206240" cy="365760"/>
          </a:xfrm>
          <a:prstGeom prst="rect">
            <a:avLst/>
          </a:prstGeom>
          <a:noFill/>
          <a:ln/>
        </p:spPr>
        <p:txBody>
          <a:bodyPr wrap="square" lIns="0" tIns="0" rIns="0" bIns="0" rtlCol="0" anchor="t"/>
          <a:lstStyle/>
          <a:p>
            <a:pPr indent="0" marL="0">
              <a:buNone/>
            </a:pPr>
            <a:r>
              <a:rPr lang="en-US" sz="1400" dirty="0">
                <a:solidFill>
                  <a:schemeClr val="tx2"/>
                </a:solidFill>
              </a:rPr>
              <a:t>Posiciones de 0 a tamanio() - 1.</a:t>
            </a:r>
            <a:endParaRPr lang="en-US" sz="1400" dirty="0"/>
          </a:p>
        </p:txBody>
      </p:sp>
      <p:sp>
        <p:nvSpPr>
          <p:cNvPr id="11" name="Shape 9"/>
          <p:cNvSpPr/>
          <p:nvPr/>
        </p:nvSpPr>
        <p:spPr>
          <a:xfrm>
            <a:off x="6949440" y="3694176"/>
            <a:ext cx="466344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7178040" y="3858768"/>
            <a:ext cx="4206240" cy="365760"/>
          </a:xfrm>
          <a:prstGeom prst="rect">
            <a:avLst/>
          </a:prstGeom>
          <a:noFill/>
          <a:ln/>
        </p:spPr>
        <p:txBody>
          <a:bodyPr wrap="square" lIns="0" tIns="0" rIns="0" bIns="0" rtlCol="0" anchor="t"/>
          <a:lstStyle/>
          <a:p>
            <a:pPr indent="0" marL="0">
              <a:buNone/>
            </a:pPr>
            <a:r>
              <a:rPr lang="en-US" sz="1700" b="1" dirty="0">
                <a:solidFill>
                  <a:schemeClr val="tx1"/>
                </a:solidFill>
              </a:rPr>
              <a:t>Sin null</a:t>
            </a:r>
            <a:endParaRPr lang="en-US" sz="1700" dirty="0"/>
          </a:p>
        </p:txBody>
      </p:sp>
      <p:sp>
        <p:nvSpPr>
          <p:cNvPr id="13" name="Text 11"/>
          <p:cNvSpPr txBox="1"/>
          <p:nvPr/>
        </p:nvSpPr>
        <p:spPr>
          <a:xfrm>
            <a:off x="7178040" y="4261104"/>
            <a:ext cx="4206240" cy="365760"/>
          </a:xfrm>
          <a:prstGeom prst="rect">
            <a:avLst/>
          </a:prstGeom>
          <a:noFill/>
          <a:ln/>
        </p:spPr>
        <p:txBody>
          <a:bodyPr wrap="square" lIns="0" tIns="0" rIns="0" bIns="0" rtlCol="0" anchor="t"/>
          <a:lstStyle/>
          <a:p>
            <a:pPr indent="0" marL="0">
              <a:buNone/>
            </a:pPr>
            <a:r>
              <a:rPr lang="en-US" sz="1400" dirty="0">
                <a:solidFill>
                  <a:schemeClr val="tx2"/>
                </a:solidFill>
              </a:rPr>
              <a:t>Los datos null se rechazan con NullPointerException.</a:t>
            </a:r>
            <a:endParaRPr lang="en-US" sz="1400" dirty="0"/>
          </a:p>
        </p:txBody>
      </p:sp>
      <p:sp>
        <p:nvSpPr>
          <p:cNvPr id="14" name="Shape 12"/>
          <p:cNvSpPr/>
          <p:nvPr/>
        </p:nvSpPr>
        <p:spPr>
          <a:xfrm>
            <a:off x="6949440" y="4901184"/>
            <a:ext cx="466344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7178040" y="5065776"/>
            <a:ext cx="4206240" cy="365760"/>
          </a:xfrm>
          <a:prstGeom prst="rect">
            <a:avLst/>
          </a:prstGeom>
          <a:noFill/>
          <a:ln/>
        </p:spPr>
        <p:txBody>
          <a:bodyPr wrap="square" lIns="0" tIns="0" rIns="0" bIns="0" rtlCol="0" anchor="t"/>
          <a:lstStyle/>
          <a:p>
            <a:pPr indent="0" marL="0">
              <a:buNone/>
            </a:pPr>
            <a:r>
              <a:rPr lang="en-US" sz="1700" b="1" dirty="0">
                <a:solidFill>
                  <a:schemeClr val="tx1"/>
                </a:solidFill>
              </a:rPr>
              <a:t>Precondiciones</a:t>
            </a:r>
            <a:endParaRPr lang="en-US" sz="1700" dirty="0"/>
          </a:p>
        </p:txBody>
      </p:sp>
      <p:sp>
        <p:nvSpPr>
          <p:cNvPr id="16" name="Text 14"/>
          <p:cNvSpPr txBox="1"/>
          <p:nvPr/>
        </p:nvSpPr>
        <p:spPr>
          <a:xfrm>
            <a:off x="7178040" y="5468112"/>
            <a:ext cx="4206240" cy="365760"/>
          </a:xfrm>
          <a:prstGeom prst="rect">
            <a:avLst/>
          </a:prstGeom>
          <a:noFill/>
          <a:ln/>
        </p:spPr>
        <p:txBody>
          <a:bodyPr wrap="square" lIns="0" tIns="0" rIns="0" bIns="0" rtlCol="0" anchor="t"/>
          <a:lstStyle/>
          <a:p>
            <a:pPr indent="0" marL="0">
              <a:buNone/>
            </a:pPr>
            <a:r>
              <a:rPr lang="en-US" sz="1400" dirty="0">
                <a:solidFill>
                  <a:schemeClr val="tx2"/>
                </a:solidFill>
              </a:rPr>
              <a:t>Si se violan se lanza excepción y la lista no cambia.</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Contrato: precondiciones, excepciones y costo</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325880"/>
                <a:gridCol w="3200400"/>
                <a:gridCol w="2743200"/>
                <a:gridCol w="2514600"/>
                <a:gridCol w="1280160"/>
              </a:tblGrid>
              <a:tr h="393192">
                <a:tc>
                  <a:txBody>
                    <a:bodyPr/>
                    <a:lstStyle/>
                    <a:p>
                      <a:pPr indent="0" marL="0">
                        <a:buNone/>
                      </a:pPr>
                      <a:r>
                        <a:rPr lang="en-US" sz="1300" b="1" dirty="0">
                          <a:solidFill>
                            <a:schemeClr val="bg1"/>
                          </a:solidFill>
                        </a:rPr>
                        <a:t>Grupo</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Operación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Precondición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Si falla</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Costo</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r>
              <a:tr h="393192">
                <a:tc>
                  <a:txBody>
                    <a:bodyPr/>
                    <a:lstStyle/>
                    <a:p>
                      <a:pPr indent="0" marL="0">
                        <a:buNone/>
                      </a:pPr>
                      <a:r>
                        <a:rPr lang="en-US" sz="1300" dirty="0">
                          <a:solidFill>
                            <a:schemeClr val="tx1"/>
                          </a:solidFill>
                        </a:rPr>
                        <a:t>Crear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insertarAlInicio / AlFinal(d)</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 ≠ null</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NullPointerException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O(1)</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93192">
                <a:tc>
                  <a:txBody>
                    <a:bodyPr/>
                    <a:lstStyle/>
                    <a:p>
                      <a:pPr indent="0" marL="0">
                        <a:buNone/>
                      </a:pPr>
                      <a:r>
                        <a:rPr lang="en-US" sz="1300" dirty="0">
                          <a:solidFill>
                            <a:schemeClr val="tx1"/>
                          </a:solidFill>
                        </a:rPr>
                        <a:t>Crear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insertarEn(i, d)</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 i ≤ 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IndexOutOfBounds</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93192">
                <a:tc>
                  <a:txBody>
                    <a:bodyPr/>
                    <a:lstStyle/>
                    <a:p>
                      <a:pPr indent="0" marL="0">
                        <a:buNone/>
                      </a:pPr>
                      <a:r>
                        <a:rPr lang="en-US" sz="1300" dirty="0">
                          <a:solidFill>
                            <a:schemeClr val="tx1"/>
                          </a:solidFill>
                        </a:rPr>
                        <a:t>Consultar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obtenerPrimero / Ultimo()</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lista no vacía</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NoSuchElement</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O(1)</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93192">
                <a:tc>
                  <a:txBody>
                    <a:bodyPr/>
                    <a:lstStyle/>
                    <a:p>
                      <a:pPr indent="0" marL="0">
                        <a:buNone/>
                      </a:pPr>
                      <a:r>
                        <a:rPr lang="en-US" sz="1300" dirty="0">
                          <a:solidFill>
                            <a:schemeClr val="tx1"/>
                          </a:solidFill>
                        </a:rPr>
                        <a:t>Consultar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obtener(i)</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 i &lt; 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IndexOutOfBounds</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O(n/2)</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93192">
                <a:tc>
                  <a:txBody>
                    <a:bodyPr/>
                    <a:lstStyle/>
                    <a:p>
                      <a:pPr indent="0" marL="0">
                        <a:buNone/>
                      </a:pPr>
                      <a:r>
                        <a:rPr lang="en-US" sz="1300" dirty="0">
                          <a:solidFill>
                            <a:schemeClr val="tx1"/>
                          </a:solidFill>
                        </a:rPr>
                        <a:t>Consultar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indiceDe(d) / contiene(d)</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93192">
                <a:tc>
                  <a:txBody>
                    <a:bodyPr/>
                    <a:lstStyle/>
                    <a:p>
                      <a:pPr indent="0" marL="0">
                        <a:buNone/>
                      </a:pPr>
                      <a:r>
                        <a:rPr lang="en-US" sz="1300" dirty="0">
                          <a:solidFill>
                            <a:schemeClr val="tx1"/>
                          </a:solidFill>
                        </a:rPr>
                        <a:t>Editar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modificar(i, d)</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 i &lt; n, d ≠ null</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IndexOutOfBounds</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O(n/2)</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93192">
                <a:tc>
                  <a:txBody>
                    <a:bodyPr/>
                    <a:lstStyle/>
                    <a:p>
                      <a:pPr indent="0" marL="0">
                        <a:buNone/>
                      </a:pPr>
                      <a:r>
                        <a:rPr lang="en-US" sz="1300" dirty="0">
                          <a:solidFill>
                            <a:schemeClr val="tx1"/>
                          </a:solidFill>
                        </a:rPr>
                        <a:t>Editar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modificarUltimo(d)</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 vacía, d ≠ null</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NoSuchElement</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O(1)</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93192">
                <a:tc>
                  <a:txBody>
                    <a:bodyPr/>
                    <a:lstStyle/>
                    <a:p>
                      <a:pPr indent="0" marL="0">
                        <a:buNone/>
                      </a:pPr>
                      <a:r>
                        <a:rPr lang="en-US" sz="1300" dirty="0">
                          <a:solidFill>
                            <a:schemeClr val="tx1"/>
                          </a:solidFill>
                        </a:rPr>
                        <a:t>Eliminar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eliminarPrimero / Ultimo()</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lista no vacía</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NoSuchElement</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O(1)</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93192">
                <a:tc>
                  <a:txBody>
                    <a:bodyPr/>
                    <a:lstStyle/>
                    <a:p>
                      <a:pPr indent="0" marL="0">
                        <a:buNone/>
                      </a:pPr>
                      <a:r>
                        <a:rPr lang="en-US" sz="1300" dirty="0">
                          <a:solidFill>
                            <a:schemeClr val="tx1"/>
                          </a:solidFill>
                        </a:rPr>
                        <a:t>Eliminar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eliminarEn(i) / eliminar(d)</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 i &lt; n / —</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IndexOutOfBounds</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93192">
                <a:tc>
                  <a:txBody>
                    <a:bodyPr/>
                    <a:lstStyle/>
                    <a:p>
                      <a:pPr indent="0" marL="0">
                        <a:buNone/>
                      </a:pPr>
                      <a:r>
                        <a:rPr lang="en-US" sz="1300" dirty="0">
                          <a:solidFill>
                            <a:schemeClr val="tx1"/>
                          </a:solidFill>
                        </a:rPr>
                        <a:t>Recorrer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iterator / iteradorInverso</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sin cambios durante el recorrido</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ConcurrentModification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O(1)/paso</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bl>
          </a:graphicData>
        </a:graphic>
      </p:graphicFrame>
      <p:sp>
        <p:nvSpPr>
          <p:cNvPr id="4" name="Shape 1"/>
          <p:cNvSpPr/>
          <p:nvPr/>
        </p:nvSpPr>
        <p:spPr>
          <a:xfrm>
            <a:off x="548640" y="5815584"/>
            <a:ext cx="11064240" cy="457200"/>
          </a:xfrm>
          <a:prstGeom prst="roundRect">
            <a:avLst>
              <a:gd name="adj" fmla="val 16000"/>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731520" y="5815584"/>
            <a:ext cx="10789920" cy="457200"/>
          </a:xfrm>
          <a:prstGeom prst="rect">
            <a:avLst/>
          </a:prstGeom>
          <a:noFill/>
          <a:ln/>
        </p:spPr>
        <p:txBody>
          <a:bodyPr wrap="square" lIns="0" tIns="0" rIns="0" bIns="0" rtlCol="0" anchor="ctr"/>
          <a:lstStyle/>
          <a:p>
            <a:pPr indent="0" marL="0">
              <a:buNone/>
            </a:pPr>
            <a:r>
              <a:rPr lang="en-US" sz="1400" b="1" dirty="0">
                <a:solidFill>
                  <a:schemeClr val="tx1"/>
                </a:solidFill>
              </a:rPr>
              <a:t>¿Por qué excepciones y no null? Una precondición rota es un error de programación: se detecta en el punto exacto donde ocurre.</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1463040"/>
            <a:ext cx="2743200" cy="8229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03</a:t>
            </a:r>
            <a:endParaRPr lang="en-US" sz="5400" dirty="0"/>
          </a:p>
        </p:txBody>
      </p:sp>
      <p:sp>
        <p:nvSpPr>
          <p:cNvPr id="3" name="Text 0"/>
          <p:cNvSpPr/>
          <p:nvPr>
            <p:ph idx="100" type="title" hasCustomPrompt="1"/>
          </p:nvPr>
        </p:nvSpPr>
        <p:spPr>
          <a:xfrm>
            <a:off x="731520" y="2377440"/>
            <a:ext cx="82296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Implementación</a:t>
            </a:r>
            <a:endParaRPr lang="en-US" sz="4000" dirty="0"/>
          </a:p>
        </p:txBody>
      </p:sp>
      <p:sp>
        <p:nvSpPr>
          <p:cNvPr id="4" name="Text 0"/>
          <p:cNvSpPr/>
          <p:nvPr>
            <p:ph idx="101" type="body" hasCustomPrompt="1"/>
          </p:nvPr>
        </p:nvSpPr>
        <p:spPr>
          <a:xfrm>
            <a:off x="731520" y="3520440"/>
            <a:ext cx="8229600" cy="822960"/>
          </a:xfrm>
          <a:prstGeom prst="rect">
            <a:avLst/>
          </a:prstGeom>
          <a:noFill/>
          <a:ln/>
        </p:spPr>
        <p:txBody>
          <a:bodyPr wrap="square" lIns="0" tIns="0" rIns="0" bIns="0" rtlCol="0" anchor="t"/>
          <a:lstStyle/>
          <a:p>
            <a:pPr indent="0" marL="0">
              <a:buNone/>
            </a:pPr>
            <a:r>
              <a:rPr lang="en-US" sz="2000" dirty="0">
                <a:solidFill>
                  <a:schemeClr val="accent1"/>
                </a:solidFill>
              </a:rPr>
              <a:t>Lógica de punteros: crear, consultar, editar, eliminar y recorrer</a:t>
            </a:r>
            <a:endParaRPr lang="en-US" sz="2000" dirty="0"/>
          </a:p>
        </p:txBody>
      </p:sp>
      <p:sp>
        <p:nvSpPr>
          <p:cNvPr id="5" name="Shape 3"/>
          <p:cNvSpPr/>
          <p:nvPr/>
        </p:nvSpPr>
        <p:spPr>
          <a:xfrm>
            <a:off x="9052560" y="2011680"/>
            <a:ext cx="2194560" cy="2194560"/>
          </a:xfrm>
          <a:prstGeom prst="ellipse">
            <a:avLst/>
          </a:prstGeom>
          <a:solidFill>
            <a:schemeClr val="accent6"/>
          </a:solidFill>
          <a:ln w="12700">
            <a:solidFill>
              <a:schemeClr val="accent6"/>
            </a:solidFill>
            <a:prstDash val="solid"/>
          </a:ln>
        </p:spPr>
      </p:sp>
      <p:pic>
        <p:nvPicPr>
          <p:cNvPr id="6" name="Image 0" descr="caballo blanco">    </p:cNvPr>
          <p:cNvPicPr>
            <a:picLocks noChangeAspect="1"/>
          </p:cNvPicPr>
          <p:nvPr/>
        </p:nvPicPr>
        <p:blipFill>
          <a:blip r:embed="rId1"/>
          <a:stretch>
            <a:fillRect/>
          </a:stretch>
        </p:blipFill>
        <p:spPr>
          <a:xfrm>
            <a:off x="9447581" y="2406701"/>
            <a:ext cx="1404518" cy="1404518"/>
          </a:xfrm>
          <a:prstGeom prst="rect">
            <a:avLst/>
          </a:prstGeom>
        </p:spPr>
      </p:pic>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Representación interna e invariantes</a:t>
            </a:r>
            <a:endParaRPr lang="en-US" sz="3200" dirty="0"/>
          </a:p>
        </p:txBody>
      </p:sp>
      <p:sp>
        <p:nvSpPr>
          <p:cNvPr id="3" name="bloque de código"/>
          <p:cNvSpPr/>
          <p:nvPr/>
        </p:nvSpPr>
        <p:spPr>
          <a:xfrm>
            <a:off x="548640" y="1280160"/>
            <a:ext cx="5669280" cy="3657600"/>
          </a:xfrm>
          <a:prstGeom prst="roundRect">
            <a:avLst>
              <a:gd name="adj" fmla="val 1500"/>
            </a:avLst>
          </a:prstGeom>
          <a:solidFill>
            <a:schemeClr val="tx2"/>
          </a:solidFill>
          <a:ln w="12700">
            <a:solidFill>
              <a:schemeClr val="tx2"/>
            </a:solidFill>
            <a:prstDash val="solid"/>
          </a:ln>
        </p:spPr>
      </p:sp>
      <p:sp>
        <p:nvSpPr>
          <p:cNvPr id="4" name="Text 2"/>
          <p:cNvSpPr txBox="1"/>
          <p:nvPr/>
        </p:nvSpPr>
        <p:spPr>
          <a:xfrm>
            <a:off x="749808" y="1444752"/>
            <a:ext cx="5303520" cy="338328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public class ListaDoblementeEnlazada&lt;T&gt;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implements TADLista&lt;T&gt;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private static final class Nodo&lt;T&gt;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private T dato;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private Nodo&lt;T&gt; anterior;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private Nodo&lt;T&gt; siguiente;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private Nodo(T dato, Nodo&lt;T&gt; anterior,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Nodo&lt;T&gt; siguiente) { ...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private Nodo&lt;T&gt; cabeza;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private Nodo&lt;T&gt; cola;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private int tamanio;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private int modificaciones; </a:t>
            </a:r>
            <a:pPr indent="0" marL="0">
              <a:buNone/>
            </a:pPr>
            <a:r>
              <a:rPr lang="en-US" sz="1400" dirty="0">
                <a:solidFill>
                  <a:schemeClr val="accent1"/>
                </a:solidFill>
                <a:latin typeface="Courier New" pitchFamily="34" charset="0"/>
                <a:ea typeface="Courier New" pitchFamily="34" charset="-122"/>
                <a:cs typeface="Courier New" pitchFamily="34" charset="-120"/>
              </a:rPr>
              <a:t>// fail-fast</a:t>
            </a:r>
            <a:endParaRPr lang="en-US" sz="1400" dirty="0"/>
          </a:p>
        </p:txBody>
      </p:sp>
      <p:sp>
        <p:nvSpPr>
          <p:cNvPr id="5" name="Text 3"/>
          <p:cNvSpPr txBox="1"/>
          <p:nvPr/>
        </p:nvSpPr>
        <p:spPr>
          <a:xfrm>
            <a:off x="6492240" y="1280160"/>
            <a:ext cx="5120640" cy="365760"/>
          </a:xfrm>
          <a:prstGeom prst="rect">
            <a:avLst/>
          </a:prstGeom>
          <a:noFill/>
          <a:ln/>
        </p:spPr>
        <p:txBody>
          <a:bodyPr wrap="square" lIns="0" tIns="0" rIns="0" bIns="0" rtlCol="0" anchor="t"/>
          <a:lstStyle/>
          <a:p>
            <a:pPr indent="0" marL="0">
              <a:buNone/>
            </a:pPr>
            <a:r>
              <a:rPr lang="en-US" sz="1800" b="1" dirty="0">
                <a:solidFill>
                  <a:schemeClr val="tx1"/>
                </a:solidFill>
              </a:rPr>
              <a:t>Invariantes de representación</a:t>
            </a:r>
            <a:endParaRPr lang="en-US" sz="1800" dirty="0"/>
          </a:p>
        </p:txBody>
      </p:sp>
      <p:sp>
        <p:nvSpPr>
          <p:cNvPr id="6" name="Shape 4"/>
          <p:cNvSpPr/>
          <p:nvPr/>
        </p:nvSpPr>
        <p:spPr>
          <a:xfrm>
            <a:off x="6492240" y="1783080"/>
            <a:ext cx="5120640" cy="731520"/>
          </a:xfrm>
          <a:prstGeom prst="roundRect">
            <a:avLst>
              <a:gd name="adj" fmla="val 10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6656832" y="1938528"/>
            <a:ext cx="420624" cy="420624"/>
          </a:xfrm>
          <a:prstGeom prst="ellipse">
            <a:avLst/>
          </a:prstGeom>
          <a:solidFill>
            <a:schemeClr val="accent2"/>
          </a:solidFill>
          <a:ln w="12700">
            <a:solidFill>
              <a:schemeClr val="accent2"/>
            </a:solidFill>
            <a:prstDash val="solid"/>
          </a:ln>
        </p:spPr>
      </p:sp>
      <p:sp>
        <p:nvSpPr>
          <p:cNvPr id="8" name="Text 6"/>
          <p:cNvSpPr txBox="1"/>
          <p:nvPr/>
        </p:nvSpPr>
        <p:spPr>
          <a:xfrm>
            <a:off x="6656832" y="193852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7223760" y="1783080"/>
            <a:ext cx="4297680" cy="731520"/>
          </a:xfrm>
          <a:prstGeom prst="rect">
            <a:avLst/>
          </a:prstGeom>
          <a:noFill/>
          <a:ln/>
        </p:spPr>
        <p:txBody>
          <a:bodyPr wrap="square" lIns="0" tIns="0" rIns="0" bIns="0" rtlCol="0" anchor="ctr"/>
          <a:lstStyle/>
          <a:p>
            <a:pPr indent="0" marL="0">
              <a:buNone/>
            </a:pPr>
            <a:r>
              <a:rPr lang="en-US" sz="1400" dirty="0">
                <a:solidFill>
                  <a:schemeClr val="tx1"/>
                </a:solidFill>
              </a:rPr>
              <a:t>Vacía ⇔ cabeza == null ⇔ cola == null ⇔ tamanio == 0</a:t>
            </a:r>
            <a:endParaRPr lang="en-US" sz="1400" dirty="0"/>
          </a:p>
        </p:txBody>
      </p:sp>
      <p:sp>
        <p:nvSpPr>
          <p:cNvPr id="10" name="Shape 8"/>
          <p:cNvSpPr/>
          <p:nvPr/>
        </p:nvSpPr>
        <p:spPr>
          <a:xfrm>
            <a:off x="6492240" y="2651760"/>
            <a:ext cx="5120640" cy="731520"/>
          </a:xfrm>
          <a:prstGeom prst="roundRect">
            <a:avLst>
              <a:gd name="adj" fmla="val 10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6656832" y="2807208"/>
            <a:ext cx="420624" cy="420624"/>
          </a:xfrm>
          <a:prstGeom prst="ellipse">
            <a:avLst/>
          </a:prstGeom>
          <a:solidFill>
            <a:schemeClr val="accent2"/>
          </a:solidFill>
          <a:ln w="12700">
            <a:solidFill>
              <a:schemeClr val="accent2"/>
            </a:solidFill>
            <a:prstDash val="solid"/>
          </a:ln>
        </p:spPr>
      </p:sp>
      <p:sp>
        <p:nvSpPr>
          <p:cNvPr id="12" name="Text 10"/>
          <p:cNvSpPr txBox="1"/>
          <p:nvPr/>
        </p:nvSpPr>
        <p:spPr>
          <a:xfrm>
            <a:off x="6656832" y="280720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7223760" y="2651760"/>
            <a:ext cx="4297680" cy="731520"/>
          </a:xfrm>
          <a:prstGeom prst="rect">
            <a:avLst/>
          </a:prstGeom>
          <a:noFill/>
          <a:ln/>
        </p:spPr>
        <p:txBody>
          <a:bodyPr wrap="square" lIns="0" tIns="0" rIns="0" bIns="0" rtlCol="0" anchor="ctr"/>
          <a:lstStyle/>
          <a:p>
            <a:pPr indent="0" marL="0">
              <a:buNone/>
            </a:pPr>
            <a:r>
              <a:rPr lang="en-US" sz="1400" dirty="0">
                <a:solidFill>
                  <a:schemeClr val="tx1"/>
                </a:solidFill>
              </a:rPr>
              <a:t>cabeza.anterior == null  y  cola.siguiente == null</a:t>
            </a:r>
            <a:endParaRPr lang="en-US" sz="1400" dirty="0"/>
          </a:p>
        </p:txBody>
      </p:sp>
      <p:sp>
        <p:nvSpPr>
          <p:cNvPr id="14" name="Shape 12"/>
          <p:cNvSpPr/>
          <p:nvPr/>
        </p:nvSpPr>
        <p:spPr>
          <a:xfrm>
            <a:off x="6492240" y="3520440"/>
            <a:ext cx="5120640" cy="731520"/>
          </a:xfrm>
          <a:prstGeom prst="roundRect">
            <a:avLst>
              <a:gd name="adj" fmla="val 10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6656832" y="3675888"/>
            <a:ext cx="420624" cy="420624"/>
          </a:xfrm>
          <a:prstGeom prst="ellipse">
            <a:avLst/>
          </a:prstGeom>
          <a:solidFill>
            <a:schemeClr val="accent2"/>
          </a:solidFill>
          <a:ln w="12700">
            <a:solidFill>
              <a:schemeClr val="accent2"/>
            </a:solidFill>
            <a:prstDash val="solid"/>
          </a:ln>
        </p:spPr>
      </p:sp>
      <p:sp>
        <p:nvSpPr>
          <p:cNvPr id="16" name="Text 14"/>
          <p:cNvSpPr txBox="1"/>
          <p:nvPr/>
        </p:nvSpPr>
        <p:spPr>
          <a:xfrm>
            <a:off x="6656832" y="367588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7223760" y="3520440"/>
            <a:ext cx="4297680" cy="731520"/>
          </a:xfrm>
          <a:prstGeom prst="rect">
            <a:avLst/>
          </a:prstGeom>
          <a:noFill/>
          <a:ln/>
        </p:spPr>
        <p:txBody>
          <a:bodyPr wrap="square" lIns="0" tIns="0" rIns="0" bIns="0" rtlCol="0" anchor="ctr"/>
          <a:lstStyle/>
          <a:p>
            <a:pPr indent="0" marL="0">
              <a:buNone/>
            </a:pPr>
            <a:r>
              <a:rPr lang="en-US" sz="1400" dirty="0">
                <a:solidFill>
                  <a:schemeClr val="tx1"/>
                </a:solidFill>
              </a:rPr>
              <a:t>n.siguiente.anterior == n  para todo nodo n</a:t>
            </a:r>
            <a:endParaRPr lang="en-US" sz="1400" dirty="0"/>
          </a:p>
        </p:txBody>
      </p:sp>
      <p:sp>
        <p:nvSpPr>
          <p:cNvPr id="18" name="Shape 16"/>
          <p:cNvSpPr/>
          <p:nvPr/>
        </p:nvSpPr>
        <p:spPr>
          <a:xfrm>
            <a:off x="6492240" y="4389120"/>
            <a:ext cx="5120640" cy="731520"/>
          </a:xfrm>
          <a:prstGeom prst="roundRect">
            <a:avLst>
              <a:gd name="adj" fmla="val 10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6656832" y="4544568"/>
            <a:ext cx="420624" cy="420624"/>
          </a:xfrm>
          <a:prstGeom prst="ellipse">
            <a:avLst/>
          </a:prstGeom>
          <a:solidFill>
            <a:schemeClr val="accent2"/>
          </a:solidFill>
          <a:ln w="12700">
            <a:solidFill>
              <a:schemeClr val="accent2"/>
            </a:solidFill>
            <a:prstDash val="solid"/>
          </a:ln>
        </p:spPr>
      </p:sp>
      <p:sp>
        <p:nvSpPr>
          <p:cNvPr id="20" name="Text 18"/>
          <p:cNvSpPr txBox="1"/>
          <p:nvPr/>
        </p:nvSpPr>
        <p:spPr>
          <a:xfrm>
            <a:off x="6656832" y="45445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7223760" y="4389120"/>
            <a:ext cx="4297680" cy="731520"/>
          </a:xfrm>
          <a:prstGeom prst="rect">
            <a:avLst/>
          </a:prstGeom>
          <a:noFill/>
          <a:ln/>
        </p:spPr>
        <p:txBody>
          <a:bodyPr wrap="square" lIns="0" tIns="0" rIns="0" bIns="0" rtlCol="0" anchor="ctr"/>
          <a:lstStyle/>
          <a:p>
            <a:pPr indent="0" marL="0">
              <a:buNone/>
            </a:pPr>
            <a:r>
              <a:rPr lang="en-US" sz="1400" dirty="0">
                <a:solidFill>
                  <a:schemeClr val="tx1"/>
                </a:solidFill>
              </a:rPr>
              <a:t>Desde cabeza se visitan tamanio nodos y se termina en cola</a:t>
            </a:r>
            <a:endParaRPr lang="en-US" sz="1400" dirty="0"/>
          </a:p>
        </p:txBody>
      </p:sp>
      <p:sp>
        <p:nvSpPr>
          <p:cNvPr id="22" name="Text 20"/>
          <p:cNvSpPr txBox="1"/>
          <p:nvPr/>
        </p:nvSpPr>
        <p:spPr>
          <a:xfrm>
            <a:off x="6492240" y="5349240"/>
            <a:ext cx="5120640" cy="777240"/>
          </a:xfrm>
          <a:prstGeom prst="rect">
            <a:avLst/>
          </a:prstGeom>
          <a:noFill/>
          <a:ln/>
        </p:spPr>
        <p:txBody>
          <a:bodyPr wrap="square" lIns="0" tIns="0" rIns="0" bIns="0" rtlCol="0" anchor="t"/>
          <a:lstStyle/>
          <a:p>
            <a:pPr indent="0" marL="0">
              <a:buNone/>
            </a:pPr>
            <a:r>
              <a:rPr lang="en-US" sz="1300" dirty="0">
                <a:solidFill>
                  <a:schemeClr val="tx2"/>
                </a:solidFill>
              </a:rPr>
              <a:t>Nodo es private static: invisible fuera de la lista y sin referencia oculta a ella. verificarInvariantes() comprueba los 4 puntos en las pruebas.</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Crear · insertarAlFinal: O(1)</a:t>
            </a:r>
            <a:endParaRPr lang="en-US" sz="3200" dirty="0"/>
          </a:p>
        </p:txBody>
      </p:sp>
      <p:sp>
        <p:nvSpPr>
          <p:cNvPr id="3" name="bloque de código"/>
          <p:cNvSpPr/>
          <p:nvPr/>
        </p:nvSpPr>
        <p:spPr>
          <a:xfrm>
            <a:off x="548640" y="1280160"/>
            <a:ext cx="5943600" cy="3017520"/>
          </a:xfrm>
          <a:prstGeom prst="roundRect">
            <a:avLst>
              <a:gd name="adj" fmla="val 1818"/>
            </a:avLst>
          </a:prstGeom>
          <a:solidFill>
            <a:schemeClr val="tx2"/>
          </a:solidFill>
          <a:ln w="12700">
            <a:solidFill>
              <a:schemeClr val="tx2"/>
            </a:solidFill>
            <a:prstDash val="solid"/>
          </a:ln>
        </p:spPr>
      </p:sp>
      <p:sp>
        <p:nvSpPr>
          <p:cNvPr id="4" name="Text 2"/>
          <p:cNvSpPr txBox="1"/>
          <p:nvPr/>
        </p:nvSpPr>
        <p:spPr>
          <a:xfrm>
            <a:off x="749808" y="1444752"/>
            <a:ext cx="5577840" cy="274320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public void insertarAlFinal(T dato)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Objects.requireNonNull(dato);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Nodo&lt;T&gt; nuevo = new Nodo&lt;&gt;(dato, cola, null); </a:t>
            </a:r>
            <a:pPr indent="0" marL="0">
              <a:buNone/>
            </a:pPr>
            <a:r>
              <a:rPr lang="en-US" sz="1400" dirty="0">
                <a:solidFill>
                  <a:schemeClr val="accent1"/>
                </a:solidFill>
                <a:latin typeface="Courier New" pitchFamily="34" charset="0"/>
                <a:ea typeface="Courier New" pitchFamily="34" charset="-122"/>
                <a:cs typeface="Courier New" pitchFamily="34" charset="-120"/>
              </a:rPr>
              <a:t>// 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if (cola == null)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cabeza = nuevo;          </a:t>
            </a:r>
            <a:pPr indent="0" marL="0">
              <a:buNone/>
            </a:pPr>
            <a:r>
              <a:rPr lang="en-US" sz="1400" dirty="0">
                <a:solidFill>
                  <a:schemeClr val="accent1"/>
                </a:solidFill>
                <a:latin typeface="Courier New" pitchFamily="34" charset="0"/>
                <a:ea typeface="Courier New" pitchFamily="34" charset="-122"/>
                <a:cs typeface="Courier New" pitchFamily="34" charset="-120"/>
              </a:rPr>
              <a:t>// lista vacía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else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cola.siguiente = nuevo;  </a:t>
            </a:r>
            <a:pPr indent="0" marL="0">
              <a:buNone/>
            </a:pPr>
            <a:r>
              <a:rPr lang="en-US" sz="1400" dirty="0">
                <a:solidFill>
                  <a:schemeClr val="accent1"/>
                </a:solidFill>
                <a:latin typeface="Courier New" pitchFamily="34" charset="0"/>
                <a:ea typeface="Courier New" pitchFamily="34" charset="-122"/>
                <a:cs typeface="Courier New" pitchFamily="34" charset="-120"/>
              </a:rPr>
              <a:t>// 2</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cola = nuevo;              </a:t>
            </a:r>
            <a:pPr indent="0" marL="0">
              <a:buNone/>
            </a:pPr>
            <a:r>
              <a:rPr lang="en-US" sz="1400" dirty="0">
                <a:solidFill>
                  <a:schemeClr val="accent1"/>
                </a:solidFill>
                <a:latin typeface="Courier New" pitchFamily="34" charset="0"/>
                <a:ea typeface="Courier New" pitchFamily="34" charset="-122"/>
                <a:cs typeface="Courier New" pitchFamily="34" charset="-120"/>
              </a:rPr>
              <a:t>// 3</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tamanio++;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modificaciones++;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Text 3"/>
          <p:cNvSpPr txBox="1"/>
          <p:nvPr/>
        </p:nvSpPr>
        <p:spPr>
          <a:xfrm>
            <a:off x="6949440" y="1325880"/>
            <a:ext cx="1828800" cy="320040"/>
          </a:xfrm>
          <a:prstGeom prst="rect">
            <a:avLst/>
          </a:prstGeom>
          <a:noFill/>
          <a:ln/>
        </p:spPr>
        <p:txBody>
          <a:bodyPr wrap="square" lIns="0" tIns="0" rIns="0" bIns="0" rtlCol="0" anchor="t"/>
          <a:lstStyle/>
          <a:p>
            <a:pPr indent="0" marL="0">
              <a:buNone/>
            </a:pPr>
            <a:r>
              <a:rPr lang="en-US" sz="1500" b="1" dirty="0">
                <a:solidFill>
                  <a:schemeClr val="tx2"/>
                </a:solidFill>
              </a:rPr>
              <a:t>Antes</a:t>
            </a:r>
            <a:endParaRPr lang="en-US" sz="1500" dirty="0"/>
          </a:p>
        </p:txBody>
      </p:sp>
      <p:sp>
        <p:nvSpPr>
          <p:cNvPr id="6" name="Shape 4"/>
          <p:cNvSpPr/>
          <p:nvPr/>
        </p:nvSpPr>
        <p:spPr>
          <a:xfrm>
            <a:off x="6949440" y="1965960"/>
            <a:ext cx="274320" cy="502920"/>
          </a:xfrm>
          <a:prstGeom prst="rect">
            <a:avLst/>
          </a:prstGeom>
          <a:solidFill>
            <a:schemeClr val="accent6"/>
          </a:solidFill>
          <a:ln w="15875">
            <a:solidFill>
              <a:schemeClr val="tx1"/>
            </a:solidFill>
            <a:prstDash val="solid"/>
          </a:ln>
        </p:spPr>
      </p:sp>
      <p:sp>
        <p:nvSpPr>
          <p:cNvPr id="7" name="Shape 5"/>
          <p:cNvSpPr/>
          <p:nvPr/>
        </p:nvSpPr>
        <p:spPr>
          <a:xfrm>
            <a:off x="7036308" y="2167128"/>
            <a:ext cx="100584" cy="100584"/>
          </a:xfrm>
          <a:prstGeom prst="ellipse">
            <a:avLst/>
          </a:prstGeom>
          <a:solidFill>
            <a:schemeClr val="tx1"/>
          </a:solidFill>
          <a:ln w="12700">
            <a:solidFill>
              <a:schemeClr val="tx1"/>
            </a:solidFill>
            <a:prstDash val="solid"/>
          </a:ln>
        </p:spPr>
      </p:sp>
      <p:sp>
        <p:nvSpPr>
          <p:cNvPr id="8" name="Shape 6"/>
          <p:cNvSpPr/>
          <p:nvPr/>
        </p:nvSpPr>
        <p:spPr>
          <a:xfrm>
            <a:off x="7223760" y="1965960"/>
            <a:ext cx="777240" cy="502920"/>
          </a:xfrm>
          <a:prstGeom prst="rect">
            <a:avLst/>
          </a:prstGeom>
          <a:solidFill>
            <a:schemeClr val="accent6"/>
          </a:solidFill>
          <a:ln w="15875">
            <a:solidFill>
              <a:schemeClr val="tx1"/>
            </a:solidFill>
            <a:prstDash val="solid"/>
          </a:ln>
        </p:spPr>
      </p:sp>
      <p:sp>
        <p:nvSpPr>
          <p:cNvPr id="9" name="Text 7"/>
          <p:cNvSpPr txBox="1"/>
          <p:nvPr/>
        </p:nvSpPr>
        <p:spPr>
          <a:xfrm>
            <a:off x="7223760" y="196596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e2-e4</a:t>
            </a:r>
            <a:endParaRPr lang="en-US" sz="1200" dirty="0"/>
          </a:p>
        </p:txBody>
      </p:sp>
      <p:sp>
        <p:nvSpPr>
          <p:cNvPr id="10" name="Shape 8"/>
          <p:cNvSpPr/>
          <p:nvPr/>
        </p:nvSpPr>
        <p:spPr>
          <a:xfrm>
            <a:off x="8001000" y="1965960"/>
            <a:ext cx="274320" cy="502920"/>
          </a:xfrm>
          <a:prstGeom prst="rect">
            <a:avLst/>
          </a:prstGeom>
          <a:solidFill>
            <a:schemeClr val="accent6"/>
          </a:solidFill>
          <a:ln w="15875">
            <a:solidFill>
              <a:schemeClr val="tx1"/>
            </a:solidFill>
            <a:prstDash val="solid"/>
          </a:ln>
        </p:spPr>
      </p:sp>
      <p:sp>
        <p:nvSpPr>
          <p:cNvPr id="11" name="Shape 9"/>
          <p:cNvSpPr/>
          <p:nvPr/>
        </p:nvSpPr>
        <p:spPr>
          <a:xfrm>
            <a:off x="8087868" y="2167128"/>
            <a:ext cx="100584" cy="100584"/>
          </a:xfrm>
          <a:prstGeom prst="ellipse">
            <a:avLst/>
          </a:prstGeom>
          <a:solidFill>
            <a:schemeClr val="tx1"/>
          </a:solidFill>
          <a:ln w="12700">
            <a:solidFill>
              <a:schemeClr val="tx1"/>
            </a:solidFill>
            <a:prstDash val="solid"/>
          </a:ln>
        </p:spPr>
      </p:sp>
      <p:sp>
        <p:nvSpPr>
          <p:cNvPr id="12" name="Shape 10"/>
          <p:cNvSpPr/>
          <p:nvPr/>
        </p:nvSpPr>
        <p:spPr>
          <a:xfrm>
            <a:off x="8549640" y="1965960"/>
            <a:ext cx="274320" cy="502920"/>
          </a:xfrm>
          <a:prstGeom prst="rect">
            <a:avLst/>
          </a:prstGeom>
          <a:solidFill>
            <a:schemeClr val="accent6"/>
          </a:solidFill>
          <a:ln w="15875">
            <a:solidFill>
              <a:schemeClr val="tx1"/>
            </a:solidFill>
            <a:prstDash val="solid"/>
          </a:ln>
        </p:spPr>
      </p:sp>
      <p:sp>
        <p:nvSpPr>
          <p:cNvPr id="13" name="Shape 11"/>
          <p:cNvSpPr/>
          <p:nvPr/>
        </p:nvSpPr>
        <p:spPr>
          <a:xfrm>
            <a:off x="8636508" y="2167128"/>
            <a:ext cx="100584" cy="100584"/>
          </a:xfrm>
          <a:prstGeom prst="ellipse">
            <a:avLst/>
          </a:prstGeom>
          <a:solidFill>
            <a:schemeClr val="tx1"/>
          </a:solidFill>
          <a:ln w="12700">
            <a:solidFill>
              <a:schemeClr val="tx1"/>
            </a:solidFill>
            <a:prstDash val="solid"/>
          </a:ln>
        </p:spPr>
      </p:sp>
      <p:sp>
        <p:nvSpPr>
          <p:cNvPr id="14" name="Shape 12"/>
          <p:cNvSpPr/>
          <p:nvPr/>
        </p:nvSpPr>
        <p:spPr>
          <a:xfrm>
            <a:off x="8823960" y="1965960"/>
            <a:ext cx="777240" cy="502920"/>
          </a:xfrm>
          <a:prstGeom prst="rect">
            <a:avLst/>
          </a:prstGeom>
          <a:solidFill>
            <a:schemeClr val="accent6"/>
          </a:solidFill>
          <a:ln w="15875">
            <a:solidFill>
              <a:schemeClr val="tx1"/>
            </a:solidFill>
            <a:prstDash val="solid"/>
          </a:ln>
        </p:spPr>
      </p:sp>
      <p:sp>
        <p:nvSpPr>
          <p:cNvPr id="15" name="Text 13"/>
          <p:cNvSpPr txBox="1"/>
          <p:nvPr/>
        </p:nvSpPr>
        <p:spPr>
          <a:xfrm>
            <a:off x="8823960" y="196596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d7-d5</a:t>
            </a:r>
            <a:endParaRPr lang="en-US" sz="1200" dirty="0"/>
          </a:p>
        </p:txBody>
      </p:sp>
      <p:sp>
        <p:nvSpPr>
          <p:cNvPr id="16" name="Shape 14"/>
          <p:cNvSpPr/>
          <p:nvPr/>
        </p:nvSpPr>
        <p:spPr>
          <a:xfrm>
            <a:off x="9601200" y="1965960"/>
            <a:ext cx="274320" cy="502920"/>
          </a:xfrm>
          <a:prstGeom prst="rect">
            <a:avLst/>
          </a:prstGeom>
          <a:solidFill>
            <a:schemeClr val="accent6"/>
          </a:solidFill>
          <a:ln w="15875">
            <a:solidFill>
              <a:schemeClr val="tx1"/>
            </a:solidFill>
            <a:prstDash val="solid"/>
          </a:ln>
        </p:spPr>
      </p:sp>
      <p:sp>
        <p:nvSpPr>
          <p:cNvPr id="17" name="Shape 15"/>
          <p:cNvSpPr/>
          <p:nvPr/>
        </p:nvSpPr>
        <p:spPr>
          <a:xfrm>
            <a:off x="9688068" y="2167128"/>
            <a:ext cx="100584" cy="100584"/>
          </a:xfrm>
          <a:prstGeom prst="ellipse">
            <a:avLst/>
          </a:prstGeom>
          <a:solidFill>
            <a:schemeClr val="tx1"/>
          </a:solidFill>
          <a:ln w="12700">
            <a:solidFill>
              <a:schemeClr val="tx1"/>
            </a:solidFill>
            <a:prstDash val="solid"/>
          </a:ln>
        </p:spPr>
      </p:sp>
      <p:sp>
        <p:nvSpPr>
          <p:cNvPr id="18" name="Shape 16"/>
          <p:cNvSpPr/>
          <p:nvPr/>
        </p:nvSpPr>
        <p:spPr>
          <a:xfrm>
            <a:off x="8138160" y="2126894"/>
            <a:ext cx="393192" cy="914"/>
          </a:xfrm>
          <a:prstGeom prst="line">
            <a:avLst/>
          </a:prstGeom>
          <a:noFill/>
          <a:ln w="22225">
            <a:solidFill>
              <a:schemeClr val="tx1"/>
            </a:solidFill>
            <a:prstDash val="solid"/>
            <a:tailEnd type="triangle"/>
          </a:ln>
        </p:spPr>
      </p:sp>
      <p:sp>
        <p:nvSpPr>
          <p:cNvPr id="19" name="Shape 17"/>
          <p:cNvSpPr/>
          <p:nvPr/>
        </p:nvSpPr>
        <p:spPr>
          <a:xfrm flipH="1">
            <a:off x="8293608" y="2318004"/>
            <a:ext cx="393192" cy="914"/>
          </a:xfrm>
          <a:prstGeom prst="line">
            <a:avLst/>
          </a:prstGeom>
          <a:noFill/>
          <a:ln w="22225">
            <a:solidFill>
              <a:schemeClr val="accent4"/>
            </a:solidFill>
            <a:prstDash val="solid"/>
            <a:tailEnd type="triangle"/>
          </a:ln>
        </p:spPr>
      </p:sp>
      <p:sp>
        <p:nvSpPr>
          <p:cNvPr id="20" name="Text 18"/>
          <p:cNvSpPr txBox="1"/>
          <p:nvPr/>
        </p:nvSpPr>
        <p:spPr>
          <a:xfrm>
            <a:off x="7132320" y="2542032"/>
            <a:ext cx="1188720" cy="274320"/>
          </a:xfrm>
          <a:prstGeom prst="rect">
            <a:avLst/>
          </a:prstGeom>
          <a:noFill/>
          <a:ln/>
        </p:spPr>
        <p:txBody>
          <a:bodyPr wrap="square" lIns="0" tIns="0" rIns="0" bIns="0" rtlCol="0" anchor="t"/>
          <a:lstStyle/>
          <a:p>
            <a:pPr indent="0" marL="0">
              <a:buNone/>
            </a:pPr>
            <a:r>
              <a:rPr lang="en-US" sz="1200" b="1" dirty="0">
                <a:solidFill>
                  <a:schemeClr val="accent3"/>
                </a:solidFill>
                <a:latin typeface="Courier New" pitchFamily="34" charset="0"/>
                <a:ea typeface="Courier New" pitchFamily="34" charset="-122"/>
                <a:cs typeface="Courier New" pitchFamily="34" charset="-120"/>
              </a:rPr>
              <a:t>cabeza</a:t>
            </a:r>
            <a:endParaRPr lang="en-US" sz="1200" dirty="0"/>
          </a:p>
        </p:txBody>
      </p:sp>
      <p:sp>
        <p:nvSpPr>
          <p:cNvPr id="21" name="Text 19"/>
          <p:cNvSpPr txBox="1"/>
          <p:nvPr/>
        </p:nvSpPr>
        <p:spPr>
          <a:xfrm>
            <a:off x="8915400" y="2542032"/>
            <a:ext cx="1188720" cy="274320"/>
          </a:xfrm>
          <a:prstGeom prst="rect">
            <a:avLst/>
          </a:prstGeom>
          <a:noFill/>
          <a:ln/>
        </p:spPr>
        <p:txBody>
          <a:bodyPr wrap="square" lIns="0" tIns="0" rIns="0" bIns="0" rtlCol="0" anchor="t"/>
          <a:lstStyle/>
          <a:p>
            <a:pPr indent="0" marL="0">
              <a:buNone/>
            </a:pPr>
            <a:r>
              <a:rPr lang="en-US" sz="1200" b="1" dirty="0">
                <a:solidFill>
                  <a:schemeClr val="accent3"/>
                </a:solidFill>
                <a:latin typeface="Courier New" pitchFamily="34" charset="0"/>
                <a:ea typeface="Courier New" pitchFamily="34" charset="-122"/>
                <a:cs typeface="Courier New" pitchFamily="34" charset="-120"/>
              </a:rPr>
              <a:t>cola</a:t>
            </a:r>
            <a:endParaRPr lang="en-US" sz="1200" dirty="0"/>
          </a:p>
        </p:txBody>
      </p:sp>
      <p:sp>
        <p:nvSpPr>
          <p:cNvPr id="22" name="Text 20"/>
          <p:cNvSpPr txBox="1"/>
          <p:nvPr/>
        </p:nvSpPr>
        <p:spPr>
          <a:xfrm>
            <a:off x="6949440" y="3154680"/>
            <a:ext cx="1828800" cy="320040"/>
          </a:xfrm>
          <a:prstGeom prst="rect">
            <a:avLst/>
          </a:prstGeom>
          <a:noFill/>
          <a:ln/>
        </p:spPr>
        <p:txBody>
          <a:bodyPr wrap="square" lIns="0" tIns="0" rIns="0" bIns="0" rtlCol="0" anchor="t"/>
          <a:lstStyle/>
          <a:p>
            <a:pPr indent="0" marL="0">
              <a:buNone/>
            </a:pPr>
            <a:r>
              <a:rPr lang="en-US" sz="1500" b="1" dirty="0">
                <a:solidFill>
                  <a:schemeClr val="tx2"/>
                </a:solidFill>
              </a:rPr>
              <a:t>Después</a:t>
            </a:r>
            <a:endParaRPr lang="en-US" sz="1500" dirty="0"/>
          </a:p>
        </p:txBody>
      </p:sp>
      <p:sp>
        <p:nvSpPr>
          <p:cNvPr id="23" name="Shape 21"/>
          <p:cNvSpPr/>
          <p:nvPr/>
        </p:nvSpPr>
        <p:spPr>
          <a:xfrm>
            <a:off x="6949440" y="3794760"/>
            <a:ext cx="274320" cy="502920"/>
          </a:xfrm>
          <a:prstGeom prst="rect">
            <a:avLst/>
          </a:prstGeom>
          <a:solidFill>
            <a:schemeClr val="accent6"/>
          </a:solidFill>
          <a:ln w="15875">
            <a:solidFill>
              <a:schemeClr val="tx1"/>
            </a:solidFill>
            <a:prstDash val="solid"/>
          </a:ln>
        </p:spPr>
      </p:sp>
      <p:sp>
        <p:nvSpPr>
          <p:cNvPr id="24" name="Shape 22"/>
          <p:cNvSpPr/>
          <p:nvPr/>
        </p:nvSpPr>
        <p:spPr>
          <a:xfrm>
            <a:off x="7036308" y="3995928"/>
            <a:ext cx="100584" cy="100584"/>
          </a:xfrm>
          <a:prstGeom prst="ellipse">
            <a:avLst/>
          </a:prstGeom>
          <a:solidFill>
            <a:schemeClr val="tx1"/>
          </a:solidFill>
          <a:ln w="12700">
            <a:solidFill>
              <a:schemeClr val="tx1"/>
            </a:solidFill>
            <a:prstDash val="solid"/>
          </a:ln>
        </p:spPr>
      </p:sp>
      <p:sp>
        <p:nvSpPr>
          <p:cNvPr id="25" name="Shape 23"/>
          <p:cNvSpPr/>
          <p:nvPr/>
        </p:nvSpPr>
        <p:spPr>
          <a:xfrm>
            <a:off x="7223760" y="3794760"/>
            <a:ext cx="777240" cy="502920"/>
          </a:xfrm>
          <a:prstGeom prst="rect">
            <a:avLst/>
          </a:prstGeom>
          <a:solidFill>
            <a:schemeClr val="accent6"/>
          </a:solidFill>
          <a:ln w="15875">
            <a:solidFill>
              <a:schemeClr val="tx1"/>
            </a:solidFill>
            <a:prstDash val="solid"/>
          </a:ln>
        </p:spPr>
      </p:sp>
      <p:sp>
        <p:nvSpPr>
          <p:cNvPr id="26" name="Text 24"/>
          <p:cNvSpPr txBox="1"/>
          <p:nvPr/>
        </p:nvSpPr>
        <p:spPr>
          <a:xfrm>
            <a:off x="7223760" y="379476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e2-e4</a:t>
            </a:r>
            <a:endParaRPr lang="en-US" sz="1200" dirty="0"/>
          </a:p>
        </p:txBody>
      </p:sp>
      <p:sp>
        <p:nvSpPr>
          <p:cNvPr id="27" name="Shape 25"/>
          <p:cNvSpPr/>
          <p:nvPr/>
        </p:nvSpPr>
        <p:spPr>
          <a:xfrm>
            <a:off x="8001000" y="3794760"/>
            <a:ext cx="274320" cy="502920"/>
          </a:xfrm>
          <a:prstGeom prst="rect">
            <a:avLst/>
          </a:prstGeom>
          <a:solidFill>
            <a:schemeClr val="accent6"/>
          </a:solidFill>
          <a:ln w="15875">
            <a:solidFill>
              <a:schemeClr val="tx1"/>
            </a:solidFill>
            <a:prstDash val="solid"/>
          </a:ln>
        </p:spPr>
      </p:sp>
      <p:sp>
        <p:nvSpPr>
          <p:cNvPr id="28" name="Shape 26"/>
          <p:cNvSpPr/>
          <p:nvPr/>
        </p:nvSpPr>
        <p:spPr>
          <a:xfrm>
            <a:off x="8087868" y="3995928"/>
            <a:ext cx="100584" cy="100584"/>
          </a:xfrm>
          <a:prstGeom prst="ellipse">
            <a:avLst/>
          </a:prstGeom>
          <a:solidFill>
            <a:schemeClr val="tx1"/>
          </a:solidFill>
          <a:ln w="12700">
            <a:solidFill>
              <a:schemeClr val="tx1"/>
            </a:solidFill>
            <a:prstDash val="solid"/>
          </a:ln>
        </p:spPr>
      </p:sp>
      <p:sp>
        <p:nvSpPr>
          <p:cNvPr id="29" name="Shape 27"/>
          <p:cNvSpPr/>
          <p:nvPr/>
        </p:nvSpPr>
        <p:spPr>
          <a:xfrm>
            <a:off x="8549640" y="3794760"/>
            <a:ext cx="274320" cy="502920"/>
          </a:xfrm>
          <a:prstGeom prst="rect">
            <a:avLst/>
          </a:prstGeom>
          <a:solidFill>
            <a:schemeClr val="accent6"/>
          </a:solidFill>
          <a:ln w="15875">
            <a:solidFill>
              <a:schemeClr val="tx1"/>
            </a:solidFill>
            <a:prstDash val="solid"/>
          </a:ln>
        </p:spPr>
      </p:sp>
      <p:sp>
        <p:nvSpPr>
          <p:cNvPr id="30" name="Shape 28"/>
          <p:cNvSpPr/>
          <p:nvPr/>
        </p:nvSpPr>
        <p:spPr>
          <a:xfrm>
            <a:off x="8636508" y="3995928"/>
            <a:ext cx="100584" cy="100584"/>
          </a:xfrm>
          <a:prstGeom prst="ellipse">
            <a:avLst/>
          </a:prstGeom>
          <a:solidFill>
            <a:schemeClr val="tx1"/>
          </a:solidFill>
          <a:ln w="12700">
            <a:solidFill>
              <a:schemeClr val="tx1"/>
            </a:solidFill>
            <a:prstDash val="solid"/>
          </a:ln>
        </p:spPr>
      </p:sp>
      <p:sp>
        <p:nvSpPr>
          <p:cNvPr id="31" name="Shape 29"/>
          <p:cNvSpPr/>
          <p:nvPr/>
        </p:nvSpPr>
        <p:spPr>
          <a:xfrm>
            <a:off x="8823960" y="3794760"/>
            <a:ext cx="777240" cy="502920"/>
          </a:xfrm>
          <a:prstGeom prst="rect">
            <a:avLst/>
          </a:prstGeom>
          <a:solidFill>
            <a:schemeClr val="accent6"/>
          </a:solidFill>
          <a:ln w="15875">
            <a:solidFill>
              <a:schemeClr val="tx1"/>
            </a:solidFill>
            <a:prstDash val="solid"/>
          </a:ln>
        </p:spPr>
      </p:sp>
      <p:sp>
        <p:nvSpPr>
          <p:cNvPr id="32" name="Text 30"/>
          <p:cNvSpPr txBox="1"/>
          <p:nvPr/>
        </p:nvSpPr>
        <p:spPr>
          <a:xfrm>
            <a:off x="8823960" y="379476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d7-d5</a:t>
            </a:r>
            <a:endParaRPr lang="en-US" sz="1200" dirty="0"/>
          </a:p>
        </p:txBody>
      </p:sp>
      <p:sp>
        <p:nvSpPr>
          <p:cNvPr id="33" name="Shape 31"/>
          <p:cNvSpPr/>
          <p:nvPr/>
        </p:nvSpPr>
        <p:spPr>
          <a:xfrm>
            <a:off x="9601200" y="3794760"/>
            <a:ext cx="274320" cy="502920"/>
          </a:xfrm>
          <a:prstGeom prst="rect">
            <a:avLst/>
          </a:prstGeom>
          <a:solidFill>
            <a:schemeClr val="accent6"/>
          </a:solidFill>
          <a:ln w="15875">
            <a:solidFill>
              <a:schemeClr val="tx1"/>
            </a:solidFill>
            <a:prstDash val="solid"/>
          </a:ln>
        </p:spPr>
      </p:sp>
      <p:sp>
        <p:nvSpPr>
          <p:cNvPr id="34" name="Shape 32"/>
          <p:cNvSpPr/>
          <p:nvPr/>
        </p:nvSpPr>
        <p:spPr>
          <a:xfrm>
            <a:off x="9688068" y="3995928"/>
            <a:ext cx="100584" cy="100584"/>
          </a:xfrm>
          <a:prstGeom prst="ellipse">
            <a:avLst/>
          </a:prstGeom>
          <a:solidFill>
            <a:schemeClr val="tx1"/>
          </a:solidFill>
          <a:ln w="12700">
            <a:solidFill>
              <a:schemeClr val="tx1"/>
            </a:solidFill>
            <a:prstDash val="solid"/>
          </a:ln>
        </p:spPr>
      </p:sp>
      <p:sp>
        <p:nvSpPr>
          <p:cNvPr id="35" name="Shape 33"/>
          <p:cNvSpPr/>
          <p:nvPr/>
        </p:nvSpPr>
        <p:spPr>
          <a:xfrm>
            <a:off x="10149840" y="3794760"/>
            <a:ext cx="274320" cy="502920"/>
          </a:xfrm>
          <a:prstGeom prst="rect">
            <a:avLst/>
          </a:prstGeom>
          <a:solidFill>
            <a:schemeClr val="accent1"/>
          </a:solidFill>
          <a:ln w="15875">
            <a:solidFill>
              <a:schemeClr val="tx1"/>
            </a:solidFill>
            <a:prstDash val="solid"/>
          </a:ln>
        </p:spPr>
      </p:sp>
      <p:sp>
        <p:nvSpPr>
          <p:cNvPr id="36" name="Shape 34"/>
          <p:cNvSpPr/>
          <p:nvPr/>
        </p:nvSpPr>
        <p:spPr>
          <a:xfrm>
            <a:off x="10236708" y="3995928"/>
            <a:ext cx="100584" cy="100584"/>
          </a:xfrm>
          <a:prstGeom prst="ellipse">
            <a:avLst/>
          </a:prstGeom>
          <a:solidFill>
            <a:schemeClr val="tx1"/>
          </a:solidFill>
          <a:ln w="12700">
            <a:solidFill>
              <a:schemeClr val="tx1"/>
            </a:solidFill>
            <a:prstDash val="solid"/>
          </a:ln>
        </p:spPr>
      </p:sp>
      <p:sp>
        <p:nvSpPr>
          <p:cNvPr id="37" name="Shape 35"/>
          <p:cNvSpPr/>
          <p:nvPr/>
        </p:nvSpPr>
        <p:spPr>
          <a:xfrm>
            <a:off x="10424160" y="3794760"/>
            <a:ext cx="777240" cy="502920"/>
          </a:xfrm>
          <a:prstGeom prst="rect">
            <a:avLst/>
          </a:prstGeom>
          <a:solidFill>
            <a:schemeClr val="accent1"/>
          </a:solidFill>
          <a:ln w="15875">
            <a:solidFill>
              <a:schemeClr val="tx1"/>
            </a:solidFill>
            <a:prstDash val="solid"/>
          </a:ln>
        </p:spPr>
      </p:sp>
      <p:sp>
        <p:nvSpPr>
          <p:cNvPr id="38" name="Text 36"/>
          <p:cNvSpPr txBox="1"/>
          <p:nvPr/>
        </p:nvSpPr>
        <p:spPr>
          <a:xfrm>
            <a:off x="10424160" y="379476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e4xd5</a:t>
            </a:r>
            <a:endParaRPr lang="en-US" sz="1200" dirty="0"/>
          </a:p>
        </p:txBody>
      </p:sp>
      <p:sp>
        <p:nvSpPr>
          <p:cNvPr id="39" name="Shape 37"/>
          <p:cNvSpPr/>
          <p:nvPr/>
        </p:nvSpPr>
        <p:spPr>
          <a:xfrm>
            <a:off x="11201400" y="3794760"/>
            <a:ext cx="274320" cy="502920"/>
          </a:xfrm>
          <a:prstGeom prst="rect">
            <a:avLst/>
          </a:prstGeom>
          <a:solidFill>
            <a:schemeClr val="accent1"/>
          </a:solidFill>
          <a:ln w="15875">
            <a:solidFill>
              <a:schemeClr val="tx1"/>
            </a:solidFill>
            <a:prstDash val="solid"/>
          </a:ln>
        </p:spPr>
      </p:sp>
      <p:sp>
        <p:nvSpPr>
          <p:cNvPr id="40" name="Shape 38"/>
          <p:cNvSpPr/>
          <p:nvPr/>
        </p:nvSpPr>
        <p:spPr>
          <a:xfrm>
            <a:off x="11288268" y="3995928"/>
            <a:ext cx="100584" cy="100584"/>
          </a:xfrm>
          <a:prstGeom prst="ellipse">
            <a:avLst/>
          </a:prstGeom>
          <a:solidFill>
            <a:schemeClr val="tx1"/>
          </a:solidFill>
          <a:ln w="12700">
            <a:solidFill>
              <a:schemeClr val="tx1"/>
            </a:solidFill>
            <a:prstDash val="solid"/>
          </a:ln>
        </p:spPr>
      </p:sp>
      <p:sp>
        <p:nvSpPr>
          <p:cNvPr id="41" name="Shape 39"/>
          <p:cNvSpPr/>
          <p:nvPr/>
        </p:nvSpPr>
        <p:spPr>
          <a:xfrm>
            <a:off x="8138160" y="3955694"/>
            <a:ext cx="393192" cy="914"/>
          </a:xfrm>
          <a:prstGeom prst="line">
            <a:avLst/>
          </a:prstGeom>
          <a:noFill/>
          <a:ln w="22225">
            <a:solidFill>
              <a:schemeClr val="tx1"/>
            </a:solidFill>
            <a:prstDash val="solid"/>
            <a:tailEnd type="triangle"/>
          </a:ln>
        </p:spPr>
      </p:sp>
      <p:sp>
        <p:nvSpPr>
          <p:cNvPr id="42" name="Shape 40"/>
          <p:cNvSpPr/>
          <p:nvPr/>
        </p:nvSpPr>
        <p:spPr>
          <a:xfrm flipH="1">
            <a:off x="8293608" y="4146804"/>
            <a:ext cx="393192" cy="914"/>
          </a:xfrm>
          <a:prstGeom prst="line">
            <a:avLst/>
          </a:prstGeom>
          <a:noFill/>
          <a:ln w="22225">
            <a:solidFill>
              <a:schemeClr val="accent4"/>
            </a:solidFill>
            <a:prstDash val="solid"/>
            <a:tailEnd type="triangle"/>
          </a:ln>
        </p:spPr>
      </p:sp>
      <p:sp>
        <p:nvSpPr>
          <p:cNvPr id="43" name="Shape 41"/>
          <p:cNvSpPr/>
          <p:nvPr/>
        </p:nvSpPr>
        <p:spPr>
          <a:xfrm>
            <a:off x="9738360" y="3955694"/>
            <a:ext cx="393192" cy="914"/>
          </a:xfrm>
          <a:prstGeom prst="line">
            <a:avLst/>
          </a:prstGeom>
          <a:noFill/>
          <a:ln w="22225">
            <a:solidFill>
              <a:schemeClr val="tx1"/>
            </a:solidFill>
            <a:prstDash val="solid"/>
            <a:tailEnd type="triangle"/>
          </a:ln>
        </p:spPr>
      </p:sp>
      <p:sp>
        <p:nvSpPr>
          <p:cNvPr id="44" name="Shape 42"/>
          <p:cNvSpPr/>
          <p:nvPr/>
        </p:nvSpPr>
        <p:spPr>
          <a:xfrm flipH="1">
            <a:off x="9893808" y="4146804"/>
            <a:ext cx="393192" cy="914"/>
          </a:xfrm>
          <a:prstGeom prst="line">
            <a:avLst/>
          </a:prstGeom>
          <a:noFill/>
          <a:ln w="22225">
            <a:solidFill>
              <a:schemeClr val="accent4"/>
            </a:solidFill>
            <a:prstDash val="solid"/>
            <a:tailEnd type="triangle"/>
          </a:ln>
        </p:spPr>
      </p:sp>
      <p:sp>
        <p:nvSpPr>
          <p:cNvPr id="45" name="Text 43"/>
          <p:cNvSpPr txBox="1"/>
          <p:nvPr/>
        </p:nvSpPr>
        <p:spPr>
          <a:xfrm>
            <a:off x="9784080" y="3465576"/>
            <a:ext cx="457200" cy="274320"/>
          </a:xfrm>
          <a:prstGeom prst="rect">
            <a:avLst/>
          </a:prstGeom>
          <a:noFill/>
          <a:ln/>
        </p:spPr>
        <p:txBody>
          <a:bodyPr wrap="square" lIns="0" tIns="0" rIns="0" bIns="0" rtlCol="0" anchor="t"/>
          <a:lstStyle/>
          <a:p>
            <a:pPr algn="ctr" indent="0" marL="0">
              <a:buNone/>
            </a:pPr>
            <a:r>
              <a:rPr lang="en-US" sz="1200" b="1" dirty="0">
                <a:solidFill>
                  <a:schemeClr val="tx1"/>
                </a:solidFill>
              </a:rPr>
              <a:t>2</a:t>
            </a:r>
            <a:endParaRPr lang="en-US" sz="1200" dirty="0"/>
          </a:p>
        </p:txBody>
      </p:sp>
      <p:sp>
        <p:nvSpPr>
          <p:cNvPr id="46" name="Text 44"/>
          <p:cNvSpPr txBox="1"/>
          <p:nvPr/>
        </p:nvSpPr>
        <p:spPr>
          <a:xfrm>
            <a:off x="9784080" y="4343400"/>
            <a:ext cx="457200" cy="274320"/>
          </a:xfrm>
          <a:prstGeom prst="rect">
            <a:avLst/>
          </a:prstGeom>
          <a:noFill/>
          <a:ln/>
        </p:spPr>
        <p:txBody>
          <a:bodyPr wrap="square" lIns="0" tIns="0" rIns="0" bIns="0" rtlCol="0" anchor="t"/>
          <a:lstStyle/>
          <a:p>
            <a:pPr algn="ctr" indent="0" marL="0">
              <a:buNone/>
            </a:pPr>
            <a:r>
              <a:rPr lang="en-US" sz="1200" b="1" dirty="0">
                <a:solidFill>
                  <a:schemeClr val="accent4"/>
                </a:solidFill>
              </a:rPr>
              <a:t>1</a:t>
            </a:r>
            <a:endParaRPr lang="en-US" sz="1200" dirty="0"/>
          </a:p>
        </p:txBody>
      </p:sp>
      <p:sp>
        <p:nvSpPr>
          <p:cNvPr id="47" name="Text 45"/>
          <p:cNvSpPr txBox="1"/>
          <p:nvPr/>
        </p:nvSpPr>
        <p:spPr>
          <a:xfrm>
            <a:off x="7132320" y="4370832"/>
            <a:ext cx="1188720" cy="274320"/>
          </a:xfrm>
          <a:prstGeom prst="rect">
            <a:avLst/>
          </a:prstGeom>
          <a:noFill/>
          <a:ln/>
        </p:spPr>
        <p:txBody>
          <a:bodyPr wrap="square" lIns="0" tIns="0" rIns="0" bIns="0" rtlCol="0" anchor="t"/>
          <a:lstStyle/>
          <a:p>
            <a:pPr indent="0" marL="0">
              <a:buNone/>
            </a:pPr>
            <a:r>
              <a:rPr lang="en-US" sz="1200" b="1" dirty="0">
                <a:solidFill>
                  <a:schemeClr val="accent3"/>
                </a:solidFill>
                <a:latin typeface="Courier New" pitchFamily="34" charset="0"/>
                <a:ea typeface="Courier New" pitchFamily="34" charset="-122"/>
                <a:cs typeface="Courier New" pitchFamily="34" charset="-120"/>
              </a:rPr>
              <a:t>cabeza</a:t>
            </a:r>
            <a:endParaRPr lang="en-US" sz="1200" dirty="0"/>
          </a:p>
        </p:txBody>
      </p:sp>
      <p:sp>
        <p:nvSpPr>
          <p:cNvPr id="48" name="Text 46"/>
          <p:cNvSpPr txBox="1"/>
          <p:nvPr/>
        </p:nvSpPr>
        <p:spPr>
          <a:xfrm>
            <a:off x="10515600" y="4370832"/>
            <a:ext cx="1188720" cy="274320"/>
          </a:xfrm>
          <a:prstGeom prst="rect">
            <a:avLst/>
          </a:prstGeom>
          <a:noFill/>
          <a:ln/>
        </p:spPr>
        <p:txBody>
          <a:bodyPr wrap="square" lIns="0" tIns="0" rIns="0" bIns="0" rtlCol="0" anchor="t"/>
          <a:lstStyle/>
          <a:p>
            <a:pPr indent="0" marL="0">
              <a:buNone/>
            </a:pPr>
            <a:r>
              <a:rPr lang="en-US" sz="1200" b="1" dirty="0">
                <a:solidFill>
                  <a:schemeClr val="accent3"/>
                </a:solidFill>
                <a:latin typeface="Courier New" pitchFamily="34" charset="0"/>
                <a:ea typeface="Courier New" pitchFamily="34" charset="-122"/>
                <a:cs typeface="Courier New" pitchFamily="34" charset="-120"/>
              </a:rPr>
              <a:t>cola  3</a:t>
            </a:r>
            <a:endParaRPr lang="en-US" sz="1200" dirty="0"/>
          </a:p>
        </p:txBody>
      </p:sp>
      <p:sp>
        <p:nvSpPr>
          <p:cNvPr id="49" name="Shape 47"/>
          <p:cNvSpPr/>
          <p:nvPr/>
        </p:nvSpPr>
        <p:spPr>
          <a:xfrm>
            <a:off x="6858000" y="5029200"/>
            <a:ext cx="4754880" cy="1097280"/>
          </a:xfrm>
          <a:prstGeom prst="roundRect">
            <a:avLst>
              <a:gd name="adj" fmla="val 6667"/>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50" name="Text 48"/>
          <p:cNvSpPr txBox="1"/>
          <p:nvPr/>
        </p:nvSpPr>
        <p:spPr>
          <a:xfrm>
            <a:off x="7040880" y="5074920"/>
            <a:ext cx="4434840" cy="1005840"/>
          </a:xfrm>
          <a:prstGeom prst="rect">
            <a:avLst/>
          </a:prstGeom>
          <a:noFill/>
          <a:ln/>
        </p:spPr>
        <p:txBody>
          <a:bodyPr wrap="square" lIns="0" tIns="0" rIns="0" bIns="0" rtlCol="0" anchor="ctr"/>
          <a:lstStyle/>
          <a:p>
            <a:pPr indent="0" marL="0">
              <a:buNone/>
            </a:pPr>
            <a:r>
              <a:rPr lang="en-US" sz="1400" dirty="0">
                <a:solidFill>
                  <a:schemeClr val="tx1"/>
                </a:solidFill>
              </a:rPr>
              <a:t>El constructor enlaza el puntero 1. Solo hace falta el enlace de vuelta (2) y mover la cola (3). Sin recorrer la lista.</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Crear · insertarEn: enlazar 4 punteros</a:t>
            </a:r>
            <a:endParaRPr lang="en-US" sz="3200" dirty="0"/>
          </a:p>
        </p:txBody>
      </p:sp>
      <p:sp>
        <p:nvSpPr>
          <p:cNvPr id="3" name="bloque de código"/>
          <p:cNvSpPr/>
          <p:nvPr/>
        </p:nvSpPr>
        <p:spPr>
          <a:xfrm>
            <a:off x="548640" y="1280160"/>
            <a:ext cx="6035040" cy="3657600"/>
          </a:xfrm>
          <a:prstGeom prst="roundRect">
            <a:avLst>
              <a:gd name="adj" fmla="val 1500"/>
            </a:avLst>
          </a:prstGeom>
          <a:solidFill>
            <a:schemeClr val="tx2"/>
          </a:solidFill>
          <a:ln w="12700">
            <a:solidFill>
              <a:schemeClr val="tx2"/>
            </a:solidFill>
            <a:prstDash val="solid"/>
          </a:ln>
        </p:spPr>
      </p:sp>
      <p:sp>
        <p:nvSpPr>
          <p:cNvPr id="4" name="Text 2"/>
          <p:cNvSpPr txBox="1"/>
          <p:nvPr/>
        </p:nvSpPr>
        <p:spPr>
          <a:xfrm>
            <a:off x="749808" y="1444752"/>
            <a:ext cx="5669280" cy="338328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public void insertarEn(int indice, T dato)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1"/>
                </a:solidFill>
                <a:latin typeface="Courier New" pitchFamily="34" charset="0"/>
                <a:ea typeface="Courier New" pitchFamily="34" charset="-122"/>
                <a:cs typeface="Courier New" pitchFamily="34" charset="-120"/>
              </a:rPr>
              <a:t>// precondición: 0 &lt;= indice &lt;= tamanio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if (indice == 0) insertarAlInicio(dato);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else if (indice == tamanio) insertarAlFinal(dato);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else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Nodo&lt;T&gt; sucesor = nodoEn(indice);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Nodo&lt;T&gt; predecesor = sucesor.anterior;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Nodo&lt;T&gt; nuevo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new Nodo&lt;&gt;(dato, predecesor, sucesor); </a:t>
            </a:r>
            <a:pPr indent="0" marL="0">
              <a:buNone/>
            </a:pPr>
            <a:r>
              <a:rPr lang="en-US" sz="1400" dirty="0">
                <a:solidFill>
                  <a:schemeClr val="accent1"/>
                </a:solidFill>
                <a:latin typeface="Courier New" pitchFamily="34" charset="0"/>
                <a:ea typeface="Courier New" pitchFamily="34" charset="-122"/>
                <a:cs typeface="Courier New" pitchFamily="34" charset="-120"/>
              </a:rPr>
              <a:t>// 1, 2</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predecesor.siguiente = nuevo;            </a:t>
            </a:r>
            <a:pPr indent="0" marL="0">
              <a:buNone/>
            </a:pPr>
            <a:r>
              <a:rPr lang="en-US" sz="1400" dirty="0">
                <a:solidFill>
                  <a:schemeClr val="accent1"/>
                </a:solidFill>
                <a:latin typeface="Courier New" pitchFamily="34" charset="0"/>
                <a:ea typeface="Courier New" pitchFamily="34" charset="-122"/>
                <a:cs typeface="Courier New" pitchFamily="34" charset="-120"/>
              </a:rPr>
              <a:t>// 3</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sucesor.anterior = nuevo;                </a:t>
            </a:r>
            <a:pPr indent="0" marL="0">
              <a:buNone/>
            </a:pPr>
            <a:r>
              <a:rPr lang="en-US" sz="1400" dirty="0">
                <a:solidFill>
                  <a:schemeClr val="accent1"/>
                </a:solidFill>
                <a:latin typeface="Courier New" pitchFamily="34" charset="0"/>
                <a:ea typeface="Courier New" pitchFamily="34" charset="-122"/>
                <a:cs typeface="Courier New" pitchFamily="34" charset="-120"/>
              </a:rPr>
              <a:t>// 4</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tamanio++;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modificaciones++;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Text 3"/>
          <p:cNvSpPr txBox="1"/>
          <p:nvPr/>
        </p:nvSpPr>
        <p:spPr>
          <a:xfrm>
            <a:off x="6949440" y="1325880"/>
            <a:ext cx="1828800" cy="320040"/>
          </a:xfrm>
          <a:prstGeom prst="rect">
            <a:avLst/>
          </a:prstGeom>
          <a:noFill/>
          <a:ln/>
        </p:spPr>
        <p:txBody>
          <a:bodyPr wrap="square" lIns="0" tIns="0" rIns="0" bIns="0" rtlCol="0" anchor="t"/>
          <a:lstStyle/>
          <a:p>
            <a:pPr indent="0" marL="0">
              <a:buNone/>
            </a:pPr>
            <a:r>
              <a:rPr lang="en-US" sz="1500" b="1" dirty="0">
                <a:solidFill>
                  <a:schemeClr val="tx2"/>
                </a:solidFill>
              </a:rPr>
              <a:t>Antes</a:t>
            </a:r>
            <a:endParaRPr lang="en-US" sz="1500" dirty="0"/>
          </a:p>
        </p:txBody>
      </p:sp>
      <p:sp>
        <p:nvSpPr>
          <p:cNvPr id="6" name="Shape 4"/>
          <p:cNvSpPr/>
          <p:nvPr/>
        </p:nvSpPr>
        <p:spPr>
          <a:xfrm>
            <a:off x="6949440" y="1965960"/>
            <a:ext cx="274320" cy="502920"/>
          </a:xfrm>
          <a:prstGeom prst="rect">
            <a:avLst/>
          </a:prstGeom>
          <a:solidFill>
            <a:schemeClr val="accent6"/>
          </a:solidFill>
          <a:ln w="15875">
            <a:solidFill>
              <a:schemeClr val="tx1"/>
            </a:solidFill>
            <a:prstDash val="solid"/>
          </a:ln>
        </p:spPr>
      </p:sp>
      <p:sp>
        <p:nvSpPr>
          <p:cNvPr id="7" name="Shape 5"/>
          <p:cNvSpPr/>
          <p:nvPr/>
        </p:nvSpPr>
        <p:spPr>
          <a:xfrm>
            <a:off x="7036308" y="2167128"/>
            <a:ext cx="100584" cy="100584"/>
          </a:xfrm>
          <a:prstGeom prst="ellipse">
            <a:avLst/>
          </a:prstGeom>
          <a:solidFill>
            <a:schemeClr val="tx1"/>
          </a:solidFill>
          <a:ln w="12700">
            <a:solidFill>
              <a:schemeClr val="tx1"/>
            </a:solidFill>
            <a:prstDash val="solid"/>
          </a:ln>
        </p:spPr>
      </p:sp>
      <p:sp>
        <p:nvSpPr>
          <p:cNvPr id="8" name="Shape 6"/>
          <p:cNvSpPr/>
          <p:nvPr/>
        </p:nvSpPr>
        <p:spPr>
          <a:xfrm>
            <a:off x="7223760" y="1965960"/>
            <a:ext cx="777240" cy="502920"/>
          </a:xfrm>
          <a:prstGeom prst="rect">
            <a:avLst/>
          </a:prstGeom>
          <a:solidFill>
            <a:schemeClr val="accent6"/>
          </a:solidFill>
          <a:ln w="15875">
            <a:solidFill>
              <a:schemeClr val="tx1"/>
            </a:solidFill>
            <a:prstDash val="solid"/>
          </a:ln>
        </p:spPr>
      </p:sp>
      <p:sp>
        <p:nvSpPr>
          <p:cNvPr id="9" name="Text 7"/>
          <p:cNvSpPr txBox="1"/>
          <p:nvPr/>
        </p:nvSpPr>
        <p:spPr>
          <a:xfrm>
            <a:off x="7223760" y="196596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A</a:t>
            </a:r>
            <a:endParaRPr lang="en-US" sz="1200" dirty="0"/>
          </a:p>
        </p:txBody>
      </p:sp>
      <p:sp>
        <p:nvSpPr>
          <p:cNvPr id="10" name="Shape 8"/>
          <p:cNvSpPr/>
          <p:nvPr/>
        </p:nvSpPr>
        <p:spPr>
          <a:xfrm>
            <a:off x="8001000" y="1965960"/>
            <a:ext cx="274320" cy="502920"/>
          </a:xfrm>
          <a:prstGeom prst="rect">
            <a:avLst/>
          </a:prstGeom>
          <a:solidFill>
            <a:schemeClr val="accent6"/>
          </a:solidFill>
          <a:ln w="15875">
            <a:solidFill>
              <a:schemeClr val="tx1"/>
            </a:solidFill>
            <a:prstDash val="solid"/>
          </a:ln>
        </p:spPr>
      </p:sp>
      <p:sp>
        <p:nvSpPr>
          <p:cNvPr id="11" name="Shape 9"/>
          <p:cNvSpPr/>
          <p:nvPr/>
        </p:nvSpPr>
        <p:spPr>
          <a:xfrm>
            <a:off x="8087868" y="2167128"/>
            <a:ext cx="100584" cy="100584"/>
          </a:xfrm>
          <a:prstGeom prst="ellipse">
            <a:avLst/>
          </a:prstGeom>
          <a:solidFill>
            <a:schemeClr val="tx1"/>
          </a:solidFill>
          <a:ln w="12700">
            <a:solidFill>
              <a:schemeClr val="tx1"/>
            </a:solidFill>
            <a:prstDash val="solid"/>
          </a:ln>
        </p:spPr>
      </p:sp>
      <p:sp>
        <p:nvSpPr>
          <p:cNvPr id="12" name="Shape 10"/>
          <p:cNvSpPr/>
          <p:nvPr/>
        </p:nvSpPr>
        <p:spPr>
          <a:xfrm>
            <a:off x="10149840" y="1965960"/>
            <a:ext cx="274320" cy="502920"/>
          </a:xfrm>
          <a:prstGeom prst="rect">
            <a:avLst/>
          </a:prstGeom>
          <a:solidFill>
            <a:schemeClr val="accent6"/>
          </a:solidFill>
          <a:ln w="15875">
            <a:solidFill>
              <a:schemeClr val="tx1"/>
            </a:solidFill>
            <a:prstDash val="solid"/>
          </a:ln>
        </p:spPr>
      </p:sp>
      <p:sp>
        <p:nvSpPr>
          <p:cNvPr id="13" name="Shape 11"/>
          <p:cNvSpPr/>
          <p:nvPr/>
        </p:nvSpPr>
        <p:spPr>
          <a:xfrm>
            <a:off x="10236708" y="2167128"/>
            <a:ext cx="100584" cy="100584"/>
          </a:xfrm>
          <a:prstGeom prst="ellipse">
            <a:avLst/>
          </a:prstGeom>
          <a:solidFill>
            <a:schemeClr val="tx1"/>
          </a:solidFill>
          <a:ln w="12700">
            <a:solidFill>
              <a:schemeClr val="tx1"/>
            </a:solidFill>
            <a:prstDash val="solid"/>
          </a:ln>
        </p:spPr>
      </p:sp>
      <p:sp>
        <p:nvSpPr>
          <p:cNvPr id="14" name="Shape 12"/>
          <p:cNvSpPr/>
          <p:nvPr/>
        </p:nvSpPr>
        <p:spPr>
          <a:xfrm>
            <a:off x="10424160" y="1965960"/>
            <a:ext cx="777240" cy="502920"/>
          </a:xfrm>
          <a:prstGeom prst="rect">
            <a:avLst/>
          </a:prstGeom>
          <a:solidFill>
            <a:schemeClr val="accent6"/>
          </a:solidFill>
          <a:ln w="15875">
            <a:solidFill>
              <a:schemeClr val="tx1"/>
            </a:solidFill>
            <a:prstDash val="solid"/>
          </a:ln>
        </p:spPr>
      </p:sp>
      <p:sp>
        <p:nvSpPr>
          <p:cNvPr id="15" name="Text 13"/>
          <p:cNvSpPr txBox="1"/>
          <p:nvPr/>
        </p:nvSpPr>
        <p:spPr>
          <a:xfrm>
            <a:off x="10424160" y="196596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a:t>
            </a:r>
            <a:endParaRPr lang="en-US" sz="1200" dirty="0"/>
          </a:p>
        </p:txBody>
      </p:sp>
      <p:sp>
        <p:nvSpPr>
          <p:cNvPr id="16" name="Shape 14"/>
          <p:cNvSpPr/>
          <p:nvPr/>
        </p:nvSpPr>
        <p:spPr>
          <a:xfrm>
            <a:off x="11201400" y="1965960"/>
            <a:ext cx="274320" cy="502920"/>
          </a:xfrm>
          <a:prstGeom prst="rect">
            <a:avLst/>
          </a:prstGeom>
          <a:solidFill>
            <a:schemeClr val="accent6"/>
          </a:solidFill>
          <a:ln w="15875">
            <a:solidFill>
              <a:schemeClr val="tx1"/>
            </a:solidFill>
            <a:prstDash val="solid"/>
          </a:ln>
        </p:spPr>
      </p:sp>
      <p:sp>
        <p:nvSpPr>
          <p:cNvPr id="17" name="Shape 15"/>
          <p:cNvSpPr/>
          <p:nvPr/>
        </p:nvSpPr>
        <p:spPr>
          <a:xfrm>
            <a:off x="11288268" y="2167128"/>
            <a:ext cx="100584" cy="100584"/>
          </a:xfrm>
          <a:prstGeom prst="ellipse">
            <a:avLst/>
          </a:prstGeom>
          <a:solidFill>
            <a:schemeClr val="tx1"/>
          </a:solidFill>
          <a:ln w="12700">
            <a:solidFill>
              <a:schemeClr val="tx1"/>
            </a:solidFill>
            <a:prstDash val="solid"/>
          </a:ln>
        </p:spPr>
      </p:sp>
      <p:sp>
        <p:nvSpPr>
          <p:cNvPr id="18" name="Shape 16"/>
          <p:cNvSpPr/>
          <p:nvPr/>
        </p:nvSpPr>
        <p:spPr>
          <a:xfrm>
            <a:off x="8138160" y="2130552"/>
            <a:ext cx="1993392" cy="914"/>
          </a:xfrm>
          <a:prstGeom prst="line">
            <a:avLst/>
          </a:prstGeom>
          <a:noFill/>
          <a:ln w="22225">
            <a:solidFill>
              <a:schemeClr val="tx1"/>
            </a:solidFill>
            <a:prstDash val="solid"/>
            <a:tailEnd type="triangle"/>
          </a:ln>
        </p:spPr>
      </p:sp>
      <p:sp>
        <p:nvSpPr>
          <p:cNvPr id="19" name="Shape 17"/>
          <p:cNvSpPr/>
          <p:nvPr/>
        </p:nvSpPr>
        <p:spPr>
          <a:xfrm flipH="1">
            <a:off x="8293608" y="2313432"/>
            <a:ext cx="1993392" cy="914"/>
          </a:xfrm>
          <a:prstGeom prst="line">
            <a:avLst/>
          </a:prstGeom>
          <a:noFill/>
          <a:ln w="22225">
            <a:solidFill>
              <a:schemeClr val="accent4"/>
            </a:solidFill>
            <a:prstDash val="solid"/>
            <a:tailEnd type="triangle"/>
          </a:ln>
        </p:spPr>
      </p:sp>
      <p:sp>
        <p:nvSpPr>
          <p:cNvPr id="20" name="Text 18"/>
          <p:cNvSpPr txBox="1"/>
          <p:nvPr/>
        </p:nvSpPr>
        <p:spPr>
          <a:xfrm>
            <a:off x="6949440" y="2542032"/>
            <a:ext cx="1188720" cy="27432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predecesor</a:t>
            </a:r>
            <a:endParaRPr lang="en-US" sz="1200" dirty="0"/>
          </a:p>
        </p:txBody>
      </p:sp>
      <p:sp>
        <p:nvSpPr>
          <p:cNvPr id="21" name="Text 19"/>
          <p:cNvSpPr txBox="1"/>
          <p:nvPr/>
        </p:nvSpPr>
        <p:spPr>
          <a:xfrm>
            <a:off x="10241280" y="2542032"/>
            <a:ext cx="1188720" cy="27432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sucesor</a:t>
            </a:r>
            <a:endParaRPr lang="en-US" sz="1200" dirty="0"/>
          </a:p>
        </p:txBody>
      </p:sp>
      <p:sp>
        <p:nvSpPr>
          <p:cNvPr id="22" name="Text 20"/>
          <p:cNvSpPr txBox="1"/>
          <p:nvPr/>
        </p:nvSpPr>
        <p:spPr>
          <a:xfrm>
            <a:off x="6949440" y="3154680"/>
            <a:ext cx="3657600" cy="320040"/>
          </a:xfrm>
          <a:prstGeom prst="rect">
            <a:avLst/>
          </a:prstGeom>
          <a:noFill/>
          <a:ln/>
        </p:spPr>
        <p:txBody>
          <a:bodyPr wrap="square" lIns="0" tIns="0" rIns="0" bIns="0" rtlCol="0" anchor="t"/>
          <a:lstStyle/>
          <a:p>
            <a:pPr indent="0" marL="0">
              <a:buNone/>
            </a:pPr>
            <a:r>
              <a:rPr lang="en-US" sz="1500" b="1" dirty="0">
                <a:solidFill>
                  <a:schemeClr val="tx2"/>
                </a:solidFill>
              </a:rPr>
              <a:t>Después: insertarEn(1, "B")</a:t>
            </a:r>
            <a:endParaRPr lang="en-US" sz="1500" dirty="0"/>
          </a:p>
        </p:txBody>
      </p:sp>
      <p:sp>
        <p:nvSpPr>
          <p:cNvPr id="23" name="Shape 21"/>
          <p:cNvSpPr/>
          <p:nvPr/>
        </p:nvSpPr>
        <p:spPr>
          <a:xfrm>
            <a:off x="6949440" y="3840480"/>
            <a:ext cx="274320" cy="502920"/>
          </a:xfrm>
          <a:prstGeom prst="rect">
            <a:avLst/>
          </a:prstGeom>
          <a:solidFill>
            <a:schemeClr val="accent6"/>
          </a:solidFill>
          <a:ln w="15875">
            <a:solidFill>
              <a:schemeClr val="tx1"/>
            </a:solidFill>
            <a:prstDash val="solid"/>
          </a:ln>
        </p:spPr>
      </p:sp>
      <p:sp>
        <p:nvSpPr>
          <p:cNvPr id="24" name="Shape 22"/>
          <p:cNvSpPr/>
          <p:nvPr/>
        </p:nvSpPr>
        <p:spPr>
          <a:xfrm>
            <a:off x="7036308" y="4041648"/>
            <a:ext cx="100584" cy="100584"/>
          </a:xfrm>
          <a:prstGeom prst="ellipse">
            <a:avLst/>
          </a:prstGeom>
          <a:solidFill>
            <a:schemeClr val="tx1"/>
          </a:solidFill>
          <a:ln w="12700">
            <a:solidFill>
              <a:schemeClr val="tx1"/>
            </a:solidFill>
            <a:prstDash val="solid"/>
          </a:ln>
        </p:spPr>
      </p:sp>
      <p:sp>
        <p:nvSpPr>
          <p:cNvPr id="25" name="Shape 23"/>
          <p:cNvSpPr/>
          <p:nvPr/>
        </p:nvSpPr>
        <p:spPr>
          <a:xfrm>
            <a:off x="7223760" y="3840480"/>
            <a:ext cx="777240" cy="502920"/>
          </a:xfrm>
          <a:prstGeom prst="rect">
            <a:avLst/>
          </a:prstGeom>
          <a:solidFill>
            <a:schemeClr val="accent6"/>
          </a:solidFill>
          <a:ln w="15875">
            <a:solidFill>
              <a:schemeClr val="tx1"/>
            </a:solidFill>
            <a:prstDash val="solid"/>
          </a:ln>
        </p:spPr>
      </p:sp>
      <p:sp>
        <p:nvSpPr>
          <p:cNvPr id="26" name="Text 24"/>
          <p:cNvSpPr txBox="1"/>
          <p:nvPr/>
        </p:nvSpPr>
        <p:spPr>
          <a:xfrm>
            <a:off x="7223760" y="384048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A</a:t>
            </a:r>
            <a:endParaRPr lang="en-US" sz="1200" dirty="0"/>
          </a:p>
        </p:txBody>
      </p:sp>
      <p:sp>
        <p:nvSpPr>
          <p:cNvPr id="27" name="Shape 25"/>
          <p:cNvSpPr/>
          <p:nvPr/>
        </p:nvSpPr>
        <p:spPr>
          <a:xfrm>
            <a:off x="8001000" y="3840480"/>
            <a:ext cx="274320" cy="502920"/>
          </a:xfrm>
          <a:prstGeom prst="rect">
            <a:avLst/>
          </a:prstGeom>
          <a:solidFill>
            <a:schemeClr val="accent6"/>
          </a:solidFill>
          <a:ln w="15875">
            <a:solidFill>
              <a:schemeClr val="tx1"/>
            </a:solidFill>
            <a:prstDash val="solid"/>
          </a:ln>
        </p:spPr>
      </p:sp>
      <p:sp>
        <p:nvSpPr>
          <p:cNvPr id="28" name="Shape 26"/>
          <p:cNvSpPr/>
          <p:nvPr/>
        </p:nvSpPr>
        <p:spPr>
          <a:xfrm>
            <a:off x="8087868" y="4041648"/>
            <a:ext cx="100584" cy="100584"/>
          </a:xfrm>
          <a:prstGeom prst="ellipse">
            <a:avLst/>
          </a:prstGeom>
          <a:solidFill>
            <a:schemeClr val="tx1"/>
          </a:solidFill>
          <a:ln w="12700">
            <a:solidFill>
              <a:schemeClr val="tx1"/>
            </a:solidFill>
            <a:prstDash val="solid"/>
          </a:ln>
        </p:spPr>
      </p:sp>
      <p:sp>
        <p:nvSpPr>
          <p:cNvPr id="29" name="Shape 27"/>
          <p:cNvSpPr/>
          <p:nvPr/>
        </p:nvSpPr>
        <p:spPr>
          <a:xfrm>
            <a:off x="8549640" y="3840480"/>
            <a:ext cx="274320" cy="502920"/>
          </a:xfrm>
          <a:prstGeom prst="rect">
            <a:avLst/>
          </a:prstGeom>
          <a:solidFill>
            <a:schemeClr val="accent1"/>
          </a:solidFill>
          <a:ln w="15875">
            <a:solidFill>
              <a:schemeClr val="tx1"/>
            </a:solidFill>
            <a:prstDash val="solid"/>
          </a:ln>
        </p:spPr>
      </p:sp>
      <p:sp>
        <p:nvSpPr>
          <p:cNvPr id="30" name="Shape 28"/>
          <p:cNvSpPr/>
          <p:nvPr/>
        </p:nvSpPr>
        <p:spPr>
          <a:xfrm>
            <a:off x="8636508" y="4041648"/>
            <a:ext cx="100584" cy="100584"/>
          </a:xfrm>
          <a:prstGeom prst="ellipse">
            <a:avLst/>
          </a:prstGeom>
          <a:solidFill>
            <a:schemeClr val="tx1"/>
          </a:solidFill>
          <a:ln w="12700">
            <a:solidFill>
              <a:schemeClr val="tx1"/>
            </a:solidFill>
            <a:prstDash val="solid"/>
          </a:ln>
        </p:spPr>
      </p:sp>
      <p:sp>
        <p:nvSpPr>
          <p:cNvPr id="31" name="Shape 29"/>
          <p:cNvSpPr/>
          <p:nvPr/>
        </p:nvSpPr>
        <p:spPr>
          <a:xfrm>
            <a:off x="8823960" y="3840480"/>
            <a:ext cx="777240" cy="502920"/>
          </a:xfrm>
          <a:prstGeom prst="rect">
            <a:avLst/>
          </a:prstGeom>
          <a:solidFill>
            <a:schemeClr val="accent1"/>
          </a:solidFill>
          <a:ln w="15875">
            <a:solidFill>
              <a:schemeClr val="tx1"/>
            </a:solidFill>
            <a:prstDash val="solid"/>
          </a:ln>
        </p:spPr>
      </p:sp>
      <p:sp>
        <p:nvSpPr>
          <p:cNvPr id="32" name="Text 30"/>
          <p:cNvSpPr txBox="1"/>
          <p:nvPr/>
        </p:nvSpPr>
        <p:spPr>
          <a:xfrm>
            <a:off x="8823960" y="384048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B</a:t>
            </a:r>
            <a:endParaRPr lang="en-US" sz="1200" dirty="0"/>
          </a:p>
        </p:txBody>
      </p:sp>
      <p:sp>
        <p:nvSpPr>
          <p:cNvPr id="33" name="Shape 31"/>
          <p:cNvSpPr/>
          <p:nvPr/>
        </p:nvSpPr>
        <p:spPr>
          <a:xfrm>
            <a:off x="9601200" y="3840480"/>
            <a:ext cx="274320" cy="502920"/>
          </a:xfrm>
          <a:prstGeom prst="rect">
            <a:avLst/>
          </a:prstGeom>
          <a:solidFill>
            <a:schemeClr val="accent1"/>
          </a:solidFill>
          <a:ln w="15875">
            <a:solidFill>
              <a:schemeClr val="tx1"/>
            </a:solidFill>
            <a:prstDash val="solid"/>
          </a:ln>
        </p:spPr>
      </p:sp>
      <p:sp>
        <p:nvSpPr>
          <p:cNvPr id="34" name="Shape 32"/>
          <p:cNvSpPr/>
          <p:nvPr/>
        </p:nvSpPr>
        <p:spPr>
          <a:xfrm>
            <a:off x="9688068" y="4041648"/>
            <a:ext cx="100584" cy="100584"/>
          </a:xfrm>
          <a:prstGeom prst="ellipse">
            <a:avLst/>
          </a:prstGeom>
          <a:solidFill>
            <a:schemeClr val="tx1"/>
          </a:solidFill>
          <a:ln w="12700">
            <a:solidFill>
              <a:schemeClr val="tx1"/>
            </a:solidFill>
            <a:prstDash val="solid"/>
          </a:ln>
        </p:spPr>
      </p:sp>
      <p:sp>
        <p:nvSpPr>
          <p:cNvPr id="35" name="Shape 33"/>
          <p:cNvSpPr/>
          <p:nvPr/>
        </p:nvSpPr>
        <p:spPr>
          <a:xfrm>
            <a:off x="10149840" y="3840480"/>
            <a:ext cx="274320" cy="502920"/>
          </a:xfrm>
          <a:prstGeom prst="rect">
            <a:avLst/>
          </a:prstGeom>
          <a:solidFill>
            <a:schemeClr val="accent6"/>
          </a:solidFill>
          <a:ln w="15875">
            <a:solidFill>
              <a:schemeClr val="tx1"/>
            </a:solidFill>
            <a:prstDash val="solid"/>
          </a:ln>
        </p:spPr>
      </p:sp>
      <p:sp>
        <p:nvSpPr>
          <p:cNvPr id="36" name="Shape 34"/>
          <p:cNvSpPr/>
          <p:nvPr/>
        </p:nvSpPr>
        <p:spPr>
          <a:xfrm>
            <a:off x="10236708" y="4041648"/>
            <a:ext cx="100584" cy="100584"/>
          </a:xfrm>
          <a:prstGeom prst="ellipse">
            <a:avLst/>
          </a:prstGeom>
          <a:solidFill>
            <a:schemeClr val="tx1"/>
          </a:solidFill>
          <a:ln w="12700">
            <a:solidFill>
              <a:schemeClr val="tx1"/>
            </a:solidFill>
            <a:prstDash val="solid"/>
          </a:ln>
        </p:spPr>
      </p:sp>
      <p:sp>
        <p:nvSpPr>
          <p:cNvPr id="37" name="Shape 35"/>
          <p:cNvSpPr/>
          <p:nvPr/>
        </p:nvSpPr>
        <p:spPr>
          <a:xfrm>
            <a:off x="10424160" y="3840480"/>
            <a:ext cx="777240" cy="502920"/>
          </a:xfrm>
          <a:prstGeom prst="rect">
            <a:avLst/>
          </a:prstGeom>
          <a:solidFill>
            <a:schemeClr val="accent6"/>
          </a:solidFill>
          <a:ln w="15875">
            <a:solidFill>
              <a:schemeClr val="tx1"/>
            </a:solidFill>
            <a:prstDash val="solid"/>
          </a:ln>
        </p:spPr>
      </p:sp>
      <p:sp>
        <p:nvSpPr>
          <p:cNvPr id="38" name="Text 36"/>
          <p:cNvSpPr txBox="1"/>
          <p:nvPr/>
        </p:nvSpPr>
        <p:spPr>
          <a:xfrm>
            <a:off x="10424160" y="384048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a:t>
            </a:r>
            <a:endParaRPr lang="en-US" sz="1200" dirty="0"/>
          </a:p>
        </p:txBody>
      </p:sp>
      <p:sp>
        <p:nvSpPr>
          <p:cNvPr id="39" name="Shape 37"/>
          <p:cNvSpPr/>
          <p:nvPr/>
        </p:nvSpPr>
        <p:spPr>
          <a:xfrm>
            <a:off x="11201400" y="3840480"/>
            <a:ext cx="274320" cy="502920"/>
          </a:xfrm>
          <a:prstGeom prst="rect">
            <a:avLst/>
          </a:prstGeom>
          <a:solidFill>
            <a:schemeClr val="accent6"/>
          </a:solidFill>
          <a:ln w="15875">
            <a:solidFill>
              <a:schemeClr val="tx1"/>
            </a:solidFill>
            <a:prstDash val="solid"/>
          </a:ln>
        </p:spPr>
      </p:sp>
      <p:sp>
        <p:nvSpPr>
          <p:cNvPr id="40" name="Shape 38"/>
          <p:cNvSpPr/>
          <p:nvPr/>
        </p:nvSpPr>
        <p:spPr>
          <a:xfrm>
            <a:off x="11288268" y="4041648"/>
            <a:ext cx="100584" cy="100584"/>
          </a:xfrm>
          <a:prstGeom prst="ellipse">
            <a:avLst/>
          </a:prstGeom>
          <a:solidFill>
            <a:schemeClr val="tx1"/>
          </a:solidFill>
          <a:ln w="12700">
            <a:solidFill>
              <a:schemeClr val="tx1"/>
            </a:solidFill>
            <a:prstDash val="solid"/>
          </a:ln>
        </p:spPr>
      </p:sp>
      <p:sp>
        <p:nvSpPr>
          <p:cNvPr id="41" name="Shape 39"/>
          <p:cNvSpPr/>
          <p:nvPr/>
        </p:nvSpPr>
        <p:spPr>
          <a:xfrm>
            <a:off x="8138160" y="4001414"/>
            <a:ext cx="393192" cy="914"/>
          </a:xfrm>
          <a:prstGeom prst="line">
            <a:avLst/>
          </a:prstGeom>
          <a:noFill/>
          <a:ln w="22225">
            <a:solidFill>
              <a:schemeClr val="tx1"/>
            </a:solidFill>
            <a:prstDash val="solid"/>
            <a:tailEnd type="triangle"/>
          </a:ln>
        </p:spPr>
      </p:sp>
      <p:sp>
        <p:nvSpPr>
          <p:cNvPr id="42" name="Shape 40"/>
          <p:cNvSpPr/>
          <p:nvPr/>
        </p:nvSpPr>
        <p:spPr>
          <a:xfrm flipH="1">
            <a:off x="8293608" y="4192524"/>
            <a:ext cx="393192" cy="914"/>
          </a:xfrm>
          <a:prstGeom prst="line">
            <a:avLst/>
          </a:prstGeom>
          <a:noFill/>
          <a:ln w="22225">
            <a:solidFill>
              <a:schemeClr val="accent4"/>
            </a:solidFill>
            <a:prstDash val="solid"/>
            <a:tailEnd type="triangle"/>
          </a:ln>
        </p:spPr>
      </p:sp>
      <p:sp>
        <p:nvSpPr>
          <p:cNvPr id="43" name="Text 41"/>
          <p:cNvSpPr txBox="1"/>
          <p:nvPr/>
        </p:nvSpPr>
        <p:spPr>
          <a:xfrm>
            <a:off x="8183880" y="3511296"/>
            <a:ext cx="457200" cy="274320"/>
          </a:xfrm>
          <a:prstGeom prst="rect">
            <a:avLst/>
          </a:prstGeom>
          <a:noFill/>
          <a:ln/>
        </p:spPr>
        <p:txBody>
          <a:bodyPr wrap="square" lIns="0" tIns="0" rIns="0" bIns="0" rtlCol="0" anchor="t"/>
          <a:lstStyle/>
          <a:p>
            <a:pPr algn="ctr" indent="0" marL="0">
              <a:buNone/>
            </a:pPr>
            <a:r>
              <a:rPr lang="en-US" sz="1200" b="1" dirty="0">
                <a:solidFill>
                  <a:schemeClr val="tx1"/>
                </a:solidFill>
              </a:rPr>
              <a:t>3</a:t>
            </a:r>
            <a:endParaRPr lang="en-US" sz="1200" dirty="0"/>
          </a:p>
        </p:txBody>
      </p:sp>
      <p:sp>
        <p:nvSpPr>
          <p:cNvPr id="44" name="Text 42"/>
          <p:cNvSpPr txBox="1"/>
          <p:nvPr/>
        </p:nvSpPr>
        <p:spPr>
          <a:xfrm>
            <a:off x="8183880" y="4389120"/>
            <a:ext cx="457200" cy="274320"/>
          </a:xfrm>
          <a:prstGeom prst="rect">
            <a:avLst/>
          </a:prstGeom>
          <a:noFill/>
          <a:ln/>
        </p:spPr>
        <p:txBody>
          <a:bodyPr wrap="square" lIns="0" tIns="0" rIns="0" bIns="0" rtlCol="0" anchor="t"/>
          <a:lstStyle/>
          <a:p>
            <a:pPr algn="ctr" indent="0" marL="0">
              <a:buNone/>
            </a:pPr>
            <a:r>
              <a:rPr lang="en-US" sz="1200" b="1" dirty="0">
                <a:solidFill>
                  <a:schemeClr val="accent4"/>
                </a:solidFill>
              </a:rPr>
              <a:t>1</a:t>
            </a:r>
            <a:endParaRPr lang="en-US" sz="1200" dirty="0"/>
          </a:p>
        </p:txBody>
      </p:sp>
      <p:sp>
        <p:nvSpPr>
          <p:cNvPr id="45" name="Shape 43"/>
          <p:cNvSpPr/>
          <p:nvPr/>
        </p:nvSpPr>
        <p:spPr>
          <a:xfrm>
            <a:off x="9738360" y="4001414"/>
            <a:ext cx="393192" cy="914"/>
          </a:xfrm>
          <a:prstGeom prst="line">
            <a:avLst/>
          </a:prstGeom>
          <a:noFill/>
          <a:ln w="22225">
            <a:solidFill>
              <a:schemeClr val="tx1"/>
            </a:solidFill>
            <a:prstDash val="solid"/>
            <a:tailEnd type="triangle"/>
          </a:ln>
        </p:spPr>
      </p:sp>
      <p:sp>
        <p:nvSpPr>
          <p:cNvPr id="46" name="Shape 44"/>
          <p:cNvSpPr/>
          <p:nvPr/>
        </p:nvSpPr>
        <p:spPr>
          <a:xfrm flipH="1">
            <a:off x="9893808" y="4192524"/>
            <a:ext cx="393192" cy="914"/>
          </a:xfrm>
          <a:prstGeom prst="line">
            <a:avLst/>
          </a:prstGeom>
          <a:noFill/>
          <a:ln w="22225">
            <a:solidFill>
              <a:schemeClr val="accent4"/>
            </a:solidFill>
            <a:prstDash val="solid"/>
            <a:tailEnd type="triangle"/>
          </a:ln>
        </p:spPr>
      </p:sp>
      <p:sp>
        <p:nvSpPr>
          <p:cNvPr id="47" name="Text 45"/>
          <p:cNvSpPr txBox="1"/>
          <p:nvPr/>
        </p:nvSpPr>
        <p:spPr>
          <a:xfrm>
            <a:off x="9784080" y="3511296"/>
            <a:ext cx="457200" cy="274320"/>
          </a:xfrm>
          <a:prstGeom prst="rect">
            <a:avLst/>
          </a:prstGeom>
          <a:noFill/>
          <a:ln/>
        </p:spPr>
        <p:txBody>
          <a:bodyPr wrap="square" lIns="0" tIns="0" rIns="0" bIns="0" rtlCol="0" anchor="t"/>
          <a:lstStyle/>
          <a:p>
            <a:pPr algn="ctr" indent="0" marL="0">
              <a:buNone/>
            </a:pPr>
            <a:r>
              <a:rPr lang="en-US" sz="1200" b="1" dirty="0">
                <a:solidFill>
                  <a:schemeClr val="tx1"/>
                </a:solidFill>
              </a:rPr>
              <a:t>2</a:t>
            </a:r>
            <a:endParaRPr lang="en-US" sz="1200" dirty="0"/>
          </a:p>
        </p:txBody>
      </p:sp>
      <p:sp>
        <p:nvSpPr>
          <p:cNvPr id="48" name="Text 46"/>
          <p:cNvSpPr txBox="1"/>
          <p:nvPr/>
        </p:nvSpPr>
        <p:spPr>
          <a:xfrm>
            <a:off x="9784080" y="4389120"/>
            <a:ext cx="457200" cy="274320"/>
          </a:xfrm>
          <a:prstGeom prst="rect">
            <a:avLst/>
          </a:prstGeom>
          <a:noFill/>
          <a:ln/>
        </p:spPr>
        <p:txBody>
          <a:bodyPr wrap="square" lIns="0" tIns="0" rIns="0" bIns="0" rtlCol="0" anchor="t"/>
          <a:lstStyle/>
          <a:p>
            <a:pPr algn="ctr" indent="0" marL="0">
              <a:buNone/>
            </a:pPr>
            <a:r>
              <a:rPr lang="en-US" sz="1200" b="1" dirty="0">
                <a:solidFill>
                  <a:schemeClr val="accent4"/>
                </a:solidFill>
              </a:rPr>
              <a:t>4</a:t>
            </a:r>
            <a:endParaRPr lang="en-US" sz="1200" dirty="0"/>
          </a:p>
        </p:txBody>
      </p:sp>
      <p:sp>
        <p:nvSpPr>
          <p:cNvPr id="49" name="Shape 47"/>
          <p:cNvSpPr/>
          <p:nvPr/>
        </p:nvSpPr>
        <p:spPr>
          <a:xfrm>
            <a:off x="6903720" y="4983480"/>
            <a:ext cx="4709160" cy="1143000"/>
          </a:xfrm>
          <a:prstGeom prst="roundRect">
            <a:avLst>
              <a:gd name="adj" fmla="val 6400"/>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50" name="Text 48"/>
          <p:cNvSpPr txBox="1"/>
          <p:nvPr/>
        </p:nvSpPr>
        <p:spPr>
          <a:xfrm>
            <a:off x="7086600" y="5029200"/>
            <a:ext cx="4389120" cy="1051560"/>
          </a:xfrm>
          <a:prstGeom prst="rect">
            <a:avLst/>
          </a:prstGeom>
          <a:noFill/>
          <a:ln/>
        </p:spPr>
        <p:txBody>
          <a:bodyPr wrap="square" lIns="0" tIns="0" rIns="0" bIns="0" rtlCol="0" anchor="ctr"/>
          <a:lstStyle/>
          <a:p>
            <a:pPr indent="0" marL="0">
              <a:buNone/>
            </a:pPr>
            <a:r>
              <a:rPr lang="en-US" sz="1400" dirty="0">
                <a:solidFill>
                  <a:schemeClr val="tx1"/>
                </a:solidFill>
              </a:rPr>
              <a:t>Los extremos se delegan a las operaciones O(1). En el medio, nodoEn localiza al sucesor y se reasignan 4 punteros.</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Consultar · nodoEn: búsqueda bidireccional</a:t>
            </a:r>
            <a:endParaRPr lang="en-US" sz="3200" dirty="0"/>
          </a:p>
        </p:txBody>
      </p:sp>
      <p:sp>
        <p:nvSpPr>
          <p:cNvPr id="3" name="bloque de código"/>
          <p:cNvSpPr/>
          <p:nvPr/>
        </p:nvSpPr>
        <p:spPr>
          <a:xfrm>
            <a:off x="548640" y="1280160"/>
            <a:ext cx="6035040" cy="3230880"/>
          </a:xfrm>
          <a:prstGeom prst="roundRect">
            <a:avLst>
              <a:gd name="adj" fmla="val 1698"/>
            </a:avLst>
          </a:prstGeom>
          <a:solidFill>
            <a:schemeClr val="tx2"/>
          </a:solidFill>
          <a:ln w="12700">
            <a:solidFill>
              <a:schemeClr val="tx2"/>
            </a:solidFill>
            <a:prstDash val="solid"/>
          </a:ln>
        </p:spPr>
      </p:sp>
      <p:sp>
        <p:nvSpPr>
          <p:cNvPr id="4" name="Text 2"/>
          <p:cNvSpPr txBox="1"/>
          <p:nvPr/>
        </p:nvSpPr>
        <p:spPr>
          <a:xfrm>
            <a:off x="749808" y="1444752"/>
            <a:ext cx="5669280" cy="295656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private Nodo&lt;T&gt; nodoEn(int indice)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Nodo&lt;T&gt; actual;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if (indice &lt; tamanio / 2)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actual = cabeza;              </a:t>
            </a:r>
            <a:pPr indent="0" marL="0">
              <a:buNone/>
            </a:pPr>
            <a:r>
              <a:rPr lang="en-US" sz="1400" dirty="0">
                <a:solidFill>
                  <a:schemeClr val="accent1"/>
                </a:solidFill>
                <a:latin typeface="Courier New" pitchFamily="34" charset="0"/>
                <a:ea typeface="Courier New" pitchFamily="34" charset="-122"/>
                <a:cs typeface="Courier New" pitchFamily="34" charset="-120"/>
              </a:rPr>
              <a:t>// mitad izquierda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for (int i = 0; i &lt; indice; i++)</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actual = actual.siguiente;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else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actual = cola;                </a:t>
            </a:r>
            <a:pPr indent="0" marL="0">
              <a:buNone/>
            </a:pPr>
            <a:r>
              <a:rPr lang="en-US" sz="1400" dirty="0">
                <a:solidFill>
                  <a:schemeClr val="accent1"/>
                </a:solidFill>
                <a:latin typeface="Courier New" pitchFamily="34" charset="0"/>
                <a:ea typeface="Courier New" pitchFamily="34" charset="-122"/>
                <a:cs typeface="Courier New" pitchFamily="34" charset="-120"/>
              </a:rPr>
              <a:t>// mitad derecha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for (int i = tamanio - 1; i &gt; indice; i--)</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actual = actual.anterior;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actual;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Shape 3"/>
          <p:cNvSpPr/>
          <p:nvPr/>
        </p:nvSpPr>
        <p:spPr>
          <a:xfrm>
            <a:off x="6858000" y="2377440"/>
            <a:ext cx="548640" cy="548640"/>
          </a:xfrm>
          <a:prstGeom prst="rect">
            <a:avLst/>
          </a:prstGeom>
          <a:solidFill>
            <a:schemeClr val="accent6"/>
          </a:solidFill>
          <a:ln w="12700">
            <a:solidFill>
              <a:schemeClr val="tx1"/>
            </a:solidFill>
            <a:prstDash val="solid"/>
          </a:ln>
        </p:spPr>
      </p:sp>
      <p:sp>
        <p:nvSpPr>
          <p:cNvPr id="6" name="Text 4"/>
          <p:cNvSpPr txBox="1"/>
          <p:nvPr/>
        </p:nvSpPr>
        <p:spPr>
          <a:xfrm>
            <a:off x="6858000" y="23774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0</a:t>
            </a:r>
            <a:endParaRPr lang="en-US" sz="1400" dirty="0"/>
          </a:p>
        </p:txBody>
      </p:sp>
      <p:sp>
        <p:nvSpPr>
          <p:cNvPr id="7" name="Shape 5"/>
          <p:cNvSpPr/>
          <p:nvPr/>
        </p:nvSpPr>
        <p:spPr>
          <a:xfrm>
            <a:off x="7452360" y="2377440"/>
            <a:ext cx="548640" cy="548640"/>
          </a:xfrm>
          <a:prstGeom prst="rect">
            <a:avLst/>
          </a:prstGeom>
          <a:solidFill>
            <a:schemeClr val="accent6"/>
          </a:solidFill>
          <a:ln w="12700">
            <a:solidFill>
              <a:schemeClr val="tx1"/>
            </a:solidFill>
            <a:prstDash val="solid"/>
          </a:ln>
        </p:spPr>
      </p:sp>
      <p:sp>
        <p:nvSpPr>
          <p:cNvPr id="8" name="Text 6"/>
          <p:cNvSpPr txBox="1"/>
          <p:nvPr/>
        </p:nvSpPr>
        <p:spPr>
          <a:xfrm>
            <a:off x="7452360" y="23774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9" name="Shape 7"/>
          <p:cNvSpPr/>
          <p:nvPr/>
        </p:nvSpPr>
        <p:spPr>
          <a:xfrm>
            <a:off x="8046720" y="2377440"/>
            <a:ext cx="548640" cy="548640"/>
          </a:xfrm>
          <a:prstGeom prst="rect">
            <a:avLst/>
          </a:prstGeom>
          <a:solidFill>
            <a:schemeClr val="accent6"/>
          </a:solidFill>
          <a:ln w="12700">
            <a:solidFill>
              <a:schemeClr val="tx1"/>
            </a:solidFill>
            <a:prstDash val="solid"/>
          </a:ln>
        </p:spPr>
      </p:sp>
      <p:sp>
        <p:nvSpPr>
          <p:cNvPr id="10" name="Text 8"/>
          <p:cNvSpPr txBox="1"/>
          <p:nvPr/>
        </p:nvSpPr>
        <p:spPr>
          <a:xfrm>
            <a:off x="8046720" y="23774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2</a:t>
            </a:r>
            <a:endParaRPr lang="en-US" sz="1400" dirty="0"/>
          </a:p>
        </p:txBody>
      </p:sp>
      <p:sp>
        <p:nvSpPr>
          <p:cNvPr id="11" name="Shape 9"/>
          <p:cNvSpPr/>
          <p:nvPr/>
        </p:nvSpPr>
        <p:spPr>
          <a:xfrm>
            <a:off x="8641080" y="2377440"/>
            <a:ext cx="548640" cy="548640"/>
          </a:xfrm>
          <a:prstGeom prst="rect">
            <a:avLst/>
          </a:prstGeom>
          <a:solidFill>
            <a:schemeClr val="accent6"/>
          </a:solidFill>
          <a:ln w="12700">
            <a:solidFill>
              <a:schemeClr val="tx1"/>
            </a:solidFill>
            <a:prstDash val="solid"/>
          </a:ln>
        </p:spPr>
      </p:sp>
      <p:sp>
        <p:nvSpPr>
          <p:cNvPr id="12" name="Text 10"/>
          <p:cNvSpPr txBox="1"/>
          <p:nvPr/>
        </p:nvSpPr>
        <p:spPr>
          <a:xfrm>
            <a:off x="8641080" y="23774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3</a:t>
            </a:r>
            <a:endParaRPr lang="en-US" sz="1400" dirty="0"/>
          </a:p>
        </p:txBody>
      </p:sp>
      <p:sp>
        <p:nvSpPr>
          <p:cNvPr id="13" name="Shape 11"/>
          <p:cNvSpPr/>
          <p:nvPr/>
        </p:nvSpPr>
        <p:spPr>
          <a:xfrm>
            <a:off x="9235440" y="2377440"/>
            <a:ext cx="548640" cy="548640"/>
          </a:xfrm>
          <a:prstGeom prst="rect">
            <a:avLst/>
          </a:prstGeom>
          <a:solidFill>
            <a:schemeClr val="accent6"/>
          </a:solidFill>
          <a:ln w="12700">
            <a:solidFill>
              <a:schemeClr val="tx1"/>
            </a:solidFill>
            <a:prstDash val="solid"/>
          </a:ln>
        </p:spPr>
      </p:sp>
      <p:sp>
        <p:nvSpPr>
          <p:cNvPr id="14" name="Text 12"/>
          <p:cNvSpPr txBox="1"/>
          <p:nvPr/>
        </p:nvSpPr>
        <p:spPr>
          <a:xfrm>
            <a:off x="9235440" y="23774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4</a:t>
            </a:r>
            <a:endParaRPr lang="en-US" sz="1400" dirty="0"/>
          </a:p>
        </p:txBody>
      </p:sp>
      <p:sp>
        <p:nvSpPr>
          <p:cNvPr id="15" name="Shape 13"/>
          <p:cNvSpPr/>
          <p:nvPr/>
        </p:nvSpPr>
        <p:spPr>
          <a:xfrm>
            <a:off x="9829800" y="2377440"/>
            <a:ext cx="548640" cy="548640"/>
          </a:xfrm>
          <a:prstGeom prst="rect">
            <a:avLst/>
          </a:prstGeom>
          <a:solidFill>
            <a:schemeClr val="accent6"/>
          </a:solidFill>
          <a:ln w="12700">
            <a:solidFill>
              <a:schemeClr val="tx1"/>
            </a:solidFill>
            <a:prstDash val="solid"/>
          </a:ln>
        </p:spPr>
      </p:sp>
      <p:sp>
        <p:nvSpPr>
          <p:cNvPr id="16" name="Text 14"/>
          <p:cNvSpPr txBox="1"/>
          <p:nvPr/>
        </p:nvSpPr>
        <p:spPr>
          <a:xfrm>
            <a:off x="9829800" y="23774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5</a:t>
            </a:r>
            <a:endParaRPr lang="en-US" sz="1400" dirty="0"/>
          </a:p>
        </p:txBody>
      </p:sp>
      <p:sp>
        <p:nvSpPr>
          <p:cNvPr id="17" name="Shape 15"/>
          <p:cNvSpPr/>
          <p:nvPr/>
        </p:nvSpPr>
        <p:spPr>
          <a:xfrm>
            <a:off x="10424160" y="2377440"/>
            <a:ext cx="548640" cy="548640"/>
          </a:xfrm>
          <a:prstGeom prst="rect">
            <a:avLst/>
          </a:prstGeom>
          <a:solidFill>
            <a:schemeClr val="accent1"/>
          </a:solidFill>
          <a:ln w="12700">
            <a:solidFill>
              <a:schemeClr val="tx1"/>
            </a:solidFill>
            <a:prstDash val="solid"/>
          </a:ln>
        </p:spPr>
      </p:sp>
      <p:sp>
        <p:nvSpPr>
          <p:cNvPr id="18" name="Text 16"/>
          <p:cNvSpPr txBox="1"/>
          <p:nvPr/>
        </p:nvSpPr>
        <p:spPr>
          <a:xfrm>
            <a:off x="10424160" y="23774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6</a:t>
            </a:r>
            <a:endParaRPr lang="en-US" sz="1400" dirty="0"/>
          </a:p>
        </p:txBody>
      </p:sp>
      <p:sp>
        <p:nvSpPr>
          <p:cNvPr id="19" name="Shape 17"/>
          <p:cNvSpPr/>
          <p:nvPr/>
        </p:nvSpPr>
        <p:spPr>
          <a:xfrm>
            <a:off x="11018520" y="2377440"/>
            <a:ext cx="548640" cy="548640"/>
          </a:xfrm>
          <a:prstGeom prst="rect">
            <a:avLst/>
          </a:prstGeom>
          <a:solidFill>
            <a:schemeClr val="accent6"/>
          </a:solidFill>
          <a:ln w="12700">
            <a:solidFill>
              <a:schemeClr val="tx1"/>
            </a:solidFill>
            <a:prstDash val="solid"/>
          </a:ln>
        </p:spPr>
      </p:sp>
      <p:sp>
        <p:nvSpPr>
          <p:cNvPr id="20" name="Text 18"/>
          <p:cNvSpPr txBox="1"/>
          <p:nvPr/>
        </p:nvSpPr>
        <p:spPr>
          <a:xfrm>
            <a:off x="11018520" y="23774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7</a:t>
            </a:r>
            <a:endParaRPr lang="en-US" sz="1400" dirty="0"/>
          </a:p>
        </p:txBody>
      </p:sp>
      <p:sp>
        <p:nvSpPr>
          <p:cNvPr id="21" name="Text 19"/>
          <p:cNvSpPr txBox="1"/>
          <p:nvPr/>
        </p:nvSpPr>
        <p:spPr>
          <a:xfrm>
            <a:off x="6858000" y="1965960"/>
            <a:ext cx="1188720" cy="27432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cabeza</a:t>
            </a:r>
            <a:endParaRPr lang="en-US" sz="1200" dirty="0"/>
          </a:p>
        </p:txBody>
      </p:sp>
      <p:sp>
        <p:nvSpPr>
          <p:cNvPr id="22" name="Text 20"/>
          <p:cNvSpPr txBox="1"/>
          <p:nvPr/>
        </p:nvSpPr>
        <p:spPr>
          <a:xfrm>
            <a:off x="10972800" y="1965960"/>
            <a:ext cx="1188720" cy="27432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cola</a:t>
            </a:r>
            <a:endParaRPr lang="en-US" sz="1200" dirty="0"/>
          </a:p>
        </p:txBody>
      </p:sp>
      <p:sp>
        <p:nvSpPr>
          <p:cNvPr id="23" name="Shape 21"/>
          <p:cNvSpPr/>
          <p:nvPr/>
        </p:nvSpPr>
        <p:spPr>
          <a:xfrm flipH="1">
            <a:off x="10698480" y="3108960"/>
            <a:ext cx="594360" cy="914"/>
          </a:xfrm>
          <a:prstGeom prst="line">
            <a:avLst/>
          </a:prstGeom>
          <a:noFill/>
          <a:ln w="25400">
            <a:solidFill>
              <a:schemeClr val="accent4"/>
            </a:solidFill>
            <a:prstDash val="solid"/>
            <a:tailEnd type="triangle"/>
          </a:ln>
        </p:spPr>
      </p:sp>
      <p:sp>
        <p:nvSpPr>
          <p:cNvPr id="24" name="Text 22"/>
          <p:cNvSpPr txBox="1"/>
          <p:nvPr/>
        </p:nvSpPr>
        <p:spPr>
          <a:xfrm>
            <a:off x="6858000" y="3337560"/>
            <a:ext cx="4754880" cy="320040"/>
          </a:xfrm>
          <a:prstGeom prst="rect">
            <a:avLst/>
          </a:prstGeom>
          <a:noFill/>
          <a:ln/>
        </p:spPr>
        <p:txBody>
          <a:bodyPr wrap="square" lIns="0" tIns="0" rIns="0" bIns="0" rtlCol="0" anchor="t"/>
          <a:lstStyle/>
          <a:p>
            <a:pPr indent="0" marL="0">
              <a:buNone/>
            </a:pPr>
            <a:r>
              <a:rPr lang="en-US" sz="1500" b="1" dirty="0">
                <a:solidFill>
                  <a:schemeClr val="tx1"/>
                </a:solidFill>
              </a:rPr>
              <a:t>obtener(6), n = 8</a:t>
            </a:r>
            <a:endParaRPr lang="en-US" sz="1500" dirty="0"/>
          </a:p>
        </p:txBody>
      </p:sp>
      <p:sp>
        <p:nvSpPr>
          <p:cNvPr id="25" name="Text 23"/>
          <p:cNvSpPr txBox="1"/>
          <p:nvPr/>
        </p:nvSpPr>
        <p:spPr>
          <a:xfrm>
            <a:off x="6858000" y="3703320"/>
            <a:ext cx="4754880" cy="320040"/>
          </a:xfrm>
          <a:prstGeom prst="rect">
            <a:avLst/>
          </a:prstGeom>
          <a:noFill/>
          <a:ln/>
        </p:spPr>
        <p:txBody>
          <a:bodyPr wrap="square" lIns="0" tIns="0" rIns="0" bIns="0" rtlCol="0" anchor="t"/>
          <a:lstStyle/>
          <a:p>
            <a:pPr indent="0" marL="0">
              <a:buNone/>
            </a:pPr>
            <a:r>
              <a:rPr lang="en-US" sz="1400" b="1" dirty="0">
                <a:solidFill>
                  <a:schemeClr val="accent2"/>
                </a:solidFill>
              </a:rPr>
              <a:t>Lista doble: 1 paso desde la cola</a:t>
            </a:r>
            <a:endParaRPr lang="en-US" sz="1400" dirty="0"/>
          </a:p>
        </p:txBody>
      </p:sp>
      <p:sp>
        <p:nvSpPr>
          <p:cNvPr id="26" name="Text 24"/>
          <p:cNvSpPr txBox="1"/>
          <p:nvPr/>
        </p:nvSpPr>
        <p:spPr>
          <a:xfrm>
            <a:off x="6858000" y="4023360"/>
            <a:ext cx="4754880" cy="320040"/>
          </a:xfrm>
          <a:prstGeom prst="rect">
            <a:avLst/>
          </a:prstGeom>
          <a:noFill/>
          <a:ln/>
        </p:spPr>
        <p:txBody>
          <a:bodyPr wrap="square" lIns="0" tIns="0" rIns="0" bIns="0" rtlCol="0" anchor="t"/>
          <a:lstStyle/>
          <a:p>
            <a:pPr indent="0" marL="0">
              <a:buNone/>
            </a:pPr>
            <a:r>
              <a:rPr lang="en-US" sz="1400" b="1" dirty="0">
                <a:solidFill>
                  <a:schemeClr val="accent3"/>
                </a:solidFill>
              </a:rPr>
              <a:t>Lista simple: 6 pasos desde la cabeza</a:t>
            </a:r>
            <a:endParaRPr lang="en-US" sz="1400" dirty="0"/>
          </a:p>
        </p:txBody>
      </p:sp>
      <p:sp>
        <p:nvSpPr>
          <p:cNvPr id="27" name="Shape 25"/>
          <p:cNvSpPr/>
          <p:nvPr/>
        </p:nvSpPr>
        <p:spPr>
          <a:xfrm>
            <a:off x="6858000" y="4709160"/>
            <a:ext cx="4754880" cy="1417320"/>
          </a:xfrm>
          <a:prstGeom prst="roundRect">
            <a:avLst>
              <a:gd name="adj" fmla="val 5161"/>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28" name="Text 26"/>
          <p:cNvSpPr txBox="1"/>
          <p:nvPr/>
        </p:nvSpPr>
        <p:spPr>
          <a:xfrm>
            <a:off x="7040880" y="4754880"/>
            <a:ext cx="4434840" cy="1325880"/>
          </a:xfrm>
          <a:prstGeom prst="rect">
            <a:avLst/>
          </a:prstGeom>
          <a:noFill/>
          <a:ln/>
        </p:spPr>
        <p:txBody>
          <a:bodyPr wrap="square" lIns="0" tIns="0" rIns="0" bIns="0" rtlCol="0" anchor="ctr"/>
          <a:lstStyle/>
          <a:p>
            <a:pPr indent="0" marL="0">
              <a:buNone/>
            </a:pPr>
            <a:r>
              <a:rPr lang="en-US" sz="1400" dirty="0">
                <a:solidFill>
                  <a:schemeClr val="tx1"/>
                </a:solidFill>
              </a:rPr>
              <a:t>Peor caso: n/2 pasos. Lo reutilizan obtener, modificar, insertarEn y eliminarEn; en el historial lo usa getMovimiento(n).</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Editar · modificar y modificarUltimo</a:t>
            </a:r>
            <a:endParaRPr lang="en-US" sz="3200" dirty="0"/>
          </a:p>
        </p:txBody>
      </p:sp>
      <p:sp>
        <p:nvSpPr>
          <p:cNvPr id="3" name="bloque de código"/>
          <p:cNvSpPr/>
          <p:nvPr/>
        </p:nvSpPr>
        <p:spPr>
          <a:xfrm>
            <a:off x="548640" y="1280160"/>
            <a:ext cx="6035040" cy="3657600"/>
          </a:xfrm>
          <a:prstGeom prst="roundRect">
            <a:avLst>
              <a:gd name="adj" fmla="val 1500"/>
            </a:avLst>
          </a:prstGeom>
          <a:solidFill>
            <a:schemeClr val="tx2"/>
          </a:solidFill>
          <a:ln w="12700">
            <a:solidFill>
              <a:schemeClr val="tx2"/>
            </a:solidFill>
            <a:prstDash val="solid"/>
          </a:ln>
        </p:spPr>
      </p:sp>
      <p:sp>
        <p:nvSpPr>
          <p:cNvPr id="4" name="Text 2"/>
          <p:cNvSpPr txBox="1"/>
          <p:nvPr/>
        </p:nvSpPr>
        <p:spPr>
          <a:xfrm>
            <a:off x="749808" y="1444752"/>
            <a:ext cx="5669280" cy="338328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public T modificar(int indice, T dato)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Objects.requireNonNull(dato);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verificarIndice(indice);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reemplazarDato(nodoEn(indice), dato);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public T modificarUltimo(T dato)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Objects.requireNonNull(dato);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verificarNoVacia();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reemplazarDato(cola, dato);  </a:t>
            </a:r>
            <a:pPr indent="0" marL="0">
              <a:buNone/>
            </a:pPr>
            <a:r>
              <a:rPr lang="en-US" sz="1400" dirty="0">
                <a:solidFill>
                  <a:schemeClr val="accent1"/>
                </a:solidFill>
                <a:latin typeface="Courier New" pitchFamily="34" charset="0"/>
                <a:ea typeface="Courier New" pitchFamily="34" charset="-122"/>
                <a:cs typeface="Courier New" pitchFamily="34" charset="-120"/>
              </a:rPr>
              <a:t>// O(1)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private T reemplazarDato(Nodo&lt;T&gt; nodo, T dato)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 anterior = nodo.dato;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nodo.dato = dato;      </a:t>
            </a:r>
            <a:pPr indent="0" marL="0">
              <a:buNone/>
            </a:pPr>
            <a:r>
              <a:rPr lang="en-US" sz="1400" dirty="0">
                <a:solidFill>
                  <a:schemeClr val="accent1"/>
                </a:solidFill>
                <a:latin typeface="Courier New" pitchFamily="34" charset="0"/>
                <a:ea typeface="Courier New" pitchFamily="34" charset="-122"/>
                <a:cs typeface="Courier New" pitchFamily="34" charset="-120"/>
              </a:rPr>
              <a:t>// punteros intactos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anterior;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Text 3"/>
          <p:cNvSpPr txBox="1"/>
          <p:nvPr/>
        </p:nvSpPr>
        <p:spPr>
          <a:xfrm>
            <a:off x="6949440" y="1325880"/>
            <a:ext cx="1828800" cy="320040"/>
          </a:xfrm>
          <a:prstGeom prst="rect">
            <a:avLst/>
          </a:prstGeom>
          <a:noFill/>
          <a:ln/>
        </p:spPr>
        <p:txBody>
          <a:bodyPr wrap="square" lIns="0" tIns="0" rIns="0" bIns="0" rtlCol="0" anchor="t"/>
          <a:lstStyle/>
          <a:p>
            <a:pPr indent="0" marL="0">
              <a:buNone/>
            </a:pPr>
            <a:r>
              <a:rPr lang="en-US" sz="1500" b="1" dirty="0">
                <a:solidFill>
                  <a:schemeClr val="tx2"/>
                </a:solidFill>
              </a:rPr>
              <a:t>Antes</a:t>
            </a:r>
            <a:endParaRPr lang="en-US" sz="1500" dirty="0"/>
          </a:p>
        </p:txBody>
      </p:sp>
      <p:sp>
        <p:nvSpPr>
          <p:cNvPr id="6" name="Shape 4"/>
          <p:cNvSpPr/>
          <p:nvPr/>
        </p:nvSpPr>
        <p:spPr>
          <a:xfrm>
            <a:off x="6949440" y="1828800"/>
            <a:ext cx="274320" cy="502920"/>
          </a:xfrm>
          <a:prstGeom prst="rect">
            <a:avLst/>
          </a:prstGeom>
          <a:solidFill>
            <a:schemeClr val="accent6"/>
          </a:solidFill>
          <a:ln w="15875">
            <a:solidFill>
              <a:schemeClr val="tx1"/>
            </a:solidFill>
            <a:prstDash val="solid"/>
          </a:ln>
        </p:spPr>
      </p:sp>
      <p:sp>
        <p:nvSpPr>
          <p:cNvPr id="7" name="Shape 5"/>
          <p:cNvSpPr/>
          <p:nvPr/>
        </p:nvSpPr>
        <p:spPr>
          <a:xfrm>
            <a:off x="7036308" y="2029968"/>
            <a:ext cx="100584" cy="100584"/>
          </a:xfrm>
          <a:prstGeom prst="ellipse">
            <a:avLst/>
          </a:prstGeom>
          <a:solidFill>
            <a:schemeClr val="tx1"/>
          </a:solidFill>
          <a:ln w="12700">
            <a:solidFill>
              <a:schemeClr val="tx1"/>
            </a:solidFill>
            <a:prstDash val="solid"/>
          </a:ln>
        </p:spPr>
      </p:sp>
      <p:sp>
        <p:nvSpPr>
          <p:cNvPr id="8" name="Shape 6"/>
          <p:cNvSpPr/>
          <p:nvPr/>
        </p:nvSpPr>
        <p:spPr>
          <a:xfrm>
            <a:off x="7223760" y="1828800"/>
            <a:ext cx="777240" cy="502920"/>
          </a:xfrm>
          <a:prstGeom prst="rect">
            <a:avLst/>
          </a:prstGeom>
          <a:solidFill>
            <a:schemeClr val="accent6"/>
          </a:solidFill>
          <a:ln w="15875">
            <a:solidFill>
              <a:schemeClr val="tx1"/>
            </a:solidFill>
            <a:prstDash val="solid"/>
          </a:ln>
        </p:spPr>
      </p:sp>
      <p:sp>
        <p:nvSpPr>
          <p:cNvPr id="9" name="Text 7"/>
          <p:cNvSpPr txBox="1"/>
          <p:nvPr/>
        </p:nvSpPr>
        <p:spPr>
          <a:xfrm>
            <a:off x="7223760" y="182880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e7-e5</a:t>
            </a:r>
            <a:endParaRPr lang="en-US" sz="1200" dirty="0"/>
          </a:p>
        </p:txBody>
      </p:sp>
      <p:sp>
        <p:nvSpPr>
          <p:cNvPr id="10" name="Shape 8"/>
          <p:cNvSpPr/>
          <p:nvPr/>
        </p:nvSpPr>
        <p:spPr>
          <a:xfrm>
            <a:off x="8001000" y="1828800"/>
            <a:ext cx="274320" cy="502920"/>
          </a:xfrm>
          <a:prstGeom prst="rect">
            <a:avLst/>
          </a:prstGeom>
          <a:solidFill>
            <a:schemeClr val="accent6"/>
          </a:solidFill>
          <a:ln w="15875">
            <a:solidFill>
              <a:schemeClr val="tx1"/>
            </a:solidFill>
            <a:prstDash val="solid"/>
          </a:ln>
        </p:spPr>
      </p:sp>
      <p:sp>
        <p:nvSpPr>
          <p:cNvPr id="11" name="Shape 9"/>
          <p:cNvSpPr/>
          <p:nvPr/>
        </p:nvSpPr>
        <p:spPr>
          <a:xfrm>
            <a:off x="8087868" y="2029968"/>
            <a:ext cx="100584" cy="100584"/>
          </a:xfrm>
          <a:prstGeom prst="ellipse">
            <a:avLst/>
          </a:prstGeom>
          <a:solidFill>
            <a:schemeClr val="tx1"/>
          </a:solidFill>
          <a:ln w="12700">
            <a:solidFill>
              <a:schemeClr val="tx1"/>
            </a:solidFill>
            <a:prstDash val="solid"/>
          </a:ln>
        </p:spPr>
      </p:sp>
      <p:sp>
        <p:nvSpPr>
          <p:cNvPr id="12" name="Shape 10"/>
          <p:cNvSpPr/>
          <p:nvPr/>
        </p:nvSpPr>
        <p:spPr>
          <a:xfrm>
            <a:off x="8549640" y="1828800"/>
            <a:ext cx="274320" cy="502920"/>
          </a:xfrm>
          <a:prstGeom prst="rect">
            <a:avLst/>
          </a:prstGeom>
          <a:solidFill>
            <a:schemeClr val="accent6"/>
          </a:solidFill>
          <a:ln w="15875">
            <a:solidFill>
              <a:schemeClr val="tx1"/>
            </a:solidFill>
            <a:prstDash val="solid"/>
          </a:ln>
        </p:spPr>
      </p:sp>
      <p:sp>
        <p:nvSpPr>
          <p:cNvPr id="13" name="Shape 11"/>
          <p:cNvSpPr/>
          <p:nvPr/>
        </p:nvSpPr>
        <p:spPr>
          <a:xfrm>
            <a:off x="8636508" y="2029968"/>
            <a:ext cx="100584" cy="100584"/>
          </a:xfrm>
          <a:prstGeom prst="ellipse">
            <a:avLst/>
          </a:prstGeom>
          <a:solidFill>
            <a:schemeClr val="tx1"/>
          </a:solidFill>
          <a:ln w="12700">
            <a:solidFill>
              <a:schemeClr val="tx1"/>
            </a:solidFill>
            <a:prstDash val="solid"/>
          </a:ln>
        </p:spPr>
      </p:sp>
      <p:sp>
        <p:nvSpPr>
          <p:cNvPr id="14" name="Shape 12"/>
          <p:cNvSpPr/>
          <p:nvPr/>
        </p:nvSpPr>
        <p:spPr>
          <a:xfrm>
            <a:off x="8823960" y="1828800"/>
            <a:ext cx="777240" cy="502920"/>
          </a:xfrm>
          <a:prstGeom prst="rect">
            <a:avLst/>
          </a:prstGeom>
          <a:solidFill>
            <a:schemeClr val="accent6"/>
          </a:solidFill>
          <a:ln w="15875">
            <a:solidFill>
              <a:schemeClr val="tx1"/>
            </a:solidFill>
            <a:prstDash val="solid"/>
          </a:ln>
        </p:spPr>
      </p:sp>
      <p:sp>
        <p:nvSpPr>
          <p:cNvPr id="15" name="Text 13"/>
          <p:cNvSpPr txBox="1"/>
          <p:nvPr/>
        </p:nvSpPr>
        <p:spPr>
          <a:xfrm>
            <a:off x="8823960" y="182880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d1-h5</a:t>
            </a:r>
            <a:endParaRPr lang="en-US" sz="1200" dirty="0"/>
          </a:p>
        </p:txBody>
      </p:sp>
      <p:sp>
        <p:nvSpPr>
          <p:cNvPr id="16" name="Shape 14"/>
          <p:cNvSpPr/>
          <p:nvPr/>
        </p:nvSpPr>
        <p:spPr>
          <a:xfrm>
            <a:off x="9601200" y="1828800"/>
            <a:ext cx="274320" cy="502920"/>
          </a:xfrm>
          <a:prstGeom prst="rect">
            <a:avLst/>
          </a:prstGeom>
          <a:solidFill>
            <a:schemeClr val="accent6"/>
          </a:solidFill>
          <a:ln w="15875">
            <a:solidFill>
              <a:schemeClr val="tx1"/>
            </a:solidFill>
            <a:prstDash val="solid"/>
          </a:ln>
        </p:spPr>
      </p:sp>
      <p:sp>
        <p:nvSpPr>
          <p:cNvPr id="17" name="Shape 15"/>
          <p:cNvSpPr/>
          <p:nvPr/>
        </p:nvSpPr>
        <p:spPr>
          <a:xfrm>
            <a:off x="9688068" y="2029968"/>
            <a:ext cx="100584" cy="100584"/>
          </a:xfrm>
          <a:prstGeom prst="ellipse">
            <a:avLst/>
          </a:prstGeom>
          <a:solidFill>
            <a:schemeClr val="tx1"/>
          </a:solidFill>
          <a:ln w="12700">
            <a:solidFill>
              <a:schemeClr val="tx1"/>
            </a:solidFill>
            <a:prstDash val="solid"/>
          </a:ln>
        </p:spPr>
      </p:sp>
      <p:sp>
        <p:nvSpPr>
          <p:cNvPr id="18" name="Shape 16"/>
          <p:cNvSpPr/>
          <p:nvPr/>
        </p:nvSpPr>
        <p:spPr>
          <a:xfrm>
            <a:off x="8138160" y="1989734"/>
            <a:ext cx="393192" cy="914"/>
          </a:xfrm>
          <a:prstGeom prst="line">
            <a:avLst/>
          </a:prstGeom>
          <a:noFill/>
          <a:ln w="22225">
            <a:solidFill>
              <a:schemeClr val="tx1"/>
            </a:solidFill>
            <a:prstDash val="solid"/>
            <a:tailEnd type="triangle"/>
          </a:ln>
        </p:spPr>
      </p:sp>
      <p:sp>
        <p:nvSpPr>
          <p:cNvPr id="19" name="Shape 17"/>
          <p:cNvSpPr/>
          <p:nvPr/>
        </p:nvSpPr>
        <p:spPr>
          <a:xfrm flipH="1">
            <a:off x="8293608" y="2180844"/>
            <a:ext cx="393192" cy="914"/>
          </a:xfrm>
          <a:prstGeom prst="line">
            <a:avLst/>
          </a:prstGeom>
          <a:noFill/>
          <a:ln w="22225">
            <a:solidFill>
              <a:schemeClr val="accent4"/>
            </a:solidFill>
            <a:prstDash val="solid"/>
            <a:tailEnd type="triangle"/>
          </a:ln>
        </p:spPr>
      </p:sp>
      <p:sp>
        <p:nvSpPr>
          <p:cNvPr id="20" name="Text 18"/>
          <p:cNvSpPr txBox="1"/>
          <p:nvPr/>
        </p:nvSpPr>
        <p:spPr>
          <a:xfrm>
            <a:off x="8915400" y="2395728"/>
            <a:ext cx="1188720" cy="274320"/>
          </a:xfrm>
          <a:prstGeom prst="rect">
            <a:avLst/>
          </a:prstGeom>
          <a:noFill/>
          <a:ln/>
        </p:spPr>
        <p:txBody>
          <a:bodyPr wrap="square" lIns="0" tIns="0" rIns="0" bIns="0" rtlCol="0" anchor="t"/>
          <a:lstStyle/>
          <a:p>
            <a:pPr indent="0" marL="0">
              <a:buNone/>
            </a:pPr>
            <a:r>
              <a:rPr lang="en-US" sz="1200" b="1" dirty="0">
                <a:solidFill>
                  <a:schemeClr val="accent3"/>
                </a:solidFill>
                <a:latin typeface="Courier New" pitchFamily="34" charset="0"/>
                <a:ea typeface="Courier New" pitchFamily="34" charset="-122"/>
                <a:cs typeface="Courier New" pitchFamily="34" charset="-120"/>
              </a:rPr>
              <a:t>cola</a:t>
            </a:r>
            <a:endParaRPr lang="en-US" sz="1200" dirty="0"/>
          </a:p>
        </p:txBody>
      </p:sp>
      <p:sp>
        <p:nvSpPr>
          <p:cNvPr id="21" name="Text 19"/>
          <p:cNvSpPr txBox="1"/>
          <p:nvPr/>
        </p:nvSpPr>
        <p:spPr>
          <a:xfrm>
            <a:off x="6949440" y="2788920"/>
            <a:ext cx="4754880" cy="320040"/>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modificarUltimo(jugada.conEstado(JAQUE))</a:t>
            </a:r>
            <a:endParaRPr lang="en-US" sz="1200" dirty="0"/>
          </a:p>
        </p:txBody>
      </p:sp>
      <p:sp>
        <p:nvSpPr>
          <p:cNvPr id="22" name="Text 20"/>
          <p:cNvSpPr txBox="1"/>
          <p:nvPr/>
        </p:nvSpPr>
        <p:spPr>
          <a:xfrm>
            <a:off x="6949440" y="3200400"/>
            <a:ext cx="1828800" cy="320040"/>
          </a:xfrm>
          <a:prstGeom prst="rect">
            <a:avLst/>
          </a:prstGeom>
          <a:noFill/>
          <a:ln/>
        </p:spPr>
        <p:txBody>
          <a:bodyPr wrap="square" lIns="0" tIns="0" rIns="0" bIns="0" rtlCol="0" anchor="t"/>
          <a:lstStyle/>
          <a:p>
            <a:pPr indent="0" marL="0">
              <a:buNone/>
            </a:pPr>
            <a:r>
              <a:rPr lang="en-US" sz="1500" b="1" dirty="0">
                <a:solidFill>
                  <a:schemeClr val="tx2"/>
                </a:solidFill>
              </a:rPr>
              <a:t>Después</a:t>
            </a:r>
            <a:endParaRPr lang="en-US" sz="1500" dirty="0"/>
          </a:p>
        </p:txBody>
      </p:sp>
      <p:sp>
        <p:nvSpPr>
          <p:cNvPr id="23" name="Shape 21"/>
          <p:cNvSpPr/>
          <p:nvPr/>
        </p:nvSpPr>
        <p:spPr>
          <a:xfrm>
            <a:off x="6949440" y="3703320"/>
            <a:ext cx="274320" cy="502920"/>
          </a:xfrm>
          <a:prstGeom prst="rect">
            <a:avLst/>
          </a:prstGeom>
          <a:solidFill>
            <a:schemeClr val="accent6"/>
          </a:solidFill>
          <a:ln w="15875">
            <a:solidFill>
              <a:schemeClr val="tx1"/>
            </a:solidFill>
            <a:prstDash val="solid"/>
          </a:ln>
        </p:spPr>
      </p:sp>
      <p:sp>
        <p:nvSpPr>
          <p:cNvPr id="24" name="Shape 22"/>
          <p:cNvSpPr/>
          <p:nvPr/>
        </p:nvSpPr>
        <p:spPr>
          <a:xfrm>
            <a:off x="7036308" y="3904488"/>
            <a:ext cx="100584" cy="100584"/>
          </a:xfrm>
          <a:prstGeom prst="ellipse">
            <a:avLst/>
          </a:prstGeom>
          <a:solidFill>
            <a:schemeClr val="tx1"/>
          </a:solidFill>
          <a:ln w="12700">
            <a:solidFill>
              <a:schemeClr val="tx1"/>
            </a:solidFill>
            <a:prstDash val="solid"/>
          </a:ln>
        </p:spPr>
      </p:sp>
      <p:sp>
        <p:nvSpPr>
          <p:cNvPr id="25" name="Shape 23"/>
          <p:cNvSpPr/>
          <p:nvPr/>
        </p:nvSpPr>
        <p:spPr>
          <a:xfrm>
            <a:off x="7223760" y="3703320"/>
            <a:ext cx="777240" cy="502920"/>
          </a:xfrm>
          <a:prstGeom prst="rect">
            <a:avLst/>
          </a:prstGeom>
          <a:solidFill>
            <a:schemeClr val="accent6"/>
          </a:solidFill>
          <a:ln w="15875">
            <a:solidFill>
              <a:schemeClr val="tx1"/>
            </a:solidFill>
            <a:prstDash val="solid"/>
          </a:ln>
        </p:spPr>
      </p:sp>
      <p:sp>
        <p:nvSpPr>
          <p:cNvPr id="26" name="Text 24"/>
          <p:cNvSpPr txBox="1"/>
          <p:nvPr/>
        </p:nvSpPr>
        <p:spPr>
          <a:xfrm>
            <a:off x="7223760" y="370332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e7-e5</a:t>
            </a:r>
            <a:endParaRPr lang="en-US" sz="1200" dirty="0"/>
          </a:p>
        </p:txBody>
      </p:sp>
      <p:sp>
        <p:nvSpPr>
          <p:cNvPr id="27" name="Shape 25"/>
          <p:cNvSpPr/>
          <p:nvPr/>
        </p:nvSpPr>
        <p:spPr>
          <a:xfrm>
            <a:off x="8001000" y="3703320"/>
            <a:ext cx="274320" cy="502920"/>
          </a:xfrm>
          <a:prstGeom prst="rect">
            <a:avLst/>
          </a:prstGeom>
          <a:solidFill>
            <a:schemeClr val="accent6"/>
          </a:solidFill>
          <a:ln w="15875">
            <a:solidFill>
              <a:schemeClr val="tx1"/>
            </a:solidFill>
            <a:prstDash val="solid"/>
          </a:ln>
        </p:spPr>
      </p:sp>
      <p:sp>
        <p:nvSpPr>
          <p:cNvPr id="28" name="Shape 26"/>
          <p:cNvSpPr/>
          <p:nvPr/>
        </p:nvSpPr>
        <p:spPr>
          <a:xfrm>
            <a:off x="8087868" y="3904488"/>
            <a:ext cx="100584" cy="100584"/>
          </a:xfrm>
          <a:prstGeom prst="ellipse">
            <a:avLst/>
          </a:prstGeom>
          <a:solidFill>
            <a:schemeClr val="tx1"/>
          </a:solidFill>
          <a:ln w="12700">
            <a:solidFill>
              <a:schemeClr val="tx1"/>
            </a:solidFill>
            <a:prstDash val="solid"/>
          </a:ln>
        </p:spPr>
      </p:sp>
      <p:sp>
        <p:nvSpPr>
          <p:cNvPr id="29" name="Shape 27"/>
          <p:cNvSpPr/>
          <p:nvPr/>
        </p:nvSpPr>
        <p:spPr>
          <a:xfrm>
            <a:off x="8549640" y="3703320"/>
            <a:ext cx="274320" cy="502920"/>
          </a:xfrm>
          <a:prstGeom prst="rect">
            <a:avLst/>
          </a:prstGeom>
          <a:solidFill>
            <a:schemeClr val="accent1"/>
          </a:solidFill>
          <a:ln w="15875">
            <a:solidFill>
              <a:schemeClr val="tx1"/>
            </a:solidFill>
            <a:prstDash val="solid"/>
          </a:ln>
        </p:spPr>
      </p:sp>
      <p:sp>
        <p:nvSpPr>
          <p:cNvPr id="30" name="Shape 28"/>
          <p:cNvSpPr/>
          <p:nvPr/>
        </p:nvSpPr>
        <p:spPr>
          <a:xfrm>
            <a:off x="8636508" y="3904488"/>
            <a:ext cx="100584" cy="100584"/>
          </a:xfrm>
          <a:prstGeom prst="ellipse">
            <a:avLst/>
          </a:prstGeom>
          <a:solidFill>
            <a:schemeClr val="tx1"/>
          </a:solidFill>
          <a:ln w="12700">
            <a:solidFill>
              <a:schemeClr val="tx1"/>
            </a:solidFill>
            <a:prstDash val="solid"/>
          </a:ln>
        </p:spPr>
      </p:sp>
      <p:sp>
        <p:nvSpPr>
          <p:cNvPr id="31" name="Shape 29"/>
          <p:cNvSpPr/>
          <p:nvPr/>
        </p:nvSpPr>
        <p:spPr>
          <a:xfrm>
            <a:off x="8823960" y="3703320"/>
            <a:ext cx="777240" cy="502920"/>
          </a:xfrm>
          <a:prstGeom prst="rect">
            <a:avLst/>
          </a:prstGeom>
          <a:solidFill>
            <a:schemeClr val="accent1"/>
          </a:solidFill>
          <a:ln w="15875">
            <a:solidFill>
              <a:schemeClr val="tx1"/>
            </a:solidFill>
            <a:prstDash val="solid"/>
          </a:ln>
        </p:spPr>
      </p:sp>
      <p:sp>
        <p:nvSpPr>
          <p:cNvPr id="32" name="Text 30"/>
          <p:cNvSpPr txBox="1"/>
          <p:nvPr/>
        </p:nvSpPr>
        <p:spPr>
          <a:xfrm>
            <a:off x="8823960" y="370332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d1-h5+</a:t>
            </a:r>
            <a:endParaRPr lang="en-US" sz="1200" dirty="0"/>
          </a:p>
        </p:txBody>
      </p:sp>
      <p:sp>
        <p:nvSpPr>
          <p:cNvPr id="33" name="Shape 31"/>
          <p:cNvSpPr/>
          <p:nvPr/>
        </p:nvSpPr>
        <p:spPr>
          <a:xfrm>
            <a:off x="9601200" y="3703320"/>
            <a:ext cx="274320" cy="502920"/>
          </a:xfrm>
          <a:prstGeom prst="rect">
            <a:avLst/>
          </a:prstGeom>
          <a:solidFill>
            <a:schemeClr val="accent1"/>
          </a:solidFill>
          <a:ln w="15875">
            <a:solidFill>
              <a:schemeClr val="tx1"/>
            </a:solidFill>
            <a:prstDash val="solid"/>
          </a:ln>
        </p:spPr>
      </p:sp>
      <p:sp>
        <p:nvSpPr>
          <p:cNvPr id="34" name="Shape 32"/>
          <p:cNvSpPr/>
          <p:nvPr/>
        </p:nvSpPr>
        <p:spPr>
          <a:xfrm>
            <a:off x="9688068" y="3904488"/>
            <a:ext cx="100584" cy="100584"/>
          </a:xfrm>
          <a:prstGeom prst="ellipse">
            <a:avLst/>
          </a:prstGeom>
          <a:solidFill>
            <a:schemeClr val="tx1"/>
          </a:solidFill>
          <a:ln w="12700">
            <a:solidFill>
              <a:schemeClr val="tx1"/>
            </a:solidFill>
            <a:prstDash val="solid"/>
          </a:ln>
        </p:spPr>
      </p:sp>
      <p:sp>
        <p:nvSpPr>
          <p:cNvPr id="35" name="Shape 33"/>
          <p:cNvSpPr/>
          <p:nvPr/>
        </p:nvSpPr>
        <p:spPr>
          <a:xfrm>
            <a:off x="8138160" y="3864254"/>
            <a:ext cx="393192" cy="914"/>
          </a:xfrm>
          <a:prstGeom prst="line">
            <a:avLst/>
          </a:prstGeom>
          <a:noFill/>
          <a:ln w="22225">
            <a:solidFill>
              <a:schemeClr val="tx1"/>
            </a:solidFill>
            <a:prstDash val="solid"/>
            <a:tailEnd type="triangle"/>
          </a:ln>
        </p:spPr>
      </p:sp>
      <p:sp>
        <p:nvSpPr>
          <p:cNvPr id="36" name="Shape 34"/>
          <p:cNvSpPr/>
          <p:nvPr/>
        </p:nvSpPr>
        <p:spPr>
          <a:xfrm flipH="1">
            <a:off x="8293608" y="4055364"/>
            <a:ext cx="393192" cy="914"/>
          </a:xfrm>
          <a:prstGeom prst="line">
            <a:avLst/>
          </a:prstGeom>
          <a:noFill/>
          <a:ln w="22225">
            <a:solidFill>
              <a:schemeClr val="accent4"/>
            </a:solidFill>
            <a:prstDash val="solid"/>
            <a:tailEnd type="triangle"/>
          </a:ln>
        </p:spPr>
      </p:sp>
      <p:sp>
        <p:nvSpPr>
          <p:cNvPr id="37" name="Text 35"/>
          <p:cNvSpPr txBox="1"/>
          <p:nvPr/>
        </p:nvSpPr>
        <p:spPr>
          <a:xfrm>
            <a:off x="8915400" y="4270248"/>
            <a:ext cx="1188720" cy="274320"/>
          </a:xfrm>
          <a:prstGeom prst="rect">
            <a:avLst/>
          </a:prstGeom>
          <a:noFill/>
          <a:ln/>
        </p:spPr>
        <p:txBody>
          <a:bodyPr wrap="square" lIns="0" tIns="0" rIns="0" bIns="0" rtlCol="0" anchor="t"/>
          <a:lstStyle/>
          <a:p>
            <a:pPr indent="0" marL="0">
              <a:buNone/>
            </a:pPr>
            <a:r>
              <a:rPr lang="en-US" sz="1200" b="1" dirty="0">
                <a:solidFill>
                  <a:schemeClr val="accent3"/>
                </a:solidFill>
                <a:latin typeface="Courier New" pitchFamily="34" charset="0"/>
                <a:ea typeface="Courier New" pitchFamily="34" charset="-122"/>
                <a:cs typeface="Courier New" pitchFamily="34" charset="-120"/>
              </a:rPr>
              <a:t>cola</a:t>
            </a:r>
            <a:endParaRPr lang="en-US" sz="1200" dirty="0"/>
          </a:p>
        </p:txBody>
      </p:sp>
      <p:sp>
        <p:nvSpPr>
          <p:cNvPr id="38" name="Shape 36"/>
          <p:cNvSpPr/>
          <p:nvPr/>
        </p:nvSpPr>
        <p:spPr>
          <a:xfrm>
            <a:off x="6903720" y="4709160"/>
            <a:ext cx="4709160" cy="1417320"/>
          </a:xfrm>
          <a:prstGeom prst="roundRect">
            <a:avLst>
              <a:gd name="adj" fmla="val 5161"/>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39" name="Text 37"/>
          <p:cNvSpPr txBox="1"/>
          <p:nvPr/>
        </p:nvSpPr>
        <p:spPr>
          <a:xfrm>
            <a:off x="7132320" y="4873752"/>
            <a:ext cx="4251960" cy="365760"/>
          </a:xfrm>
          <a:prstGeom prst="rect">
            <a:avLst/>
          </a:prstGeom>
          <a:noFill/>
          <a:ln/>
        </p:spPr>
        <p:txBody>
          <a:bodyPr wrap="square" lIns="0" tIns="0" rIns="0" bIns="0" rtlCol="0" anchor="t"/>
          <a:lstStyle/>
          <a:p>
            <a:pPr indent="0" marL="0">
              <a:buNone/>
            </a:pPr>
            <a:r>
              <a:rPr lang="en-US" sz="1700" b="1" dirty="0">
                <a:solidFill>
                  <a:schemeClr val="tx1"/>
                </a:solidFill>
              </a:rPr>
              <a:t>Estructura intacta</a:t>
            </a:r>
            <a:endParaRPr lang="en-US" sz="1700" dirty="0"/>
          </a:p>
        </p:txBody>
      </p:sp>
      <p:sp>
        <p:nvSpPr>
          <p:cNvPr id="40" name="Text 38"/>
          <p:cNvSpPr txBox="1"/>
          <p:nvPr/>
        </p:nvSpPr>
        <p:spPr>
          <a:xfrm>
            <a:off x="7132320" y="5276088"/>
            <a:ext cx="4251960" cy="731520"/>
          </a:xfrm>
          <a:prstGeom prst="rect">
            <a:avLst/>
          </a:prstGeom>
          <a:noFill/>
          <a:ln/>
        </p:spPr>
        <p:txBody>
          <a:bodyPr wrap="square" lIns="0" tIns="0" rIns="0" bIns="0" rtlCol="0" anchor="t"/>
          <a:lstStyle/>
          <a:p>
            <a:pPr indent="0" marL="0">
              <a:buNone/>
            </a:pPr>
            <a:r>
              <a:rPr lang="en-US" sz="1400" dirty="0">
                <a:solidFill>
                  <a:schemeClr val="tx2"/>
                </a:solidFill>
              </a:rPr>
              <a:t>No cambia punteros ni tamanio, y no incrementa modificaciones: un recorrido en curso sigue siendo válido.</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Eliminar · desenlazar: un solo punto de salida</a:t>
            </a:r>
            <a:endParaRPr lang="en-US" sz="3200" dirty="0"/>
          </a:p>
        </p:txBody>
      </p:sp>
      <p:sp>
        <p:nvSpPr>
          <p:cNvPr id="3" name="bloque de código"/>
          <p:cNvSpPr/>
          <p:nvPr/>
        </p:nvSpPr>
        <p:spPr>
          <a:xfrm>
            <a:off x="548640" y="1280160"/>
            <a:ext cx="5760720" cy="4084320"/>
          </a:xfrm>
          <a:prstGeom prst="roundRect">
            <a:avLst>
              <a:gd name="adj" fmla="val 1343"/>
            </a:avLst>
          </a:prstGeom>
          <a:solidFill>
            <a:schemeClr val="tx2"/>
          </a:solidFill>
          <a:ln w="12700">
            <a:solidFill>
              <a:schemeClr val="tx2"/>
            </a:solidFill>
            <a:prstDash val="solid"/>
          </a:ln>
        </p:spPr>
      </p:sp>
      <p:sp>
        <p:nvSpPr>
          <p:cNvPr id="4" name="Text 2"/>
          <p:cNvSpPr txBox="1"/>
          <p:nvPr/>
        </p:nvSpPr>
        <p:spPr>
          <a:xfrm>
            <a:off x="749808" y="1444752"/>
            <a:ext cx="5394960" cy="381000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private T desenlazar(Nodo&lt;T&gt; nodo)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Nodo&lt;T&gt; predecesor = nodo.anterior;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Nodo&lt;T&gt; sucesor = nodo.siguiente;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if (predecesor == null) cabeza = sucesor;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else predecesor.siguiente = sucesor;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if (sucesor == null) cola = predecesor;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else sucesor.anterior = predecesor;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 dato = nodo.dato;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nodo.dato = null;     </a:t>
            </a:r>
            <a:pPr indent="0" marL="0">
              <a:buNone/>
            </a:pPr>
            <a:r>
              <a:rPr lang="en-US" sz="1400" dirty="0">
                <a:solidFill>
                  <a:schemeClr val="accent1"/>
                </a:solidFill>
                <a:latin typeface="Courier New" pitchFamily="34" charset="0"/>
                <a:ea typeface="Courier New" pitchFamily="34" charset="-122"/>
                <a:cs typeface="Courier New" pitchFamily="34" charset="-120"/>
              </a:rPr>
              <a:t>// liberar para el GC</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nodo.anterior = null;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nodo.siguiente = null;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tamanio--; modificaciones++;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dato;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Shape 3"/>
          <p:cNvSpPr/>
          <p:nvPr/>
        </p:nvSpPr>
        <p:spPr>
          <a:xfrm>
            <a:off x="6949440" y="1600200"/>
            <a:ext cx="274320" cy="502920"/>
          </a:xfrm>
          <a:prstGeom prst="rect">
            <a:avLst/>
          </a:prstGeom>
          <a:solidFill>
            <a:schemeClr val="accent6"/>
          </a:solidFill>
          <a:ln w="15875">
            <a:solidFill>
              <a:schemeClr val="tx1"/>
            </a:solidFill>
            <a:prstDash val="solid"/>
          </a:ln>
        </p:spPr>
      </p:sp>
      <p:sp>
        <p:nvSpPr>
          <p:cNvPr id="6" name="Shape 4"/>
          <p:cNvSpPr/>
          <p:nvPr/>
        </p:nvSpPr>
        <p:spPr>
          <a:xfrm>
            <a:off x="7036308" y="1801368"/>
            <a:ext cx="100584" cy="100584"/>
          </a:xfrm>
          <a:prstGeom prst="ellipse">
            <a:avLst/>
          </a:prstGeom>
          <a:solidFill>
            <a:schemeClr val="tx1"/>
          </a:solidFill>
          <a:ln w="12700">
            <a:solidFill>
              <a:schemeClr val="tx1"/>
            </a:solidFill>
            <a:prstDash val="solid"/>
          </a:ln>
        </p:spPr>
      </p:sp>
      <p:sp>
        <p:nvSpPr>
          <p:cNvPr id="7" name="Shape 5"/>
          <p:cNvSpPr/>
          <p:nvPr/>
        </p:nvSpPr>
        <p:spPr>
          <a:xfrm>
            <a:off x="7223760" y="1600200"/>
            <a:ext cx="777240" cy="502920"/>
          </a:xfrm>
          <a:prstGeom prst="rect">
            <a:avLst/>
          </a:prstGeom>
          <a:solidFill>
            <a:schemeClr val="accent6"/>
          </a:solidFill>
          <a:ln w="15875">
            <a:solidFill>
              <a:schemeClr val="tx1"/>
            </a:solidFill>
            <a:prstDash val="solid"/>
          </a:ln>
        </p:spPr>
      </p:sp>
      <p:sp>
        <p:nvSpPr>
          <p:cNvPr id="8" name="Text 6"/>
          <p:cNvSpPr txBox="1"/>
          <p:nvPr/>
        </p:nvSpPr>
        <p:spPr>
          <a:xfrm>
            <a:off x="7223760" y="160020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A</a:t>
            </a:r>
            <a:endParaRPr lang="en-US" sz="1200" dirty="0"/>
          </a:p>
        </p:txBody>
      </p:sp>
      <p:sp>
        <p:nvSpPr>
          <p:cNvPr id="9" name="Shape 7"/>
          <p:cNvSpPr/>
          <p:nvPr/>
        </p:nvSpPr>
        <p:spPr>
          <a:xfrm>
            <a:off x="8001000" y="1600200"/>
            <a:ext cx="274320" cy="502920"/>
          </a:xfrm>
          <a:prstGeom prst="rect">
            <a:avLst/>
          </a:prstGeom>
          <a:solidFill>
            <a:schemeClr val="accent6"/>
          </a:solidFill>
          <a:ln w="15875">
            <a:solidFill>
              <a:schemeClr val="tx1"/>
            </a:solidFill>
            <a:prstDash val="solid"/>
          </a:ln>
        </p:spPr>
      </p:sp>
      <p:sp>
        <p:nvSpPr>
          <p:cNvPr id="10" name="Shape 8"/>
          <p:cNvSpPr/>
          <p:nvPr/>
        </p:nvSpPr>
        <p:spPr>
          <a:xfrm>
            <a:off x="8087868" y="1801368"/>
            <a:ext cx="100584" cy="100584"/>
          </a:xfrm>
          <a:prstGeom prst="ellipse">
            <a:avLst/>
          </a:prstGeom>
          <a:solidFill>
            <a:schemeClr val="tx1"/>
          </a:solidFill>
          <a:ln w="12700">
            <a:solidFill>
              <a:schemeClr val="tx1"/>
            </a:solidFill>
            <a:prstDash val="solid"/>
          </a:ln>
        </p:spPr>
      </p:sp>
      <p:sp>
        <p:nvSpPr>
          <p:cNvPr id="11" name="Shape 9"/>
          <p:cNvSpPr/>
          <p:nvPr/>
        </p:nvSpPr>
        <p:spPr>
          <a:xfrm>
            <a:off x="8549640" y="1600200"/>
            <a:ext cx="274320" cy="502920"/>
          </a:xfrm>
          <a:prstGeom prst="rect">
            <a:avLst/>
          </a:prstGeom>
          <a:solidFill>
            <a:schemeClr val="accent3"/>
          </a:solidFill>
          <a:ln w="15875">
            <a:solidFill>
              <a:schemeClr val="tx1"/>
            </a:solidFill>
            <a:prstDash val="solid"/>
          </a:ln>
        </p:spPr>
      </p:sp>
      <p:sp>
        <p:nvSpPr>
          <p:cNvPr id="12" name="Shape 10"/>
          <p:cNvSpPr/>
          <p:nvPr/>
        </p:nvSpPr>
        <p:spPr>
          <a:xfrm>
            <a:off x="8636508" y="1801368"/>
            <a:ext cx="100584" cy="100584"/>
          </a:xfrm>
          <a:prstGeom prst="ellipse">
            <a:avLst/>
          </a:prstGeom>
          <a:solidFill>
            <a:schemeClr val="tx1"/>
          </a:solidFill>
          <a:ln w="12700">
            <a:solidFill>
              <a:schemeClr val="tx1"/>
            </a:solidFill>
            <a:prstDash val="solid"/>
          </a:ln>
        </p:spPr>
      </p:sp>
      <p:sp>
        <p:nvSpPr>
          <p:cNvPr id="13" name="Shape 11"/>
          <p:cNvSpPr/>
          <p:nvPr/>
        </p:nvSpPr>
        <p:spPr>
          <a:xfrm>
            <a:off x="8823960" y="1600200"/>
            <a:ext cx="777240" cy="502920"/>
          </a:xfrm>
          <a:prstGeom prst="rect">
            <a:avLst/>
          </a:prstGeom>
          <a:solidFill>
            <a:schemeClr val="accent3"/>
          </a:solidFill>
          <a:ln w="15875">
            <a:solidFill>
              <a:schemeClr val="tx1"/>
            </a:solidFill>
            <a:prstDash val="solid"/>
          </a:ln>
        </p:spPr>
      </p:sp>
      <p:sp>
        <p:nvSpPr>
          <p:cNvPr id="14" name="Text 12"/>
          <p:cNvSpPr txBox="1"/>
          <p:nvPr/>
        </p:nvSpPr>
        <p:spPr>
          <a:xfrm>
            <a:off x="8823960" y="160020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B</a:t>
            </a:r>
            <a:endParaRPr lang="en-US" sz="1200" dirty="0"/>
          </a:p>
        </p:txBody>
      </p:sp>
      <p:sp>
        <p:nvSpPr>
          <p:cNvPr id="15" name="Shape 13"/>
          <p:cNvSpPr/>
          <p:nvPr/>
        </p:nvSpPr>
        <p:spPr>
          <a:xfrm>
            <a:off x="9601200" y="1600200"/>
            <a:ext cx="274320" cy="502920"/>
          </a:xfrm>
          <a:prstGeom prst="rect">
            <a:avLst/>
          </a:prstGeom>
          <a:solidFill>
            <a:schemeClr val="accent3"/>
          </a:solidFill>
          <a:ln w="15875">
            <a:solidFill>
              <a:schemeClr val="tx1"/>
            </a:solidFill>
            <a:prstDash val="solid"/>
          </a:ln>
        </p:spPr>
      </p:sp>
      <p:sp>
        <p:nvSpPr>
          <p:cNvPr id="16" name="Shape 14"/>
          <p:cNvSpPr/>
          <p:nvPr/>
        </p:nvSpPr>
        <p:spPr>
          <a:xfrm>
            <a:off x="9688068" y="1801368"/>
            <a:ext cx="100584" cy="100584"/>
          </a:xfrm>
          <a:prstGeom prst="ellipse">
            <a:avLst/>
          </a:prstGeom>
          <a:solidFill>
            <a:schemeClr val="tx1"/>
          </a:solidFill>
          <a:ln w="12700">
            <a:solidFill>
              <a:schemeClr val="tx1"/>
            </a:solidFill>
            <a:prstDash val="solid"/>
          </a:ln>
        </p:spPr>
      </p:sp>
      <p:sp>
        <p:nvSpPr>
          <p:cNvPr id="17" name="Shape 15"/>
          <p:cNvSpPr/>
          <p:nvPr/>
        </p:nvSpPr>
        <p:spPr>
          <a:xfrm>
            <a:off x="10149840" y="1600200"/>
            <a:ext cx="274320" cy="502920"/>
          </a:xfrm>
          <a:prstGeom prst="rect">
            <a:avLst/>
          </a:prstGeom>
          <a:solidFill>
            <a:schemeClr val="accent6"/>
          </a:solidFill>
          <a:ln w="15875">
            <a:solidFill>
              <a:schemeClr val="tx1"/>
            </a:solidFill>
            <a:prstDash val="solid"/>
          </a:ln>
        </p:spPr>
      </p:sp>
      <p:sp>
        <p:nvSpPr>
          <p:cNvPr id="18" name="Shape 16"/>
          <p:cNvSpPr/>
          <p:nvPr/>
        </p:nvSpPr>
        <p:spPr>
          <a:xfrm>
            <a:off x="10236708" y="1801368"/>
            <a:ext cx="100584" cy="100584"/>
          </a:xfrm>
          <a:prstGeom prst="ellipse">
            <a:avLst/>
          </a:prstGeom>
          <a:solidFill>
            <a:schemeClr val="tx1"/>
          </a:solidFill>
          <a:ln w="12700">
            <a:solidFill>
              <a:schemeClr val="tx1"/>
            </a:solidFill>
            <a:prstDash val="solid"/>
          </a:ln>
        </p:spPr>
      </p:sp>
      <p:sp>
        <p:nvSpPr>
          <p:cNvPr id="19" name="Shape 17"/>
          <p:cNvSpPr/>
          <p:nvPr/>
        </p:nvSpPr>
        <p:spPr>
          <a:xfrm>
            <a:off x="10424160" y="1600200"/>
            <a:ext cx="777240" cy="502920"/>
          </a:xfrm>
          <a:prstGeom prst="rect">
            <a:avLst/>
          </a:prstGeom>
          <a:solidFill>
            <a:schemeClr val="accent6"/>
          </a:solidFill>
          <a:ln w="15875">
            <a:solidFill>
              <a:schemeClr val="tx1"/>
            </a:solidFill>
            <a:prstDash val="solid"/>
          </a:ln>
        </p:spPr>
      </p:sp>
      <p:sp>
        <p:nvSpPr>
          <p:cNvPr id="20" name="Text 18"/>
          <p:cNvSpPr txBox="1"/>
          <p:nvPr/>
        </p:nvSpPr>
        <p:spPr>
          <a:xfrm>
            <a:off x="10424160" y="160020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a:t>
            </a:r>
            <a:endParaRPr lang="en-US" sz="1200" dirty="0"/>
          </a:p>
        </p:txBody>
      </p:sp>
      <p:sp>
        <p:nvSpPr>
          <p:cNvPr id="21" name="Shape 19"/>
          <p:cNvSpPr/>
          <p:nvPr/>
        </p:nvSpPr>
        <p:spPr>
          <a:xfrm>
            <a:off x="11201400" y="1600200"/>
            <a:ext cx="274320" cy="502920"/>
          </a:xfrm>
          <a:prstGeom prst="rect">
            <a:avLst/>
          </a:prstGeom>
          <a:solidFill>
            <a:schemeClr val="accent6"/>
          </a:solidFill>
          <a:ln w="15875">
            <a:solidFill>
              <a:schemeClr val="tx1"/>
            </a:solidFill>
            <a:prstDash val="solid"/>
          </a:ln>
        </p:spPr>
      </p:sp>
      <p:sp>
        <p:nvSpPr>
          <p:cNvPr id="22" name="Shape 20"/>
          <p:cNvSpPr/>
          <p:nvPr/>
        </p:nvSpPr>
        <p:spPr>
          <a:xfrm>
            <a:off x="11288268" y="1801368"/>
            <a:ext cx="100584" cy="100584"/>
          </a:xfrm>
          <a:prstGeom prst="ellipse">
            <a:avLst/>
          </a:prstGeom>
          <a:solidFill>
            <a:schemeClr val="tx1"/>
          </a:solidFill>
          <a:ln w="12700">
            <a:solidFill>
              <a:schemeClr val="tx1"/>
            </a:solidFill>
            <a:prstDash val="solid"/>
          </a:ln>
        </p:spPr>
      </p:sp>
      <p:sp>
        <p:nvSpPr>
          <p:cNvPr id="23" name="Shape 21"/>
          <p:cNvSpPr/>
          <p:nvPr/>
        </p:nvSpPr>
        <p:spPr>
          <a:xfrm>
            <a:off x="8138160" y="1761134"/>
            <a:ext cx="393192" cy="914"/>
          </a:xfrm>
          <a:prstGeom prst="line">
            <a:avLst/>
          </a:prstGeom>
          <a:noFill/>
          <a:ln w="22225">
            <a:solidFill>
              <a:schemeClr val="tx1"/>
            </a:solidFill>
            <a:prstDash val="solid"/>
            <a:tailEnd type="triangle"/>
          </a:ln>
        </p:spPr>
      </p:sp>
      <p:sp>
        <p:nvSpPr>
          <p:cNvPr id="24" name="Shape 22"/>
          <p:cNvSpPr/>
          <p:nvPr/>
        </p:nvSpPr>
        <p:spPr>
          <a:xfrm flipH="1">
            <a:off x="8293608" y="1952244"/>
            <a:ext cx="393192" cy="914"/>
          </a:xfrm>
          <a:prstGeom prst="line">
            <a:avLst/>
          </a:prstGeom>
          <a:noFill/>
          <a:ln w="22225">
            <a:solidFill>
              <a:schemeClr val="accent4"/>
            </a:solidFill>
            <a:prstDash val="solid"/>
            <a:tailEnd type="triangle"/>
          </a:ln>
        </p:spPr>
      </p:sp>
      <p:sp>
        <p:nvSpPr>
          <p:cNvPr id="25" name="Shape 23"/>
          <p:cNvSpPr/>
          <p:nvPr/>
        </p:nvSpPr>
        <p:spPr>
          <a:xfrm>
            <a:off x="9738360" y="1761134"/>
            <a:ext cx="393192" cy="914"/>
          </a:xfrm>
          <a:prstGeom prst="line">
            <a:avLst/>
          </a:prstGeom>
          <a:noFill/>
          <a:ln w="22225">
            <a:solidFill>
              <a:schemeClr val="tx1"/>
            </a:solidFill>
            <a:prstDash val="solid"/>
            <a:tailEnd type="triangle"/>
          </a:ln>
        </p:spPr>
      </p:sp>
      <p:sp>
        <p:nvSpPr>
          <p:cNvPr id="26" name="Shape 24"/>
          <p:cNvSpPr/>
          <p:nvPr/>
        </p:nvSpPr>
        <p:spPr>
          <a:xfrm flipH="1">
            <a:off x="9893808" y="1952244"/>
            <a:ext cx="393192" cy="914"/>
          </a:xfrm>
          <a:prstGeom prst="line">
            <a:avLst/>
          </a:prstGeom>
          <a:noFill/>
          <a:ln w="22225">
            <a:solidFill>
              <a:schemeClr val="accent4"/>
            </a:solidFill>
            <a:prstDash val="solid"/>
            <a:tailEnd type="triangle"/>
          </a:ln>
        </p:spPr>
      </p:sp>
      <p:sp>
        <p:nvSpPr>
          <p:cNvPr id="27" name="Shape 25"/>
          <p:cNvSpPr/>
          <p:nvPr/>
        </p:nvSpPr>
        <p:spPr>
          <a:xfrm>
            <a:off x="6949440" y="2880360"/>
            <a:ext cx="274320" cy="502920"/>
          </a:xfrm>
          <a:prstGeom prst="rect">
            <a:avLst/>
          </a:prstGeom>
          <a:solidFill>
            <a:schemeClr val="accent6"/>
          </a:solidFill>
          <a:ln w="15875">
            <a:solidFill>
              <a:schemeClr val="tx1"/>
            </a:solidFill>
            <a:prstDash val="solid"/>
          </a:ln>
        </p:spPr>
      </p:sp>
      <p:sp>
        <p:nvSpPr>
          <p:cNvPr id="28" name="Shape 26"/>
          <p:cNvSpPr/>
          <p:nvPr/>
        </p:nvSpPr>
        <p:spPr>
          <a:xfrm>
            <a:off x="7036308" y="3081528"/>
            <a:ext cx="100584" cy="100584"/>
          </a:xfrm>
          <a:prstGeom prst="ellipse">
            <a:avLst/>
          </a:prstGeom>
          <a:solidFill>
            <a:schemeClr val="tx1"/>
          </a:solidFill>
          <a:ln w="12700">
            <a:solidFill>
              <a:schemeClr val="tx1"/>
            </a:solidFill>
            <a:prstDash val="solid"/>
          </a:ln>
        </p:spPr>
      </p:sp>
      <p:sp>
        <p:nvSpPr>
          <p:cNvPr id="29" name="Shape 27"/>
          <p:cNvSpPr/>
          <p:nvPr/>
        </p:nvSpPr>
        <p:spPr>
          <a:xfrm>
            <a:off x="7223760" y="2880360"/>
            <a:ext cx="777240" cy="502920"/>
          </a:xfrm>
          <a:prstGeom prst="rect">
            <a:avLst/>
          </a:prstGeom>
          <a:solidFill>
            <a:schemeClr val="accent6"/>
          </a:solidFill>
          <a:ln w="15875">
            <a:solidFill>
              <a:schemeClr val="tx1"/>
            </a:solidFill>
            <a:prstDash val="solid"/>
          </a:ln>
        </p:spPr>
      </p:sp>
      <p:sp>
        <p:nvSpPr>
          <p:cNvPr id="30" name="Text 28"/>
          <p:cNvSpPr txBox="1"/>
          <p:nvPr/>
        </p:nvSpPr>
        <p:spPr>
          <a:xfrm>
            <a:off x="7223760" y="288036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A</a:t>
            </a:r>
            <a:endParaRPr lang="en-US" sz="1200" dirty="0"/>
          </a:p>
        </p:txBody>
      </p:sp>
      <p:sp>
        <p:nvSpPr>
          <p:cNvPr id="31" name="Shape 29"/>
          <p:cNvSpPr/>
          <p:nvPr/>
        </p:nvSpPr>
        <p:spPr>
          <a:xfrm>
            <a:off x="8001000" y="2880360"/>
            <a:ext cx="274320" cy="502920"/>
          </a:xfrm>
          <a:prstGeom prst="rect">
            <a:avLst/>
          </a:prstGeom>
          <a:solidFill>
            <a:schemeClr val="accent6"/>
          </a:solidFill>
          <a:ln w="15875">
            <a:solidFill>
              <a:schemeClr val="tx1"/>
            </a:solidFill>
            <a:prstDash val="solid"/>
          </a:ln>
        </p:spPr>
      </p:sp>
      <p:sp>
        <p:nvSpPr>
          <p:cNvPr id="32" name="Shape 30"/>
          <p:cNvSpPr/>
          <p:nvPr/>
        </p:nvSpPr>
        <p:spPr>
          <a:xfrm>
            <a:off x="8087868" y="3081528"/>
            <a:ext cx="100584" cy="100584"/>
          </a:xfrm>
          <a:prstGeom prst="ellipse">
            <a:avLst/>
          </a:prstGeom>
          <a:solidFill>
            <a:schemeClr val="tx1"/>
          </a:solidFill>
          <a:ln w="12700">
            <a:solidFill>
              <a:schemeClr val="tx1"/>
            </a:solidFill>
            <a:prstDash val="solid"/>
          </a:ln>
        </p:spPr>
      </p:sp>
      <p:sp>
        <p:nvSpPr>
          <p:cNvPr id="33" name="Shape 31"/>
          <p:cNvSpPr/>
          <p:nvPr/>
        </p:nvSpPr>
        <p:spPr>
          <a:xfrm>
            <a:off x="10149840" y="2880360"/>
            <a:ext cx="274320" cy="502920"/>
          </a:xfrm>
          <a:prstGeom prst="rect">
            <a:avLst/>
          </a:prstGeom>
          <a:solidFill>
            <a:schemeClr val="accent6"/>
          </a:solidFill>
          <a:ln w="15875">
            <a:solidFill>
              <a:schemeClr val="tx1"/>
            </a:solidFill>
            <a:prstDash val="solid"/>
          </a:ln>
        </p:spPr>
      </p:sp>
      <p:sp>
        <p:nvSpPr>
          <p:cNvPr id="34" name="Shape 32"/>
          <p:cNvSpPr/>
          <p:nvPr/>
        </p:nvSpPr>
        <p:spPr>
          <a:xfrm>
            <a:off x="10236708" y="3081528"/>
            <a:ext cx="100584" cy="100584"/>
          </a:xfrm>
          <a:prstGeom prst="ellipse">
            <a:avLst/>
          </a:prstGeom>
          <a:solidFill>
            <a:schemeClr val="tx1"/>
          </a:solidFill>
          <a:ln w="12700">
            <a:solidFill>
              <a:schemeClr val="tx1"/>
            </a:solidFill>
            <a:prstDash val="solid"/>
          </a:ln>
        </p:spPr>
      </p:sp>
      <p:sp>
        <p:nvSpPr>
          <p:cNvPr id="35" name="Shape 33"/>
          <p:cNvSpPr/>
          <p:nvPr/>
        </p:nvSpPr>
        <p:spPr>
          <a:xfrm>
            <a:off x="10424160" y="2880360"/>
            <a:ext cx="777240" cy="502920"/>
          </a:xfrm>
          <a:prstGeom prst="rect">
            <a:avLst/>
          </a:prstGeom>
          <a:solidFill>
            <a:schemeClr val="accent6"/>
          </a:solidFill>
          <a:ln w="15875">
            <a:solidFill>
              <a:schemeClr val="tx1"/>
            </a:solidFill>
            <a:prstDash val="solid"/>
          </a:ln>
        </p:spPr>
      </p:sp>
      <p:sp>
        <p:nvSpPr>
          <p:cNvPr id="36" name="Text 34"/>
          <p:cNvSpPr txBox="1"/>
          <p:nvPr/>
        </p:nvSpPr>
        <p:spPr>
          <a:xfrm>
            <a:off x="10424160" y="2880360"/>
            <a:ext cx="77724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a:t>
            </a:r>
            <a:endParaRPr lang="en-US" sz="1200" dirty="0"/>
          </a:p>
        </p:txBody>
      </p:sp>
      <p:sp>
        <p:nvSpPr>
          <p:cNvPr id="37" name="Shape 35"/>
          <p:cNvSpPr/>
          <p:nvPr/>
        </p:nvSpPr>
        <p:spPr>
          <a:xfrm>
            <a:off x="11201400" y="2880360"/>
            <a:ext cx="274320" cy="502920"/>
          </a:xfrm>
          <a:prstGeom prst="rect">
            <a:avLst/>
          </a:prstGeom>
          <a:solidFill>
            <a:schemeClr val="accent6"/>
          </a:solidFill>
          <a:ln w="15875">
            <a:solidFill>
              <a:schemeClr val="tx1"/>
            </a:solidFill>
            <a:prstDash val="solid"/>
          </a:ln>
        </p:spPr>
      </p:sp>
      <p:sp>
        <p:nvSpPr>
          <p:cNvPr id="38" name="Shape 36"/>
          <p:cNvSpPr/>
          <p:nvPr/>
        </p:nvSpPr>
        <p:spPr>
          <a:xfrm>
            <a:off x="11288268" y="3081528"/>
            <a:ext cx="100584" cy="100584"/>
          </a:xfrm>
          <a:prstGeom prst="ellipse">
            <a:avLst/>
          </a:prstGeom>
          <a:solidFill>
            <a:schemeClr val="tx1"/>
          </a:solidFill>
          <a:ln w="12700">
            <a:solidFill>
              <a:schemeClr val="tx1"/>
            </a:solidFill>
            <a:prstDash val="solid"/>
          </a:ln>
        </p:spPr>
      </p:sp>
      <p:sp>
        <p:nvSpPr>
          <p:cNvPr id="39" name="Shape 37"/>
          <p:cNvSpPr/>
          <p:nvPr/>
        </p:nvSpPr>
        <p:spPr>
          <a:xfrm>
            <a:off x="8138160" y="3044952"/>
            <a:ext cx="1993392" cy="914"/>
          </a:xfrm>
          <a:prstGeom prst="line">
            <a:avLst/>
          </a:prstGeom>
          <a:noFill/>
          <a:ln w="22225">
            <a:solidFill>
              <a:schemeClr val="tx1"/>
            </a:solidFill>
            <a:prstDash val="solid"/>
            <a:tailEnd type="triangle"/>
          </a:ln>
        </p:spPr>
      </p:sp>
      <p:sp>
        <p:nvSpPr>
          <p:cNvPr id="40" name="Shape 38"/>
          <p:cNvSpPr/>
          <p:nvPr/>
        </p:nvSpPr>
        <p:spPr>
          <a:xfrm flipH="1">
            <a:off x="8293608" y="3227832"/>
            <a:ext cx="1993392" cy="914"/>
          </a:xfrm>
          <a:prstGeom prst="line">
            <a:avLst/>
          </a:prstGeom>
          <a:noFill/>
          <a:ln w="22225">
            <a:solidFill>
              <a:schemeClr val="accent4"/>
            </a:solidFill>
            <a:prstDash val="solid"/>
            <a:tailEnd type="triangle"/>
          </a:ln>
        </p:spPr>
      </p:sp>
      <p:sp>
        <p:nvSpPr>
          <p:cNvPr id="41" name="Text 39"/>
          <p:cNvSpPr txBox="1"/>
          <p:nvPr/>
        </p:nvSpPr>
        <p:spPr>
          <a:xfrm>
            <a:off x="8366760" y="3520440"/>
            <a:ext cx="2194560" cy="274320"/>
          </a:xfrm>
          <a:prstGeom prst="rect">
            <a:avLst/>
          </a:prstGeom>
          <a:noFill/>
          <a:ln/>
        </p:spPr>
        <p:txBody>
          <a:bodyPr wrap="square" lIns="0" tIns="0" rIns="0" bIns="0" rtlCol="0" anchor="t"/>
          <a:lstStyle/>
          <a:p>
            <a:pPr algn="ctr" indent="0" marL="0">
              <a:buNone/>
            </a:pPr>
            <a:r>
              <a:rPr lang="en-US" sz="1200" b="1" dirty="0">
                <a:solidFill>
                  <a:schemeClr val="accent3"/>
                </a:solidFill>
              </a:rPr>
              <a:t>B queda aislado → GC</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0" y="4023360"/>
          <a:ext cx="5029200" cy="914400"/>
        </p:xfrm>
        <a:graphic>
          <a:graphicData uri="http://schemas.openxmlformats.org/drawingml/2006/table">
            <a:tbl>
              <a:tblPr/>
              <a:tblGrid>
                <a:gridCol w="1280160"/>
                <a:gridCol w="1874520"/>
                <a:gridCol w="1874520"/>
              </a:tblGrid>
              <a:tr h="384048">
                <a:tc>
                  <a:txBody>
                    <a:bodyPr/>
                    <a:lstStyle/>
                    <a:p>
                      <a:pPr indent="0" marL="0">
                        <a:buNone/>
                      </a:pPr>
                      <a:r>
                        <a:rPr lang="en-US" sz="1100" b="1" dirty="0">
                          <a:solidFill>
                            <a:schemeClr val="bg1"/>
                          </a:solidFill>
                        </a:rPr>
                        <a:t>Caso</a:t>
                      </a:r>
                      <a:endParaRPr lang="en-US" sz="11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predecesor</a:t>
                      </a:r>
                      <a:endParaRPr lang="en-US" sz="11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sucesor</a:t>
                      </a:r>
                      <a:endParaRPr lang="en-US" sz="11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r>
              <a:tr h="384048">
                <a:tc>
                  <a:txBody>
                    <a:bodyPr/>
                    <a:lstStyle/>
                    <a:p>
                      <a:pPr indent="0" marL="0">
                        <a:buNone/>
                      </a:pPr>
                      <a:r>
                        <a:rPr lang="en-US" sz="1100" dirty="0">
                          <a:solidFill>
                            <a:schemeClr val="tx1"/>
                          </a:solidFill>
                        </a:rPr>
                        <a:t>Único nodo</a:t>
                      </a:r>
                      <a:endParaRPr lang="en-US" sz="11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cabeza = null</a:t>
                      </a:r>
                      <a:endParaRPr lang="en-US" sz="10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cola = null</a:t>
                      </a:r>
                      <a:endParaRPr lang="en-US" sz="10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rPr>
                        <a:t>Era la cabeza</a:t>
                      </a:r>
                      <a:endParaRPr lang="en-US" sz="11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cabeza = sucesor</a:t>
                      </a:r>
                      <a:endParaRPr lang="en-US" sz="10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suc.anterior = null</a:t>
                      </a:r>
                      <a:endParaRPr lang="en-US" sz="10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rPr>
                        <a:t>Era la cola</a:t>
                      </a:r>
                      <a:endParaRPr lang="en-US" sz="11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pred.siguiente = null</a:t>
                      </a:r>
                      <a:endParaRPr lang="en-US" sz="10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cola = predecesor</a:t>
                      </a:r>
                      <a:endParaRPr lang="en-US" sz="10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rPr>
                        <a:t>En el medio</a:t>
                      </a:r>
                      <a:endParaRPr lang="en-US" sz="11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pred.siguiente = suc</a:t>
                      </a:r>
                      <a:endParaRPr lang="en-US" sz="10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suc.anterior = pred</a:t>
                      </a:r>
                      <a:endParaRPr lang="en-US" sz="10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Eliminar · operaciones públicas y doble enlace</a:t>
            </a:r>
            <a:endParaRPr lang="en-US" sz="3200" dirty="0"/>
          </a:p>
        </p:txBody>
      </p:sp>
      <p:sp>
        <p:nvSpPr>
          <p:cNvPr id="3" name="bloque de código"/>
          <p:cNvSpPr/>
          <p:nvPr/>
        </p:nvSpPr>
        <p:spPr>
          <a:xfrm>
            <a:off x="548640" y="1280160"/>
            <a:ext cx="5760720" cy="3657600"/>
          </a:xfrm>
          <a:prstGeom prst="roundRect">
            <a:avLst>
              <a:gd name="adj" fmla="val 1500"/>
            </a:avLst>
          </a:prstGeom>
          <a:solidFill>
            <a:schemeClr val="tx2"/>
          </a:solidFill>
          <a:ln w="12700">
            <a:solidFill>
              <a:schemeClr val="tx2"/>
            </a:solidFill>
            <a:prstDash val="solid"/>
          </a:ln>
        </p:spPr>
      </p:sp>
      <p:sp>
        <p:nvSpPr>
          <p:cNvPr id="4" name="Text 2"/>
          <p:cNvSpPr txBox="1"/>
          <p:nvPr/>
        </p:nvSpPr>
        <p:spPr>
          <a:xfrm>
            <a:off x="749808" y="1444752"/>
            <a:ext cx="5394960" cy="338328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public T eliminarPrimero()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verificarNoVacia();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desenlazar(cabeza);       </a:t>
            </a:r>
            <a:pPr indent="0" marL="0">
              <a:buNone/>
            </a:pPr>
            <a:r>
              <a:rPr lang="en-US" sz="1400" dirty="0">
                <a:solidFill>
                  <a:schemeClr val="accent1"/>
                </a:solidFill>
                <a:latin typeface="Courier New" pitchFamily="34" charset="0"/>
                <a:ea typeface="Courier New" pitchFamily="34" charset="-122"/>
                <a:cs typeface="Courier New" pitchFamily="34" charset="-120"/>
              </a:rPr>
              <a:t>// O(1)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public T eliminarUltimo()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verificarNoVacia();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desenlazar(cola);         </a:t>
            </a:r>
            <a:pPr indent="0" marL="0">
              <a:buNone/>
            </a:pPr>
            <a:r>
              <a:rPr lang="en-US" sz="1400" dirty="0">
                <a:solidFill>
                  <a:schemeClr val="accent1"/>
                </a:solidFill>
                <a:latin typeface="Courier New" pitchFamily="34" charset="0"/>
                <a:ea typeface="Courier New" pitchFamily="34" charset="-122"/>
                <a:cs typeface="Courier New" pitchFamily="34" charset="-120"/>
              </a:rPr>
              <a:t>// O(1)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public T eliminarEn(int indice)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verificarIndice(indice);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desenlazar(nodoEn(indice));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public boolean eliminar(T dato)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1"/>
                </a:solidFill>
                <a:latin typeface="Courier New" pitchFamily="34" charset="0"/>
                <a:ea typeface="Courier New" pitchFamily="34" charset="-122"/>
                <a:cs typeface="Courier New" pitchFamily="34" charset="-120"/>
              </a:rPr>
              <a:t>// busca desde la cabeza y desenlaza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Shape 3"/>
          <p:cNvSpPr/>
          <p:nvPr/>
        </p:nvSpPr>
        <p:spPr>
          <a:xfrm>
            <a:off x="6675120" y="1280160"/>
            <a:ext cx="4937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6903720" y="1444752"/>
            <a:ext cx="4480560" cy="365760"/>
          </a:xfrm>
          <a:prstGeom prst="rect">
            <a:avLst/>
          </a:prstGeom>
          <a:noFill/>
          <a:ln/>
        </p:spPr>
        <p:txBody>
          <a:bodyPr wrap="square" lIns="0" tIns="0" rIns="0" bIns="0" rtlCol="0" anchor="t"/>
          <a:lstStyle/>
          <a:p>
            <a:pPr indent="0" marL="0">
              <a:buNone/>
            </a:pPr>
            <a:r>
              <a:rPr lang="en-US" sz="1700" b="1" dirty="0">
                <a:solidFill>
                  <a:schemeClr val="tx1"/>
                </a:solidFill>
              </a:rPr>
              <a:t>Lista simple: eliminarUltimo O(n)</a:t>
            </a:r>
            <a:endParaRPr lang="en-US" sz="1700" dirty="0"/>
          </a:p>
        </p:txBody>
      </p:sp>
      <p:sp>
        <p:nvSpPr>
          <p:cNvPr id="7" name="Text 5"/>
          <p:cNvSpPr txBox="1"/>
          <p:nvPr/>
        </p:nvSpPr>
        <p:spPr>
          <a:xfrm>
            <a:off x="6903720" y="1847088"/>
            <a:ext cx="4480560" cy="777240"/>
          </a:xfrm>
          <a:prstGeom prst="rect">
            <a:avLst/>
          </a:prstGeom>
          <a:noFill/>
          <a:ln/>
        </p:spPr>
        <p:txBody>
          <a:bodyPr wrap="square" lIns="0" tIns="0" rIns="0" bIns="0" rtlCol="0" anchor="t"/>
          <a:lstStyle/>
          <a:p>
            <a:pPr indent="0" marL="0">
              <a:buNone/>
            </a:pPr>
            <a:r>
              <a:rPr lang="en-US" sz="1400" dirty="0">
                <a:solidFill>
                  <a:schemeClr val="tx2"/>
                </a:solidFill>
              </a:rPr>
              <a:t>Sin puntero anterior, para hallar el penúltimo hay que recorrer la lista desde la cabeza.</a:t>
            </a:r>
            <a:endParaRPr lang="en-US" sz="1400" dirty="0"/>
          </a:p>
        </p:txBody>
      </p:sp>
      <p:sp>
        <p:nvSpPr>
          <p:cNvPr id="8" name="Shape 6"/>
          <p:cNvSpPr/>
          <p:nvPr/>
        </p:nvSpPr>
        <p:spPr>
          <a:xfrm>
            <a:off x="10424160" y="1417320"/>
            <a:ext cx="1005840" cy="347472"/>
          </a:xfrm>
          <a:prstGeom prst="roundRect">
            <a:avLst>
              <a:gd name="adj" fmla="val 50000"/>
            </a:avLst>
          </a:prstGeom>
          <a:solidFill>
            <a:schemeClr val="accent3"/>
          </a:solidFill>
          <a:ln w="12700">
            <a:solidFill>
              <a:schemeClr val="accent3"/>
            </a:solidFill>
            <a:prstDash val="solid"/>
          </a:ln>
        </p:spPr>
      </p:sp>
      <p:sp>
        <p:nvSpPr>
          <p:cNvPr id="9" name="Text 7"/>
          <p:cNvSpPr txBox="1"/>
          <p:nvPr/>
        </p:nvSpPr>
        <p:spPr>
          <a:xfrm>
            <a:off x="10424160" y="1417320"/>
            <a:ext cx="1005840" cy="347472"/>
          </a:xfrm>
          <a:prstGeom prst="rect">
            <a:avLst/>
          </a:prstGeom>
          <a:noFill/>
          <a:ln/>
        </p:spPr>
        <p:txBody>
          <a:bodyPr wrap="square" lIns="0" tIns="0" rIns="0" bIns="0" rtlCol="0" anchor="ctr"/>
          <a:lstStyle/>
          <a:p>
            <a:pPr algn="ctr" indent="0" marL="0">
              <a:buNone/>
            </a:pPr>
            <a:r>
              <a:rPr lang="en-US" sz="1300" b="1" dirty="0">
                <a:solidFill>
                  <a:schemeClr val="bg1"/>
                </a:solidFill>
              </a:rPr>
              <a:t>O(n)</a:t>
            </a:r>
            <a:endParaRPr lang="en-US" sz="1300" dirty="0"/>
          </a:p>
        </p:txBody>
      </p:sp>
      <p:sp>
        <p:nvSpPr>
          <p:cNvPr id="10" name="Shape 8"/>
          <p:cNvSpPr/>
          <p:nvPr/>
        </p:nvSpPr>
        <p:spPr>
          <a:xfrm>
            <a:off x="6675120" y="2926080"/>
            <a:ext cx="4937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903720" y="3090672"/>
            <a:ext cx="4480560" cy="365760"/>
          </a:xfrm>
          <a:prstGeom prst="rect">
            <a:avLst/>
          </a:prstGeom>
          <a:noFill/>
          <a:ln/>
        </p:spPr>
        <p:txBody>
          <a:bodyPr wrap="square" lIns="0" tIns="0" rIns="0" bIns="0" rtlCol="0" anchor="t"/>
          <a:lstStyle/>
          <a:p>
            <a:pPr indent="0" marL="0">
              <a:buNone/>
            </a:pPr>
            <a:r>
              <a:rPr lang="en-US" sz="1700" b="1" dirty="0">
                <a:solidFill>
                  <a:schemeClr val="tx1"/>
                </a:solidFill>
              </a:rPr>
              <a:t>Lista doble: eliminarUltimo O(1)</a:t>
            </a:r>
            <a:endParaRPr lang="en-US" sz="1700" dirty="0"/>
          </a:p>
        </p:txBody>
      </p:sp>
      <p:sp>
        <p:nvSpPr>
          <p:cNvPr id="12" name="Text 10"/>
          <p:cNvSpPr txBox="1"/>
          <p:nvPr/>
        </p:nvSpPr>
        <p:spPr>
          <a:xfrm>
            <a:off x="6903720" y="3493008"/>
            <a:ext cx="4480560" cy="777240"/>
          </a:xfrm>
          <a:prstGeom prst="rect">
            <a:avLst/>
          </a:prstGeom>
          <a:noFill/>
          <a:ln/>
        </p:spPr>
        <p:txBody>
          <a:bodyPr wrap="square" lIns="0" tIns="0" rIns="0" bIns="0" rtlCol="0" anchor="t"/>
          <a:lstStyle/>
          <a:p>
            <a:pPr indent="0" marL="0">
              <a:buNone/>
            </a:pPr>
            <a:r>
              <a:rPr lang="en-US" sz="1400" dirty="0">
                <a:solidFill>
                  <a:schemeClr val="tx2"/>
                </a:solidFill>
              </a:rPr>
              <a:t>La nueva cola es cola.anterior: un paso. Es la operación de regresar movimiento.</a:t>
            </a:r>
            <a:endParaRPr lang="en-US" sz="1400" dirty="0"/>
          </a:p>
        </p:txBody>
      </p:sp>
      <p:sp>
        <p:nvSpPr>
          <p:cNvPr id="13" name="Shape 11"/>
          <p:cNvSpPr/>
          <p:nvPr/>
        </p:nvSpPr>
        <p:spPr>
          <a:xfrm>
            <a:off x="10424160" y="3063240"/>
            <a:ext cx="1005840" cy="347472"/>
          </a:xfrm>
          <a:prstGeom prst="roundRect">
            <a:avLst>
              <a:gd name="adj" fmla="val 50000"/>
            </a:avLst>
          </a:prstGeom>
          <a:solidFill>
            <a:schemeClr val="accent2"/>
          </a:solidFill>
          <a:ln w="12700">
            <a:solidFill>
              <a:schemeClr val="accent2"/>
            </a:solidFill>
            <a:prstDash val="solid"/>
          </a:ln>
        </p:spPr>
      </p:sp>
      <p:sp>
        <p:nvSpPr>
          <p:cNvPr id="14" name="Text 12"/>
          <p:cNvSpPr txBox="1"/>
          <p:nvPr/>
        </p:nvSpPr>
        <p:spPr>
          <a:xfrm>
            <a:off x="10424160" y="3063240"/>
            <a:ext cx="1005840" cy="347472"/>
          </a:xfrm>
          <a:prstGeom prst="rect">
            <a:avLst/>
          </a:prstGeom>
          <a:noFill/>
          <a:ln/>
        </p:spPr>
        <p:txBody>
          <a:bodyPr wrap="square" lIns="0" tIns="0" rIns="0" bIns="0" rtlCol="0" anchor="ctr"/>
          <a:lstStyle/>
          <a:p>
            <a:pPr algn="ctr" indent="0" marL="0">
              <a:buNone/>
            </a:pPr>
            <a:r>
              <a:rPr lang="en-US" sz="1300" b="1" dirty="0">
                <a:solidFill>
                  <a:schemeClr val="bg1"/>
                </a:solidFill>
              </a:rPr>
              <a:t>O(1)</a:t>
            </a:r>
            <a:endParaRPr lang="en-US" sz="1300" dirty="0"/>
          </a:p>
        </p:txBody>
      </p:sp>
      <p:sp>
        <p:nvSpPr>
          <p:cNvPr id="15" name="Shape 13"/>
          <p:cNvSpPr/>
          <p:nvPr/>
        </p:nvSpPr>
        <p:spPr>
          <a:xfrm>
            <a:off x="6675120" y="4572000"/>
            <a:ext cx="4937760" cy="1463040"/>
          </a:xfrm>
          <a:prstGeom prst="roundRect">
            <a:avLst>
              <a:gd name="adj" fmla="val 5000"/>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6903720" y="4736592"/>
            <a:ext cx="4480560" cy="365760"/>
          </a:xfrm>
          <a:prstGeom prst="rect">
            <a:avLst/>
          </a:prstGeom>
          <a:noFill/>
          <a:ln/>
        </p:spPr>
        <p:txBody>
          <a:bodyPr wrap="square" lIns="0" tIns="0" rIns="0" bIns="0" rtlCol="0" anchor="t"/>
          <a:lstStyle/>
          <a:p>
            <a:pPr indent="0" marL="0">
              <a:buNone/>
            </a:pPr>
            <a:r>
              <a:rPr lang="en-US" sz="1700" b="1" dirty="0">
                <a:solidFill>
                  <a:schemeClr val="tx1"/>
                </a:solidFill>
              </a:rPr>
              <a:t>Costo del doble enlace</a:t>
            </a:r>
            <a:endParaRPr lang="en-US" sz="1700" dirty="0"/>
          </a:p>
        </p:txBody>
      </p:sp>
      <p:sp>
        <p:nvSpPr>
          <p:cNvPr id="17" name="Text 15"/>
          <p:cNvSpPr txBox="1"/>
          <p:nvPr/>
        </p:nvSpPr>
        <p:spPr>
          <a:xfrm>
            <a:off x="6903720" y="5138928"/>
            <a:ext cx="4480560" cy="777240"/>
          </a:xfrm>
          <a:prstGeom prst="rect">
            <a:avLst/>
          </a:prstGeom>
          <a:noFill/>
          <a:ln/>
        </p:spPr>
        <p:txBody>
          <a:bodyPr wrap="square" lIns="0" tIns="0" rIns="0" bIns="0" rtlCol="0" anchor="t"/>
          <a:lstStyle/>
          <a:p>
            <a:pPr indent="0" marL="0">
              <a:buNone/>
            </a:pPr>
            <a:r>
              <a:rPr lang="en-US" sz="1400" dirty="0">
                <a:solidFill>
                  <a:schemeClr val="tx2"/>
                </a:solidFill>
              </a:rPr>
              <a:t>Un puntero más por nodo (memoria) a cambio de eliminar en ambos extremos en tiempo constante.</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Recorrer · iterador bidireccional y fail-fast</a:t>
            </a:r>
            <a:endParaRPr lang="en-US" sz="3200" dirty="0"/>
          </a:p>
        </p:txBody>
      </p:sp>
      <p:sp>
        <p:nvSpPr>
          <p:cNvPr id="3" name="bloque de código"/>
          <p:cNvSpPr/>
          <p:nvPr/>
        </p:nvSpPr>
        <p:spPr>
          <a:xfrm>
            <a:off x="548640" y="1280160"/>
            <a:ext cx="6400800" cy="4221480"/>
          </a:xfrm>
          <a:prstGeom prst="roundRect">
            <a:avLst>
              <a:gd name="adj" fmla="val 1300"/>
            </a:avLst>
          </a:prstGeom>
          <a:solidFill>
            <a:schemeClr val="tx2"/>
          </a:solidFill>
          <a:ln w="12700">
            <a:solidFill>
              <a:schemeClr val="tx2"/>
            </a:solidFill>
            <a:prstDash val="solid"/>
          </a:ln>
        </p:spPr>
      </p:sp>
      <p:sp>
        <p:nvSpPr>
          <p:cNvPr id="4" name="Text 2"/>
          <p:cNvSpPr txBox="1"/>
          <p:nvPr/>
        </p:nvSpPr>
        <p:spPr>
          <a:xfrm>
            <a:off x="749808" y="1444752"/>
            <a:ext cx="6035040" cy="39471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private final class Iterador implements Iterator&lt;T&gt;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private Nodo&lt;T&gt; actual;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private final boolean haciaAdelante;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private final int modificacionesEsperadas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modificaciones;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public boolean hasNext() { return actual != null;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public T next()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(modificaciones != modificacionesEsperadas)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throw new ConcurrentModificationException();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(actual == null)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throw new NoSuchElementException();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 dato = actual.dato;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actual = haciaAdelante ? actual.siguiente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actual.anterior;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dato;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5" name="Shape 3"/>
          <p:cNvSpPr/>
          <p:nvPr/>
        </p:nvSpPr>
        <p:spPr>
          <a:xfrm>
            <a:off x="7223760" y="1280160"/>
            <a:ext cx="438912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7452360" y="1444752"/>
            <a:ext cx="3931920" cy="365760"/>
          </a:xfrm>
          <a:prstGeom prst="rect">
            <a:avLst/>
          </a:prstGeom>
          <a:noFill/>
          <a:ln/>
        </p:spPr>
        <p:txBody>
          <a:bodyPr wrap="square" lIns="0" tIns="0" rIns="0" bIns="0" rtlCol="0" anchor="t"/>
          <a:lstStyle/>
          <a:p>
            <a:pPr indent="0" marL="0">
              <a:buNone/>
            </a:pPr>
            <a:r>
              <a:rPr lang="en-US" sz="1700" b="1" dirty="0">
                <a:solidFill>
                  <a:schemeClr val="tx1"/>
                </a:solidFill>
              </a:rPr>
              <a:t>Bidireccional</a:t>
            </a:r>
            <a:endParaRPr lang="en-US" sz="1700" dirty="0"/>
          </a:p>
        </p:txBody>
      </p:sp>
      <p:sp>
        <p:nvSpPr>
          <p:cNvPr id="7" name="Text 5"/>
          <p:cNvSpPr txBox="1"/>
          <p:nvPr/>
        </p:nvSpPr>
        <p:spPr>
          <a:xfrm>
            <a:off x="7452360" y="1847088"/>
            <a:ext cx="3931920" cy="731520"/>
          </a:xfrm>
          <a:prstGeom prst="rect">
            <a:avLst/>
          </a:prstGeom>
          <a:noFill/>
          <a:ln/>
        </p:spPr>
        <p:txBody>
          <a:bodyPr wrap="square" lIns="0" tIns="0" rIns="0" bIns="0" rtlCol="0" anchor="t"/>
          <a:lstStyle/>
          <a:p>
            <a:pPr indent="0" marL="0">
              <a:buNone/>
            </a:pPr>
            <a:r>
              <a:rPr lang="en-US" sz="1400" dirty="0">
                <a:solidFill>
                  <a:schemeClr val="tx2"/>
                </a:solidFill>
              </a:rPr>
              <a:t>iterator() parte de la cabeza y sigue siguiente; iteradorInverso() parte de la cola y sigue anterior.</a:t>
            </a:r>
            <a:endParaRPr lang="en-US" sz="1400" dirty="0"/>
          </a:p>
        </p:txBody>
      </p:sp>
      <p:sp>
        <p:nvSpPr>
          <p:cNvPr id="8" name="Shape 6"/>
          <p:cNvSpPr/>
          <p:nvPr/>
        </p:nvSpPr>
        <p:spPr>
          <a:xfrm>
            <a:off x="7223760" y="2834640"/>
            <a:ext cx="438912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7452360" y="2999232"/>
            <a:ext cx="3931920" cy="365760"/>
          </a:xfrm>
          <a:prstGeom prst="rect">
            <a:avLst/>
          </a:prstGeom>
          <a:noFill/>
          <a:ln/>
        </p:spPr>
        <p:txBody>
          <a:bodyPr wrap="square" lIns="0" tIns="0" rIns="0" bIns="0" rtlCol="0" anchor="t"/>
          <a:lstStyle/>
          <a:p>
            <a:pPr indent="0" marL="0">
              <a:buNone/>
            </a:pPr>
            <a:r>
              <a:rPr lang="en-US" sz="1700" b="1" dirty="0">
                <a:solidFill>
                  <a:schemeClr val="tx1"/>
                </a:solidFill>
              </a:rPr>
              <a:t>Fail-fast</a:t>
            </a:r>
            <a:endParaRPr lang="en-US" sz="1700" dirty="0"/>
          </a:p>
        </p:txBody>
      </p:sp>
      <p:sp>
        <p:nvSpPr>
          <p:cNvPr id="10" name="Text 8"/>
          <p:cNvSpPr txBox="1"/>
          <p:nvPr/>
        </p:nvSpPr>
        <p:spPr>
          <a:xfrm>
            <a:off x="7452360" y="3401568"/>
            <a:ext cx="3931920" cy="914400"/>
          </a:xfrm>
          <a:prstGeom prst="rect">
            <a:avLst/>
          </a:prstGeom>
          <a:noFill/>
          <a:ln/>
        </p:spPr>
        <p:txBody>
          <a:bodyPr wrap="square" lIns="0" tIns="0" rIns="0" bIns="0" rtlCol="0" anchor="t"/>
          <a:lstStyle/>
          <a:p>
            <a:pPr indent="0" marL="0">
              <a:buNone/>
            </a:pPr>
            <a:r>
              <a:rPr lang="en-US" sz="1400" dirty="0">
                <a:solidFill>
                  <a:schemeClr val="tx2"/>
                </a:solidFill>
              </a:rPr>
              <a:t>Si la lista se inserta o elimina durante el recorrido, next() falla de inmediato en lugar de seguir un puntero inválido.</a:t>
            </a:r>
            <a:endParaRPr lang="en-US" sz="1400" dirty="0"/>
          </a:p>
        </p:txBody>
      </p:sp>
      <p:sp>
        <p:nvSpPr>
          <p:cNvPr id="11" name="Shape 9"/>
          <p:cNvSpPr/>
          <p:nvPr/>
        </p:nvSpPr>
        <p:spPr>
          <a:xfrm>
            <a:off x="7223760" y="4572000"/>
            <a:ext cx="4389120" cy="1417320"/>
          </a:xfrm>
          <a:prstGeom prst="roundRect">
            <a:avLst>
              <a:gd name="adj" fmla="val 5161"/>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7452360" y="4736592"/>
            <a:ext cx="3931920" cy="365760"/>
          </a:xfrm>
          <a:prstGeom prst="rect">
            <a:avLst/>
          </a:prstGeom>
          <a:noFill/>
          <a:ln/>
        </p:spPr>
        <p:txBody>
          <a:bodyPr wrap="square" lIns="0" tIns="0" rIns="0" bIns="0" rtlCol="0" anchor="t"/>
          <a:lstStyle/>
          <a:p>
            <a:pPr indent="0" marL="0">
              <a:buNone/>
            </a:pPr>
            <a:r>
              <a:rPr lang="en-US" sz="1700" b="1" dirty="0">
                <a:solidFill>
                  <a:schemeClr val="tx1"/>
                </a:solidFill>
              </a:rPr>
              <a:t>Entrega datos, no nodos</a:t>
            </a:r>
            <a:endParaRPr lang="en-US" sz="1700" dirty="0"/>
          </a:p>
        </p:txBody>
      </p:sp>
      <p:sp>
        <p:nvSpPr>
          <p:cNvPr id="13" name="Text 11"/>
          <p:cNvSpPr txBox="1"/>
          <p:nvPr/>
        </p:nvSpPr>
        <p:spPr>
          <a:xfrm>
            <a:off x="7452360" y="5138928"/>
            <a:ext cx="3931920" cy="731520"/>
          </a:xfrm>
          <a:prstGeom prst="rect">
            <a:avLst/>
          </a:prstGeom>
          <a:noFill/>
          <a:ln/>
        </p:spPr>
        <p:txBody>
          <a:bodyPr wrap="square" lIns="0" tIns="0" rIns="0" bIns="0" rtlCol="0" anchor="t"/>
          <a:lstStyle/>
          <a:p>
            <a:pPr indent="0" marL="0">
              <a:buNone/>
            </a:pPr>
            <a:r>
              <a:rPr lang="en-US" sz="1400" dirty="0">
                <a:solidFill>
                  <a:schemeClr val="tx2"/>
                </a:solidFill>
              </a:rPr>
              <a:t>Permite for (Movimiento m : historial) sin exponer la estructura.</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1463040"/>
            <a:ext cx="2743200" cy="8229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04</a:t>
            </a:r>
            <a:endParaRPr lang="en-US" sz="5400" dirty="0"/>
          </a:p>
        </p:txBody>
      </p:sp>
      <p:sp>
        <p:nvSpPr>
          <p:cNvPr id="3" name="Text 0"/>
          <p:cNvSpPr/>
          <p:nvPr>
            <p:ph idx="100" type="title" hasCustomPrompt="1"/>
          </p:nvPr>
        </p:nvSpPr>
        <p:spPr>
          <a:xfrm>
            <a:off x="731520" y="2377440"/>
            <a:ext cx="82296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El historial de movimientos</a:t>
            </a:r>
            <a:endParaRPr lang="en-US" sz="4000" dirty="0"/>
          </a:p>
        </p:txBody>
      </p:sp>
      <p:sp>
        <p:nvSpPr>
          <p:cNvPr id="4" name="Text 0"/>
          <p:cNvSpPr/>
          <p:nvPr>
            <p:ph idx="101" type="body" hasCustomPrompt="1"/>
          </p:nvPr>
        </p:nvSpPr>
        <p:spPr>
          <a:xfrm>
            <a:off x="731520" y="3520440"/>
            <a:ext cx="8229600" cy="822960"/>
          </a:xfrm>
          <a:prstGeom prst="rect">
            <a:avLst/>
          </a:prstGeom>
          <a:noFill/>
          <a:ln/>
        </p:spPr>
        <p:txBody>
          <a:bodyPr wrap="square" lIns="0" tIns="0" rIns="0" bIns="0" rtlCol="0" anchor="t"/>
          <a:lstStyle/>
          <a:p>
            <a:pPr indent="0" marL="0">
              <a:buNone/>
            </a:pPr>
            <a:r>
              <a:rPr lang="en-US" sz="2000" dirty="0">
                <a:solidFill>
                  <a:schemeClr val="accent1"/>
                </a:solidFill>
              </a:rPr>
              <a:t>Cómo usa el juego la lista: crear, editar, eliminar y recorrer</a:t>
            </a:r>
            <a:endParaRPr lang="en-US" sz="2000" dirty="0"/>
          </a:p>
        </p:txBody>
      </p:sp>
      <p:sp>
        <p:nvSpPr>
          <p:cNvPr id="5" name="Shape 3"/>
          <p:cNvSpPr/>
          <p:nvPr/>
        </p:nvSpPr>
        <p:spPr>
          <a:xfrm>
            <a:off x="9052560" y="2011680"/>
            <a:ext cx="2194560" cy="2194560"/>
          </a:xfrm>
          <a:prstGeom prst="ellipse">
            <a:avLst/>
          </a:prstGeom>
          <a:solidFill>
            <a:schemeClr val="accent6"/>
          </a:solidFill>
          <a:ln w="12700">
            <a:solidFill>
              <a:schemeClr val="accent6"/>
            </a:solidFill>
            <a:prstDash val="solid"/>
          </a:ln>
        </p:spPr>
      </p:sp>
      <p:pic>
        <p:nvPicPr>
          <p:cNvPr id="6" name="Image 0" descr="reina blanco">    </p:cNvPr>
          <p:cNvPicPr>
            <a:picLocks noChangeAspect="1"/>
          </p:cNvPicPr>
          <p:nvPr/>
        </p:nvPicPr>
        <p:blipFill>
          <a:blip r:embed="rId1"/>
          <a:stretch>
            <a:fillRect/>
          </a:stretch>
        </p:blipFill>
        <p:spPr>
          <a:xfrm>
            <a:off x="9447581" y="2406701"/>
            <a:ext cx="1404518" cy="1404518"/>
          </a:xfrm>
          <a:prstGeom prst="rect">
            <a:avLst/>
          </a:prstGeom>
        </p:spPr>
      </p:pic>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Movimiento: el dato inmutable</a:t>
            </a:r>
            <a:endParaRPr lang="en-US" sz="3200" dirty="0"/>
          </a:p>
        </p:txBody>
      </p:sp>
      <p:sp>
        <p:nvSpPr>
          <p:cNvPr id="3" name="bloque de código"/>
          <p:cNvSpPr/>
          <p:nvPr/>
        </p:nvSpPr>
        <p:spPr>
          <a:xfrm>
            <a:off x="548640" y="1280160"/>
            <a:ext cx="5943600" cy="4023360"/>
          </a:xfrm>
          <a:prstGeom prst="roundRect">
            <a:avLst>
              <a:gd name="adj" fmla="val 1364"/>
            </a:avLst>
          </a:prstGeom>
          <a:solidFill>
            <a:schemeClr val="tx2"/>
          </a:solidFill>
          <a:ln w="12700">
            <a:solidFill>
              <a:schemeClr val="tx2"/>
            </a:solidFill>
            <a:prstDash val="solid"/>
          </a:ln>
        </p:spPr>
      </p:sp>
      <p:sp>
        <p:nvSpPr>
          <p:cNvPr id="4" name="Text 2"/>
          <p:cNvSpPr txBox="1"/>
          <p:nvPr/>
        </p:nvSpPr>
        <p:spPr>
          <a:xfrm>
            <a:off x="749808" y="1444752"/>
            <a:ext cx="5577840" cy="374904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public final class Movimiento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private final Posicion origen, destino;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private final Pieza piezaMovida, piezaCapturada;</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private final Color color;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private final EstadoMovimiento estado;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public Movimiento conEstado(EstadoMovimiento e)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new Movimiento(origen, destino,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piezaMovida, piezaCapturada, 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public String toNotacion() {         </a:t>
            </a:r>
            <a:pPr indent="0" marL="0">
              <a:buNone/>
            </a:pPr>
            <a:r>
              <a:rPr lang="en-US" sz="1300" dirty="0">
                <a:solidFill>
                  <a:schemeClr val="accent1"/>
                </a:solidFill>
                <a:latin typeface="Courier New" pitchFamily="34" charset="0"/>
                <a:ea typeface="Courier New" pitchFamily="34" charset="-122"/>
                <a:cs typeface="Courier New" pitchFamily="34" charset="-120"/>
              </a:rPr>
              <a:t>// MySQL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origen + "-" + destino;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public String toNotacionCompleta() { </a:t>
            </a:r>
            <a:pPr indent="0" marL="0">
              <a:buNone/>
            </a:pPr>
            <a:r>
              <a:rPr lang="en-US" sz="1300" dirty="0">
                <a:solidFill>
                  <a:schemeClr val="accent1"/>
                </a:solidFill>
                <a:latin typeface="Courier New" pitchFamily="34" charset="0"/>
                <a:ea typeface="Courier New" pitchFamily="34" charset="-122"/>
                <a:cs typeface="Courier New" pitchFamily="34" charset="-120"/>
              </a:rPr>
              <a:t>// tabla</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origen + (esCaptura() ? "x" :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destino + estado.getSufijo();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5" name="Text 3"/>
          <p:cNvSpPr txBox="1"/>
          <p:nvPr/>
        </p:nvSpPr>
        <p:spPr>
          <a:xfrm>
            <a:off x="548640" y="5440680"/>
            <a:ext cx="5943600" cy="274320"/>
          </a:xfrm>
          <a:prstGeom prst="rect">
            <a:avLst/>
          </a:prstGeom>
          <a:noFill/>
          <a:ln/>
        </p:spPr>
        <p:txBody>
          <a:bodyPr wrap="square" lIns="0" tIns="0" rIns="0" bIns="0" rtlCol="0" anchor="t"/>
          <a:lstStyle/>
          <a:p>
            <a:pPr indent="0" marL="0">
              <a:buNone/>
            </a:pPr>
            <a:r>
              <a:rPr lang="en-US" sz="1100" dirty="0">
                <a:solidFill>
                  <a:schemeClr val="accent5"/>
                </a:solidFill>
              </a:rPr>
              <a:t>Código simplificado: las posiciones se convierten con toNotacion().</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766560" y="1280160"/>
          <a:ext cx="4846320" cy="914400"/>
        </p:xfrm>
        <a:graphic>
          <a:graphicData uri="http://schemas.openxmlformats.org/drawingml/2006/table">
            <a:tbl>
              <a:tblPr/>
              <a:tblGrid>
                <a:gridCol w="1874520"/>
                <a:gridCol w="1463040"/>
                <a:gridCol w="1508760"/>
              </a:tblGrid>
              <a:tr h="411480">
                <a:tc>
                  <a:txBody>
                    <a:bodyPr/>
                    <a:lstStyle/>
                    <a:p>
                      <a:pPr indent="0" marL="0">
                        <a:buNone/>
                      </a:pPr>
                      <a:r>
                        <a:rPr lang="en-US" sz="1300" b="1" dirty="0">
                          <a:solidFill>
                            <a:schemeClr val="bg1"/>
                          </a:solidFill>
                        </a:rPr>
                        <a:t>Jugada</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Se muestra</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Estado</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r>
              <a:tr h="411480">
                <a:tc>
                  <a:txBody>
                    <a:bodyPr/>
                    <a:lstStyle/>
                    <a:p>
                      <a:pPr indent="0" marL="0">
                        <a:buNone/>
                      </a:pPr>
                      <a:r>
                        <a:rPr lang="en-US" sz="1300" dirty="0">
                          <a:solidFill>
                            <a:schemeClr val="tx1"/>
                          </a:solidFill>
                        </a:rPr>
                        <a:t>Peón e2 a e4</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e2-e4</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NORMAL</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Peón captura en d5</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e4xd5</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NORMAL</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Dama da jaque</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d1-h5+</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JAQUE</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Mate del pastor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h5xf7#</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JAQUE_MATE</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bl>
          </a:graphicData>
        </a:graphic>
      </p:graphicFrame>
      <p:sp>
        <p:nvSpPr>
          <p:cNvPr id="7" name="Shape 4"/>
          <p:cNvSpPr/>
          <p:nvPr/>
        </p:nvSpPr>
        <p:spPr>
          <a:xfrm>
            <a:off x="6766560" y="3657600"/>
            <a:ext cx="484632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6995160" y="3822192"/>
            <a:ext cx="4389120" cy="365760"/>
          </a:xfrm>
          <a:prstGeom prst="rect">
            <a:avLst/>
          </a:prstGeom>
          <a:noFill/>
          <a:ln/>
        </p:spPr>
        <p:txBody>
          <a:bodyPr wrap="square" lIns="0" tIns="0" rIns="0" bIns="0" rtlCol="0" anchor="t"/>
          <a:lstStyle/>
          <a:p>
            <a:pPr indent="0" marL="0">
              <a:buNone/>
            </a:pPr>
            <a:r>
              <a:rPr lang="en-US" sz="1700" b="1" dirty="0">
                <a:solidFill>
                  <a:schemeClr val="tx1"/>
                </a:solidFill>
              </a:rPr>
              <a:t>¿Por qué inmutable?</a:t>
            </a:r>
            <a:endParaRPr lang="en-US" sz="1700" dirty="0"/>
          </a:p>
        </p:txBody>
      </p:sp>
      <p:sp>
        <p:nvSpPr>
          <p:cNvPr id="9" name="Text 6"/>
          <p:cNvSpPr txBox="1"/>
          <p:nvPr/>
        </p:nvSpPr>
        <p:spPr>
          <a:xfrm>
            <a:off x="6995160" y="4224528"/>
            <a:ext cx="4389120" cy="640080"/>
          </a:xfrm>
          <a:prstGeom prst="rect">
            <a:avLst/>
          </a:prstGeom>
          <a:noFill/>
          <a:ln/>
        </p:spPr>
        <p:txBody>
          <a:bodyPr wrap="square" lIns="0" tIns="0" rIns="0" bIns="0" rtlCol="0" anchor="t"/>
          <a:lstStyle/>
          <a:p>
            <a:pPr indent="0" marL="0">
              <a:buNone/>
            </a:pPr>
            <a:r>
              <a:rPr lang="en-US" sz="1400" dirty="0">
                <a:solidFill>
                  <a:schemeClr val="tx2"/>
                </a:solidFill>
              </a:rPr>
              <a:t>Nadie puede alterar una jugada ya guardada. Para editarla, conEstado crea una copia y la lista reemplaza el dato.</a:t>
            </a:r>
            <a:endParaRPr lang="en-US" sz="1400" dirty="0"/>
          </a:p>
        </p:txBody>
      </p:sp>
      <p:sp>
        <p:nvSpPr>
          <p:cNvPr id="10" name="Shape 7"/>
          <p:cNvSpPr/>
          <p:nvPr/>
        </p:nvSpPr>
        <p:spPr>
          <a:xfrm>
            <a:off x="6766560" y="5120640"/>
            <a:ext cx="4846320" cy="1051560"/>
          </a:xfrm>
          <a:prstGeom prst="roundRect">
            <a:avLst>
              <a:gd name="adj" fmla="val 6957"/>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6995160" y="5285232"/>
            <a:ext cx="4389120" cy="365760"/>
          </a:xfrm>
          <a:prstGeom prst="rect">
            <a:avLst/>
          </a:prstGeom>
          <a:noFill/>
          <a:ln/>
        </p:spPr>
        <p:txBody>
          <a:bodyPr wrap="square" lIns="0" tIns="0" rIns="0" bIns="0" rtlCol="0" anchor="t"/>
          <a:lstStyle/>
          <a:p>
            <a:pPr indent="0" marL="0">
              <a:buNone/>
            </a:pPr>
            <a:r>
              <a:rPr lang="en-US" sz="1700" b="1" dirty="0">
                <a:solidFill>
                  <a:schemeClr val="tx1"/>
                </a:solidFill>
              </a:rPr>
              <a:t>Guarda la pieza capturada</a:t>
            </a:r>
            <a:endParaRPr lang="en-US" sz="1700" dirty="0"/>
          </a:p>
        </p:txBody>
      </p:sp>
      <p:sp>
        <p:nvSpPr>
          <p:cNvPr id="12" name="Text 9"/>
          <p:cNvSpPr txBox="1"/>
          <p:nvPr/>
        </p:nvSpPr>
        <p:spPr>
          <a:xfrm>
            <a:off x="6995160" y="5687568"/>
            <a:ext cx="4389120" cy="365760"/>
          </a:xfrm>
          <a:prstGeom prst="rect">
            <a:avLst/>
          </a:prstGeom>
          <a:noFill/>
          <a:ln/>
        </p:spPr>
        <p:txBody>
          <a:bodyPr wrap="square" lIns="0" tIns="0" rIns="0" bIns="0" rtlCol="0" anchor="t"/>
          <a:lstStyle/>
          <a:p>
            <a:pPr indent="0" marL="0">
              <a:buNone/>
            </a:pPr>
            <a:r>
              <a:rPr lang="en-US" sz="1400" dirty="0">
                <a:solidFill>
                  <a:schemeClr val="tx2"/>
                </a:solidFill>
              </a:rPr>
              <a:t>Es lo que permite revertir la jugada y reponer la pieza en el tablero.</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HistorialMovimientos: un TDA sobre otro TDA</a:t>
            </a:r>
            <a:endParaRPr lang="en-US" sz="3200" dirty="0"/>
          </a:p>
        </p:txBody>
      </p:sp>
      <p:sp>
        <p:nvSpPr>
          <p:cNvPr id="3" name="bloque de código"/>
          <p:cNvSpPr/>
          <p:nvPr/>
        </p:nvSpPr>
        <p:spPr>
          <a:xfrm>
            <a:off x="548640" y="1280160"/>
            <a:ext cx="5486400" cy="1737360"/>
          </a:xfrm>
          <a:prstGeom prst="roundRect">
            <a:avLst>
              <a:gd name="adj" fmla="val 3158"/>
            </a:avLst>
          </a:prstGeom>
          <a:solidFill>
            <a:schemeClr val="tx2"/>
          </a:solidFill>
          <a:ln w="12700">
            <a:solidFill>
              <a:schemeClr val="tx2"/>
            </a:solidFill>
            <a:prstDash val="solid"/>
          </a:ln>
        </p:spPr>
      </p:sp>
      <p:sp>
        <p:nvSpPr>
          <p:cNvPr id="4" name="Text 2"/>
          <p:cNvSpPr txBox="1"/>
          <p:nvPr/>
        </p:nvSpPr>
        <p:spPr>
          <a:xfrm>
            <a:off x="749808" y="1444752"/>
            <a:ext cx="5120640" cy="146304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public class HistorialMovimientos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implements Iterable&lt;Movimiento&gt;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private final TADLista&lt;Movimiento&gt; movimientos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new ListaDoblementeEnlazada&lt;&gt;();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64240" cy="914400"/>
        </p:xfrm>
        <a:graphic>
          <a:graphicData uri="http://schemas.openxmlformats.org/drawingml/2006/table">
            <a:tbl>
              <a:tblPr/>
              <a:tblGrid>
                <a:gridCol w="2377440"/>
                <a:gridCol w="3017520"/>
                <a:gridCol w="4389120"/>
                <a:gridCol w="1280160"/>
              </a:tblGrid>
              <a:tr h="402336">
                <a:tc>
                  <a:txBody>
                    <a:bodyPr/>
                    <a:lstStyle/>
                    <a:p>
                      <a:pPr indent="0" marL="0">
                        <a:buNone/>
                      </a:pPr>
                      <a:r>
                        <a:rPr lang="en-US" sz="1300" b="1" dirty="0">
                          <a:solidFill>
                            <a:schemeClr val="bg1"/>
                          </a:solidFill>
                        </a:rPr>
                        <a:t>Acción del juego</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Método del historial</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Operación del TDA</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Costo</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r>
              <a:tr h="402336">
                <a:tc>
                  <a:txBody>
                    <a:bodyPr/>
                    <a:lstStyle/>
                    <a:p>
                      <a:pPr indent="0" marL="0">
                        <a:buNone/>
                      </a:pPr>
                      <a:r>
                        <a:rPr lang="en-US" sz="1300" dirty="0">
                          <a:solidFill>
                            <a:schemeClr val="tx1"/>
                          </a:solidFill>
                        </a:rPr>
                        <a:t>Jugar</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registrar(m)</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insertarAlFinal  (crear)</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O(1)</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02336">
                <a:tc>
                  <a:txBody>
                    <a:bodyPr/>
                    <a:lstStyle/>
                    <a:p>
                      <a:pPr indent="0" marL="0">
                        <a:buNone/>
                      </a:pPr>
                      <a:r>
                        <a:rPr lang="en-US" sz="1300" dirty="0">
                          <a:solidFill>
                            <a:schemeClr val="tx1"/>
                          </a:solidFill>
                        </a:rPr>
                        <a:t>Anotar jaque / mate</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marcarUltimo(estado)</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modificarUltimo  (editar)</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O(1)</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02336">
                <a:tc>
                  <a:txBody>
                    <a:bodyPr/>
                    <a:lstStyle/>
                    <a:p>
                      <a:pPr indent="0" marL="0">
                        <a:buNone/>
                      </a:pPr>
                      <a:r>
                        <a:rPr lang="en-US" sz="1300" dirty="0">
                          <a:solidFill>
                            <a:schemeClr val="tx1"/>
                          </a:solidFill>
                        </a:rPr>
                        <a:t>Regresar movimiento</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deshacerUltimo()</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eliminarUltimo  (eliminar)</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O(1)</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02336">
                <a:tc>
                  <a:txBody>
                    <a:bodyPr/>
                    <a:lstStyle/>
                    <a:p>
                      <a:pPr indent="0" marL="0">
                        <a:buNone/>
                      </a:pPr>
                      <a:r>
                        <a:rPr lang="en-US" sz="1300" dirty="0">
                          <a:solidFill>
                            <a:schemeClr val="tx1"/>
                          </a:solidFill>
                        </a:rPr>
                        <a:t>Última jugada</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getUltimo()</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obtenerUltimo</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O(1)</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02336">
                <a:tc>
                  <a:txBody>
                    <a:bodyPr/>
                    <a:lstStyle/>
                    <a:p>
                      <a:pPr indent="0" marL="0">
                        <a:buNone/>
                      </a:pPr>
                      <a:r>
                        <a:rPr lang="en-US" sz="1300" dirty="0">
                          <a:solidFill>
                            <a:schemeClr val="tx1"/>
                          </a:solidFill>
                        </a:rPr>
                        <a:t>Jugada número 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getMovimiento(n)</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obtener(n - 1)</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O(n/2)</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02336">
                <a:tc>
                  <a:txBody>
                    <a:bodyPr/>
                    <a:lstStyle/>
                    <a:p>
                      <a:pPr indent="0" marL="0">
                        <a:buNone/>
                      </a:pPr>
                      <a:r>
                        <a:rPr lang="en-US" sz="1300" dirty="0">
                          <a:solidFill>
                            <a:schemeClr val="tx1"/>
                          </a:solidFill>
                        </a:rPr>
                        <a:t>Tabla / online</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for-each · aNotaciones()</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iterator  (recorrer)</a:t>
                      </a:r>
                      <a:endParaRPr lang="en-US" sz="1200" dirty="0">
                        <a:latin typeface="Courier New" charset="0"/>
                        <a:ea typeface="Courier New" charset="0"/>
                        <a:cs typeface="Courier New" charset="0"/>
                      </a:endParaRPr>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O(n)</a:t>
                      </a:r>
                      <a:endParaRPr lang="en-US" sz="13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bl>
          </a:graphicData>
        </a:graphic>
      </p:graphicFrame>
      <p:sp>
        <p:nvSpPr>
          <p:cNvPr id="6" name="Shape 3"/>
          <p:cNvSpPr/>
          <p:nvPr/>
        </p:nvSpPr>
        <p:spPr>
          <a:xfrm>
            <a:off x="8915400" y="1280160"/>
            <a:ext cx="2697480" cy="1783080"/>
          </a:xfrm>
          <a:prstGeom prst="roundRect">
            <a:avLst>
              <a:gd name="adj" fmla="val 4103"/>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9144000" y="1444752"/>
            <a:ext cx="2240280" cy="365760"/>
          </a:xfrm>
          <a:prstGeom prst="rect">
            <a:avLst/>
          </a:prstGeom>
          <a:noFill/>
          <a:ln/>
        </p:spPr>
        <p:txBody>
          <a:bodyPr wrap="square" lIns="0" tIns="0" rIns="0" bIns="0" rtlCol="0" anchor="t"/>
          <a:lstStyle/>
          <a:p>
            <a:pPr indent="0" marL="0">
              <a:buNone/>
            </a:pPr>
            <a:r>
              <a:rPr lang="en-US" sz="1700" b="1" dirty="0">
                <a:solidFill>
                  <a:schemeClr val="tx1"/>
                </a:solidFill>
              </a:rPr>
              <a:t>Restringe el TDA</a:t>
            </a:r>
            <a:endParaRPr lang="en-US" sz="1700" dirty="0"/>
          </a:p>
        </p:txBody>
      </p:sp>
      <p:sp>
        <p:nvSpPr>
          <p:cNvPr id="8" name="Text 5"/>
          <p:cNvSpPr txBox="1"/>
          <p:nvPr/>
        </p:nvSpPr>
        <p:spPr>
          <a:xfrm>
            <a:off x="9144000" y="1847088"/>
            <a:ext cx="2240280" cy="1097280"/>
          </a:xfrm>
          <a:prstGeom prst="rect">
            <a:avLst/>
          </a:prstGeom>
          <a:noFill/>
          <a:ln/>
        </p:spPr>
        <p:txBody>
          <a:bodyPr wrap="square" lIns="0" tIns="0" rIns="0" bIns="0" rtlCol="0" anchor="t"/>
          <a:lstStyle/>
          <a:p>
            <a:pPr indent="0" marL="0">
              <a:buNone/>
            </a:pPr>
            <a:r>
              <a:rPr lang="en-US" sz="1400" dirty="0">
                <a:solidFill>
                  <a:schemeClr val="tx2"/>
                </a:solidFill>
              </a:rPr>
              <a:t>No expone insertarEn ni eliminarEn: no se insertan ni borran jugadas en medio.</a:t>
            </a:r>
            <a:endParaRPr lang="en-US" sz="1400" dirty="0"/>
          </a:p>
        </p:txBody>
      </p:sp>
      <p:sp>
        <p:nvSpPr>
          <p:cNvPr id="9" name="Shape 6"/>
          <p:cNvSpPr/>
          <p:nvPr/>
        </p:nvSpPr>
        <p:spPr>
          <a:xfrm>
            <a:off x="6263640" y="1280160"/>
            <a:ext cx="246888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6492240" y="1444752"/>
            <a:ext cx="2011680" cy="365760"/>
          </a:xfrm>
          <a:prstGeom prst="rect">
            <a:avLst/>
          </a:prstGeom>
          <a:noFill/>
          <a:ln/>
        </p:spPr>
        <p:txBody>
          <a:bodyPr wrap="square" lIns="0" tIns="0" rIns="0" bIns="0" rtlCol="0" anchor="t"/>
          <a:lstStyle/>
          <a:p>
            <a:pPr indent="0" marL="0">
              <a:buNone/>
            </a:pPr>
            <a:r>
              <a:rPr lang="en-US" sz="1700" b="1" dirty="0">
                <a:solidFill>
                  <a:schemeClr val="tx1"/>
                </a:solidFill>
              </a:rPr>
              <a:t>Contra la interfaz</a:t>
            </a:r>
            <a:endParaRPr lang="en-US" sz="1700" dirty="0"/>
          </a:p>
        </p:txBody>
      </p:sp>
      <p:sp>
        <p:nvSpPr>
          <p:cNvPr id="11" name="Text 8"/>
          <p:cNvSpPr txBox="1"/>
          <p:nvPr/>
        </p:nvSpPr>
        <p:spPr>
          <a:xfrm>
            <a:off x="6492240" y="1847088"/>
            <a:ext cx="2011680" cy="1097280"/>
          </a:xfrm>
          <a:prstGeom prst="rect">
            <a:avLst/>
          </a:prstGeom>
          <a:noFill/>
          <a:ln/>
        </p:spPr>
        <p:txBody>
          <a:bodyPr wrap="square" lIns="0" tIns="0" rIns="0" bIns="0" rtlCol="0" anchor="t"/>
          <a:lstStyle/>
          <a:p>
            <a:pPr indent="0" marL="0">
              <a:buNone/>
            </a:pPr>
            <a:r>
              <a:rPr lang="en-US" sz="1400" dirty="0">
                <a:solidFill>
                  <a:schemeClr val="tx2"/>
                </a:solidFill>
              </a:rPr>
              <a:t>El atributo es TADLista&lt;Movimiento&gt;: la implementación cambia en una línea.</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Flujo · jugar: crear y editar</a:t>
            </a:r>
            <a:endParaRPr lang="en-US" sz="3200" dirty="0"/>
          </a:p>
        </p:txBody>
      </p:sp>
      <p:sp>
        <p:nvSpPr>
          <p:cNvPr id="3" name="bloque de código"/>
          <p:cNvSpPr/>
          <p:nvPr/>
        </p:nvSpPr>
        <p:spPr>
          <a:xfrm>
            <a:off x="548640" y="1280160"/>
            <a:ext cx="6492240" cy="3825240"/>
          </a:xfrm>
          <a:prstGeom prst="roundRect">
            <a:avLst>
              <a:gd name="adj" fmla="val 1434"/>
            </a:avLst>
          </a:prstGeom>
          <a:solidFill>
            <a:schemeClr val="tx2"/>
          </a:solidFill>
          <a:ln w="12700">
            <a:solidFill>
              <a:schemeClr val="tx2"/>
            </a:solidFill>
            <a:prstDash val="solid"/>
          </a:ln>
        </p:spPr>
      </p:sp>
      <p:sp>
        <p:nvSpPr>
          <p:cNvPr id="4" name="Text 2"/>
          <p:cNvSpPr txBox="1"/>
          <p:nvPr/>
        </p:nvSpPr>
        <p:spPr>
          <a:xfrm>
            <a:off x="749808" y="1444752"/>
            <a:ext cx="6126480" cy="355092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public boolean realizarMovimiento(Posicion o, Posicion d)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(estado != EstadoJuego.EN_PROGRESO) return false;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Pieza movida = tablero.getPieza(o);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Pieza capturada = tablero.getPieza(d);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(!tablero.ejecutarMovimiento(o, d)) return false;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historial.registrar(                      </a:t>
            </a:r>
            <a:pPr indent="0" marL="0">
              <a:buNone/>
            </a:pPr>
            <a:r>
              <a:rPr lang="en-US" sz="1300" dirty="0">
                <a:solidFill>
                  <a:schemeClr val="accent1"/>
                </a:solidFill>
                <a:latin typeface="Courier New" pitchFamily="34" charset="0"/>
                <a:ea typeface="Courier New" pitchFamily="34" charset="-122"/>
                <a:cs typeface="Courier New" pitchFamily="34" charset="-120"/>
              </a:rPr>
              <a:t>// CREAR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new Movimiento(o, d, movida, capturada));</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turnoActual = rival(turnoActual);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(tablero.estaEnJaque(turnoActual)) {   </a:t>
            </a:r>
            <a:pPr indent="0" marL="0">
              <a:buNone/>
            </a:pPr>
            <a:r>
              <a:rPr lang="en-US" sz="1300" dirty="0">
                <a:solidFill>
                  <a:schemeClr val="accent1"/>
                </a:solidFill>
                <a:latin typeface="Courier New" pitchFamily="34" charset="0"/>
                <a:ea typeface="Courier New" pitchFamily="34" charset="-122"/>
                <a:cs typeface="Courier New" pitchFamily="34" charset="-120"/>
              </a:rPr>
              <a:t>// EDITAR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historial.marcarUltimo(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tablero.estaEnJaqueMate(turnoActual)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JAQUE_MATE : JAQUE);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true;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5" name="Shape 3"/>
          <p:cNvSpPr/>
          <p:nvPr/>
        </p:nvSpPr>
        <p:spPr>
          <a:xfrm>
            <a:off x="7406640" y="1280160"/>
            <a:ext cx="4206240" cy="749808"/>
          </a:xfrm>
          <a:prstGeom prst="roundRect">
            <a:avLst>
              <a:gd name="adj" fmla="val 97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7589520" y="1353312"/>
            <a:ext cx="3931920" cy="32004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VistaJuego</a:t>
            </a:r>
            <a:endParaRPr lang="en-US" sz="1400" dirty="0"/>
          </a:p>
        </p:txBody>
      </p:sp>
      <p:sp>
        <p:nvSpPr>
          <p:cNvPr id="7" name="Text 5"/>
          <p:cNvSpPr txBox="1"/>
          <p:nvPr/>
        </p:nvSpPr>
        <p:spPr>
          <a:xfrm>
            <a:off x="7589520" y="1673352"/>
            <a:ext cx="3931920" cy="292608"/>
          </a:xfrm>
          <a:prstGeom prst="rect">
            <a:avLst/>
          </a:prstGeom>
          <a:noFill/>
          <a:ln/>
        </p:spPr>
        <p:txBody>
          <a:bodyPr wrap="square" lIns="0" tIns="0" rIns="0" bIns="0" rtlCol="0" anchor="t"/>
          <a:lstStyle/>
          <a:p>
            <a:pPr indent="0" marL="0">
              <a:buNone/>
            </a:pPr>
            <a:r>
              <a:rPr lang="en-US" sz="1300" dirty="0">
                <a:solidFill>
                  <a:schemeClr val="tx2"/>
                </a:solidFill>
              </a:rPr>
              <a:t>clic en la casilla destino</a:t>
            </a:r>
            <a:endParaRPr lang="en-US" sz="1300" dirty="0"/>
          </a:p>
        </p:txBody>
      </p:sp>
      <p:sp>
        <p:nvSpPr>
          <p:cNvPr id="8" name="Shape 6"/>
          <p:cNvSpPr/>
          <p:nvPr/>
        </p:nvSpPr>
        <p:spPr>
          <a:xfrm>
            <a:off x="9509760" y="2057400"/>
            <a:ext cx="914" cy="182880"/>
          </a:xfrm>
          <a:prstGeom prst="line">
            <a:avLst/>
          </a:prstGeom>
          <a:noFill/>
          <a:ln w="25400">
            <a:solidFill>
              <a:schemeClr val="tx1"/>
            </a:solidFill>
            <a:prstDash val="solid"/>
            <a:tailEnd type="triangle"/>
          </a:ln>
        </p:spPr>
      </p:sp>
      <p:sp>
        <p:nvSpPr>
          <p:cNvPr id="9" name="Shape 7"/>
          <p:cNvSpPr/>
          <p:nvPr/>
        </p:nvSpPr>
        <p:spPr>
          <a:xfrm>
            <a:off x="7406640" y="2267712"/>
            <a:ext cx="4206240" cy="749808"/>
          </a:xfrm>
          <a:prstGeom prst="roundRect">
            <a:avLst>
              <a:gd name="adj" fmla="val 97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7589520" y="2340864"/>
            <a:ext cx="3931920" cy="32004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Tablero</a:t>
            </a:r>
            <a:endParaRPr lang="en-US" sz="1400" dirty="0"/>
          </a:p>
        </p:txBody>
      </p:sp>
      <p:sp>
        <p:nvSpPr>
          <p:cNvPr id="11" name="Text 9"/>
          <p:cNvSpPr txBox="1"/>
          <p:nvPr/>
        </p:nvSpPr>
        <p:spPr>
          <a:xfrm>
            <a:off x="7589520" y="2660904"/>
            <a:ext cx="3931920" cy="292608"/>
          </a:xfrm>
          <a:prstGeom prst="rect">
            <a:avLst/>
          </a:prstGeom>
          <a:noFill/>
          <a:ln/>
        </p:spPr>
        <p:txBody>
          <a:bodyPr wrap="square" lIns="0" tIns="0" rIns="0" bIns="0" rtlCol="0" anchor="t"/>
          <a:lstStyle/>
          <a:p>
            <a:pPr indent="0" marL="0">
              <a:buNone/>
            </a:pPr>
            <a:r>
              <a:rPr lang="en-US" sz="1300" dirty="0">
                <a:solidFill>
                  <a:schemeClr val="tx2"/>
                </a:solidFill>
              </a:rPr>
              <a:t>valida y ejecuta la jugada</a:t>
            </a:r>
            <a:endParaRPr lang="en-US" sz="1300" dirty="0"/>
          </a:p>
        </p:txBody>
      </p:sp>
      <p:sp>
        <p:nvSpPr>
          <p:cNvPr id="12" name="Shape 10"/>
          <p:cNvSpPr/>
          <p:nvPr/>
        </p:nvSpPr>
        <p:spPr>
          <a:xfrm>
            <a:off x="9509760" y="3044952"/>
            <a:ext cx="914" cy="182880"/>
          </a:xfrm>
          <a:prstGeom prst="line">
            <a:avLst/>
          </a:prstGeom>
          <a:noFill/>
          <a:ln w="25400">
            <a:solidFill>
              <a:schemeClr val="tx1"/>
            </a:solidFill>
            <a:prstDash val="solid"/>
            <a:tailEnd type="triangle"/>
          </a:ln>
        </p:spPr>
      </p:sp>
      <p:sp>
        <p:nvSpPr>
          <p:cNvPr id="13" name="Shape 11"/>
          <p:cNvSpPr/>
          <p:nvPr/>
        </p:nvSpPr>
        <p:spPr>
          <a:xfrm>
            <a:off x="7406640" y="3255264"/>
            <a:ext cx="4206240" cy="749808"/>
          </a:xfrm>
          <a:prstGeom prst="roundRect">
            <a:avLst>
              <a:gd name="adj" fmla="val 9756"/>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589520" y="3328416"/>
            <a:ext cx="3931920" cy="320040"/>
          </a:xfrm>
          <a:prstGeom prst="rect">
            <a:avLst/>
          </a:prstGeom>
          <a:noFill/>
          <a:ln/>
        </p:spPr>
        <p:txBody>
          <a:bodyPr wrap="square" lIns="0" tIns="0" rIns="0" bIns="0" rtlCol="0" anchor="t"/>
          <a:lstStyle/>
          <a:p>
            <a:pPr indent="0" marL="0">
              <a:buNone/>
            </a:pPr>
            <a:r>
              <a:rPr lang="en-US" sz="1400" b="1" dirty="0">
                <a:solidFill>
                  <a:schemeClr val="bg1"/>
                </a:solidFill>
                <a:latin typeface="Courier New" pitchFamily="34" charset="0"/>
                <a:ea typeface="Courier New" pitchFamily="34" charset="-122"/>
                <a:cs typeface="Courier New" pitchFamily="34" charset="-120"/>
              </a:rPr>
              <a:t>historial.registrar</a:t>
            </a:r>
            <a:endParaRPr lang="en-US" sz="1400" dirty="0"/>
          </a:p>
        </p:txBody>
      </p:sp>
      <p:sp>
        <p:nvSpPr>
          <p:cNvPr id="15" name="Text 13"/>
          <p:cNvSpPr txBox="1"/>
          <p:nvPr/>
        </p:nvSpPr>
        <p:spPr>
          <a:xfrm>
            <a:off x="7589520" y="3648456"/>
            <a:ext cx="3931920" cy="292608"/>
          </a:xfrm>
          <a:prstGeom prst="rect">
            <a:avLst/>
          </a:prstGeom>
          <a:noFill/>
          <a:ln/>
        </p:spPr>
        <p:txBody>
          <a:bodyPr wrap="square" lIns="0" tIns="0" rIns="0" bIns="0" rtlCol="0" anchor="t"/>
          <a:lstStyle/>
          <a:p>
            <a:pPr indent="0" marL="0">
              <a:buNone/>
            </a:pPr>
            <a:r>
              <a:rPr lang="en-US" sz="1300" dirty="0">
                <a:solidFill>
                  <a:schemeClr val="bg1"/>
                </a:solidFill>
              </a:rPr>
              <a:t>lista.insertarAlFinal</a:t>
            </a:r>
            <a:endParaRPr lang="en-US" sz="1300" dirty="0"/>
          </a:p>
        </p:txBody>
      </p:sp>
      <p:sp>
        <p:nvSpPr>
          <p:cNvPr id="16" name="Shape 14"/>
          <p:cNvSpPr/>
          <p:nvPr/>
        </p:nvSpPr>
        <p:spPr>
          <a:xfrm>
            <a:off x="9509760" y="4032504"/>
            <a:ext cx="914" cy="182880"/>
          </a:xfrm>
          <a:prstGeom prst="line">
            <a:avLst/>
          </a:prstGeom>
          <a:noFill/>
          <a:ln w="25400">
            <a:solidFill>
              <a:schemeClr val="tx1"/>
            </a:solidFill>
            <a:prstDash val="solid"/>
            <a:tailEnd type="triangle"/>
          </a:ln>
        </p:spPr>
      </p:sp>
      <p:sp>
        <p:nvSpPr>
          <p:cNvPr id="17" name="Shape 15"/>
          <p:cNvSpPr/>
          <p:nvPr/>
        </p:nvSpPr>
        <p:spPr>
          <a:xfrm>
            <a:off x="7406640" y="4242816"/>
            <a:ext cx="4206240" cy="749808"/>
          </a:xfrm>
          <a:prstGeom prst="roundRect">
            <a:avLst>
              <a:gd name="adj" fmla="val 9756"/>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7589520" y="4315968"/>
            <a:ext cx="3931920" cy="320040"/>
          </a:xfrm>
          <a:prstGeom prst="rect">
            <a:avLst/>
          </a:prstGeom>
          <a:noFill/>
          <a:ln/>
        </p:spPr>
        <p:txBody>
          <a:bodyPr wrap="square" lIns="0" tIns="0" rIns="0" bIns="0" rtlCol="0" anchor="t"/>
          <a:lstStyle/>
          <a:p>
            <a:pPr indent="0" marL="0">
              <a:buNone/>
            </a:pPr>
            <a:r>
              <a:rPr lang="en-US" sz="1400" b="1" dirty="0">
                <a:solidFill>
                  <a:schemeClr val="bg1"/>
                </a:solidFill>
                <a:latin typeface="Courier New" pitchFamily="34" charset="0"/>
                <a:ea typeface="Courier New" pitchFamily="34" charset="-122"/>
                <a:cs typeface="Courier New" pitchFamily="34" charset="-120"/>
              </a:rPr>
              <a:t>historial.marcarUltimo</a:t>
            </a:r>
            <a:endParaRPr lang="en-US" sz="1400" dirty="0"/>
          </a:p>
        </p:txBody>
      </p:sp>
      <p:sp>
        <p:nvSpPr>
          <p:cNvPr id="19" name="Text 17"/>
          <p:cNvSpPr txBox="1"/>
          <p:nvPr/>
        </p:nvSpPr>
        <p:spPr>
          <a:xfrm>
            <a:off x="7589520" y="4636008"/>
            <a:ext cx="3931920" cy="292608"/>
          </a:xfrm>
          <a:prstGeom prst="rect">
            <a:avLst/>
          </a:prstGeom>
          <a:noFill/>
          <a:ln/>
        </p:spPr>
        <p:txBody>
          <a:bodyPr wrap="square" lIns="0" tIns="0" rIns="0" bIns="0" rtlCol="0" anchor="t"/>
          <a:lstStyle/>
          <a:p>
            <a:pPr indent="0" marL="0">
              <a:buNone/>
            </a:pPr>
            <a:r>
              <a:rPr lang="en-US" sz="1300" dirty="0">
                <a:solidFill>
                  <a:schemeClr val="bg1"/>
                </a:solidFill>
              </a:rPr>
              <a:t>lista.modificarUltimo</a:t>
            </a:r>
            <a:endParaRPr lang="en-US" sz="1300" dirty="0"/>
          </a:p>
        </p:txBody>
      </p:sp>
      <p:sp>
        <p:nvSpPr>
          <p:cNvPr id="20" name="Shape 18"/>
          <p:cNvSpPr/>
          <p:nvPr/>
        </p:nvSpPr>
        <p:spPr>
          <a:xfrm>
            <a:off x="9509760" y="5020056"/>
            <a:ext cx="914" cy="182880"/>
          </a:xfrm>
          <a:prstGeom prst="line">
            <a:avLst/>
          </a:prstGeom>
          <a:noFill/>
          <a:ln w="25400">
            <a:solidFill>
              <a:schemeClr val="tx1"/>
            </a:solidFill>
            <a:prstDash val="solid"/>
            <a:tailEnd type="triangle"/>
          </a:ln>
        </p:spPr>
      </p:sp>
      <p:sp>
        <p:nvSpPr>
          <p:cNvPr id="21" name="Shape 19"/>
          <p:cNvSpPr/>
          <p:nvPr/>
        </p:nvSpPr>
        <p:spPr>
          <a:xfrm>
            <a:off x="7406640" y="5230368"/>
            <a:ext cx="4206240" cy="749808"/>
          </a:xfrm>
          <a:prstGeom prst="roundRect">
            <a:avLst>
              <a:gd name="adj" fmla="val 97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7589520" y="5303520"/>
            <a:ext cx="3931920" cy="32004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VistaJuego</a:t>
            </a:r>
            <a:endParaRPr lang="en-US" sz="1400" dirty="0"/>
          </a:p>
        </p:txBody>
      </p:sp>
      <p:sp>
        <p:nvSpPr>
          <p:cNvPr id="23" name="Text 21"/>
          <p:cNvSpPr txBox="1"/>
          <p:nvPr/>
        </p:nvSpPr>
        <p:spPr>
          <a:xfrm>
            <a:off x="7589520" y="5623560"/>
            <a:ext cx="3931920" cy="292608"/>
          </a:xfrm>
          <a:prstGeom prst="rect">
            <a:avLst/>
          </a:prstGeom>
          <a:noFill/>
          <a:ln/>
        </p:spPr>
        <p:txBody>
          <a:bodyPr wrap="square" lIns="0" tIns="0" rIns="0" bIns="0" rtlCol="0" anchor="t"/>
          <a:lstStyle/>
          <a:p>
            <a:pPr indent="0" marL="0">
              <a:buNone/>
            </a:pPr>
            <a:r>
              <a:rPr lang="en-US" sz="1300" dirty="0">
                <a:solidFill>
                  <a:schemeClr val="tx2"/>
                </a:solidFill>
              </a:rPr>
              <a:t>for-each: redibuja la tabla</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Flujo · regresar movimiento: eliminar</a:t>
            </a:r>
            <a:endParaRPr lang="en-US" sz="3200" dirty="0"/>
          </a:p>
        </p:txBody>
      </p:sp>
      <p:sp>
        <p:nvSpPr>
          <p:cNvPr id="3" name="bloque de código"/>
          <p:cNvSpPr/>
          <p:nvPr/>
        </p:nvSpPr>
        <p:spPr>
          <a:xfrm>
            <a:off x="548640" y="1280160"/>
            <a:ext cx="6766560" cy="3429000"/>
          </a:xfrm>
          <a:prstGeom prst="roundRect">
            <a:avLst>
              <a:gd name="adj" fmla="val 1600"/>
            </a:avLst>
          </a:prstGeom>
          <a:solidFill>
            <a:schemeClr val="tx2"/>
          </a:solidFill>
          <a:ln w="12700">
            <a:solidFill>
              <a:schemeClr val="tx2"/>
            </a:solidFill>
            <a:prstDash val="solid"/>
          </a:ln>
        </p:spPr>
      </p:sp>
      <p:sp>
        <p:nvSpPr>
          <p:cNvPr id="4" name="Text 2"/>
          <p:cNvSpPr txBox="1"/>
          <p:nvPr/>
        </p:nvSpPr>
        <p:spPr>
          <a:xfrm>
            <a:off x="749808" y="1444752"/>
            <a:ext cx="6400800" cy="315468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public boolean puedeRetroceder(Color color)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(estado != EstadoJuego.EN_PROGRESO) return false;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Movimiento ultimo = historial.getUltimo();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ultimo != null &amp;&amp; ultimo.getColor() == color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&amp;&amp; getRetrocesosRestantes(color) &gt; 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public boolean retrocederMovimiento(Color color)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(!puedeRetroceder(color)) return false;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Movimiento ultimo = historial.deshacerUltimo(); </a:t>
            </a:r>
            <a:pPr indent="0" marL="0">
              <a:buNone/>
            </a:pPr>
            <a:r>
              <a:rPr lang="en-US" sz="1300" dirty="0">
                <a:solidFill>
                  <a:schemeClr val="accent1"/>
                </a:solidFill>
                <a:latin typeface="Courier New" pitchFamily="34" charset="0"/>
                <a:ea typeface="Courier New" pitchFamily="34" charset="-122"/>
                <a:cs typeface="Courier New" pitchFamily="34" charset="-120"/>
              </a:rPr>
              <a:t>// ELIMINAR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tablero.deshacerMovimiento(ultimo);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turnoActual = ultimo.getColor();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1"/>
                </a:solidFill>
                <a:latin typeface="Courier New" pitchFamily="34" charset="0"/>
                <a:ea typeface="Courier New" pitchFamily="34" charset="-122"/>
                <a:cs typeface="Courier New" pitchFamily="34" charset="-120"/>
              </a:rPr>
              <a:t>// descuenta 1 de MAX_RETROCESOS = 2</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true;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5" name="Shape 3"/>
          <p:cNvSpPr/>
          <p:nvPr/>
        </p:nvSpPr>
        <p:spPr>
          <a:xfrm>
            <a:off x="7589520" y="1280160"/>
            <a:ext cx="40233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7818120" y="1444752"/>
            <a:ext cx="3566160" cy="365760"/>
          </a:xfrm>
          <a:prstGeom prst="rect">
            <a:avLst/>
          </a:prstGeom>
          <a:noFill/>
          <a:ln/>
        </p:spPr>
        <p:txBody>
          <a:bodyPr wrap="square" lIns="0" tIns="0" rIns="0" bIns="0" rtlCol="0" anchor="t"/>
          <a:lstStyle/>
          <a:p>
            <a:pPr indent="0" marL="0">
              <a:buNone/>
            </a:pPr>
            <a:r>
              <a:rPr lang="en-US" sz="1700" b="1" dirty="0">
                <a:solidFill>
                  <a:schemeClr val="tx1"/>
                </a:solidFill>
              </a:rPr>
              <a:t>Tablero.deshacerMovimiento</a:t>
            </a:r>
            <a:endParaRPr lang="en-US" sz="1700" dirty="0"/>
          </a:p>
        </p:txBody>
      </p:sp>
      <p:sp>
        <p:nvSpPr>
          <p:cNvPr id="7" name="Text 5"/>
          <p:cNvSpPr txBox="1"/>
          <p:nvPr/>
        </p:nvSpPr>
        <p:spPr>
          <a:xfrm>
            <a:off x="7818120" y="1847088"/>
            <a:ext cx="3566160" cy="914400"/>
          </a:xfrm>
          <a:prstGeom prst="rect">
            <a:avLst/>
          </a:prstGeom>
          <a:noFill/>
          <a:ln/>
        </p:spPr>
        <p:txBody>
          <a:bodyPr wrap="square" lIns="0" tIns="0" rIns="0" bIns="0" rtlCol="0" anchor="t"/>
          <a:lstStyle/>
          <a:p>
            <a:pPr indent="0" marL="0">
              <a:buNone/>
            </a:pPr>
            <a:r>
              <a:rPr lang="en-US" sz="1400" dirty="0">
                <a:solidFill>
                  <a:schemeClr val="tx2"/>
                </a:solidFill>
              </a:rPr>
              <a:t>La pieza vuelve a su origen y la piezaCapturada se repone en el destino. El signo + o # desaparece con el nodo.</a:t>
            </a:r>
            <a:endParaRPr lang="en-US" sz="1400" dirty="0"/>
          </a:p>
        </p:txBody>
      </p:sp>
      <p:sp>
        <p:nvSpPr>
          <p:cNvPr id="8" name="Shape 6"/>
          <p:cNvSpPr/>
          <p:nvPr/>
        </p:nvSpPr>
        <p:spPr>
          <a:xfrm>
            <a:off x="7589520" y="3017520"/>
            <a:ext cx="402336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7818120" y="3182112"/>
            <a:ext cx="3566160" cy="365760"/>
          </a:xfrm>
          <a:prstGeom prst="rect">
            <a:avLst/>
          </a:prstGeom>
          <a:noFill/>
          <a:ln/>
        </p:spPr>
        <p:txBody>
          <a:bodyPr wrap="square" lIns="0" tIns="0" rIns="0" bIns="0" rtlCol="0" anchor="t"/>
          <a:lstStyle/>
          <a:p>
            <a:pPr indent="0" marL="0">
              <a:buNone/>
            </a:pPr>
            <a:r>
              <a:rPr lang="en-US" sz="1700" b="1" dirty="0">
                <a:solidFill>
                  <a:schemeClr val="tx1"/>
                </a:solidFill>
              </a:rPr>
              <a:t>Partidas online</a:t>
            </a:r>
            <a:endParaRPr lang="en-US" sz="1700" dirty="0"/>
          </a:p>
        </p:txBody>
      </p:sp>
      <p:sp>
        <p:nvSpPr>
          <p:cNvPr id="10" name="Text 8"/>
          <p:cNvSpPr txBox="1"/>
          <p:nvPr/>
        </p:nvSpPr>
        <p:spPr>
          <a:xfrm>
            <a:off x="7818120" y="3584448"/>
            <a:ext cx="3566160" cy="914400"/>
          </a:xfrm>
          <a:prstGeom prst="rect">
            <a:avLst/>
          </a:prstGeom>
          <a:noFill/>
          <a:ln/>
        </p:spPr>
        <p:txBody>
          <a:bodyPr wrap="square" lIns="0" tIns="0" rIns="0" bIns="0" rtlCol="0" anchor="t"/>
          <a:lstStyle/>
          <a:p>
            <a:pPr indent="0" marL="0">
              <a:buNone/>
            </a:pPr>
            <a:r>
              <a:rPr lang="en-US" sz="1400" dirty="0">
                <a:solidFill>
                  <a:schemeClr val="tx2"/>
                </a:solidFill>
              </a:rPr>
              <a:t>aNotaciones() recorre la lista y genera la cadena de jugadas para MySQL. El rival la compara con getTamanio(), que es O(1).</a:t>
            </a:r>
            <a:endParaRPr lang="en-US" sz="1400" dirty="0"/>
          </a:p>
        </p:txBody>
      </p:sp>
      <p:sp>
        <p:nvSpPr>
          <p:cNvPr id="11" name="Shape 9"/>
          <p:cNvSpPr/>
          <p:nvPr/>
        </p:nvSpPr>
        <p:spPr>
          <a:xfrm>
            <a:off x="7589520" y="4754880"/>
            <a:ext cx="4023360" cy="1417320"/>
          </a:xfrm>
          <a:prstGeom prst="roundRect">
            <a:avLst>
              <a:gd name="adj" fmla="val 5161"/>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7818120" y="4919472"/>
            <a:ext cx="3566160" cy="365760"/>
          </a:xfrm>
          <a:prstGeom prst="rect">
            <a:avLst/>
          </a:prstGeom>
          <a:noFill/>
          <a:ln/>
        </p:spPr>
        <p:txBody>
          <a:bodyPr wrap="square" lIns="0" tIns="0" rIns="0" bIns="0" rtlCol="0" anchor="t"/>
          <a:lstStyle/>
          <a:p>
            <a:pPr indent="0" marL="0">
              <a:buNone/>
            </a:pPr>
            <a:r>
              <a:rPr lang="en-US" sz="1700" b="1" dirty="0">
                <a:solidFill>
                  <a:schemeClr val="tx1"/>
                </a:solidFill>
              </a:rPr>
              <a:t>Detección del retroceso</a:t>
            </a:r>
            <a:endParaRPr lang="en-US" sz="1700" dirty="0"/>
          </a:p>
        </p:txBody>
      </p:sp>
      <p:sp>
        <p:nvSpPr>
          <p:cNvPr id="13" name="Text 11"/>
          <p:cNvSpPr txBox="1"/>
          <p:nvPr/>
        </p:nvSpPr>
        <p:spPr>
          <a:xfrm>
            <a:off x="7818120" y="5321808"/>
            <a:ext cx="3566160" cy="731520"/>
          </a:xfrm>
          <a:prstGeom prst="rect">
            <a:avLst/>
          </a:prstGeom>
          <a:noFill/>
          <a:ln/>
        </p:spPr>
        <p:txBody>
          <a:bodyPr wrap="square" lIns="0" tIns="0" rIns="0" bIns="0" rtlCol="0" anchor="t"/>
          <a:lstStyle/>
          <a:p>
            <a:pPr indent="0" marL="0">
              <a:buNone/>
            </a:pPr>
            <a:r>
              <a:rPr lang="en-US" sz="1400" dirty="0">
                <a:solidFill>
                  <a:schemeClr val="tx2"/>
                </a:solidFill>
              </a:rPr>
              <a:t>Si la base tiene menos jugadas que la lista local, el oponente regresó la suya y se deshace aquí también.</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1463040"/>
            <a:ext cx="2743200" cy="8229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05</a:t>
            </a:r>
            <a:endParaRPr lang="en-US" sz="5400" dirty="0"/>
          </a:p>
        </p:txBody>
      </p:sp>
      <p:sp>
        <p:nvSpPr>
          <p:cNvPr id="3" name="Text 0"/>
          <p:cNvSpPr/>
          <p:nvPr>
            <p:ph idx="100" type="title" hasCustomPrompt="1"/>
          </p:nvPr>
        </p:nvSpPr>
        <p:spPr>
          <a:xfrm>
            <a:off x="731520" y="2377440"/>
            <a:ext cx="8229600" cy="109728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Verificación</a:t>
            </a:r>
            <a:endParaRPr lang="en-US" sz="4000" dirty="0"/>
          </a:p>
        </p:txBody>
      </p:sp>
      <p:sp>
        <p:nvSpPr>
          <p:cNvPr id="4" name="Text 0"/>
          <p:cNvSpPr/>
          <p:nvPr>
            <p:ph idx="101" type="body" hasCustomPrompt="1"/>
          </p:nvPr>
        </p:nvSpPr>
        <p:spPr>
          <a:xfrm>
            <a:off x="731520" y="3520440"/>
            <a:ext cx="8229600" cy="822960"/>
          </a:xfrm>
          <a:prstGeom prst="rect">
            <a:avLst/>
          </a:prstGeom>
          <a:noFill/>
          <a:ln/>
        </p:spPr>
        <p:txBody>
          <a:bodyPr wrap="square" lIns="0" tIns="0" rIns="0" bIns="0" rtlCol="0" anchor="t"/>
          <a:lstStyle/>
          <a:p>
            <a:pPr indent="0" marL="0">
              <a:buNone/>
            </a:pPr>
            <a:r>
              <a:rPr lang="en-US" sz="2000" dirty="0">
                <a:solidFill>
                  <a:schemeClr val="accent1"/>
                </a:solidFill>
              </a:rPr>
              <a:t>Complejidad, pruebas y decisiones de diseño</a:t>
            </a:r>
            <a:endParaRPr lang="en-US" sz="2000" dirty="0"/>
          </a:p>
        </p:txBody>
      </p:sp>
      <p:sp>
        <p:nvSpPr>
          <p:cNvPr id="5" name="Shape 3"/>
          <p:cNvSpPr/>
          <p:nvPr/>
        </p:nvSpPr>
        <p:spPr>
          <a:xfrm>
            <a:off x="9052560" y="2011680"/>
            <a:ext cx="2194560" cy="2194560"/>
          </a:xfrm>
          <a:prstGeom prst="ellipse">
            <a:avLst/>
          </a:prstGeom>
          <a:solidFill>
            <a:schemeClr val="accent6"/>
          </a:solidFill>
          <a:ln w="12700">
            <a:solidFill>
              <a:schemeClr val="accent6"/>
            </a:solidFill>
            <a:prstDash val="solid"/>
          </a:ln>
        </p:spPr>
      </p:sp>
      <p:pic>
        <p:nvPicPr>
          <p:cNvPr id="6" name="Image 0" descr="rey blanco">    </p:cNvPr>
          <p:cNvPicPr>
            <a:picLocks noChangeAspect="1"/>
          </p:cNvPicPr>
          <p:nvPr/>
        </p:nvPicPr>
        <p:blipFill>
          <a:blip r:embed="rId1"/>
          <a:stretch>
            <a:fillRect/>
          </a:stretch>
        </p:blipFill>
        <p:spPr>
          <a:xfrm>
            <a:off x="9447581" y="2406701"/>
            <a:ext cx="1404518" cy="1404518"/>
          </a:xfrm>
          <a:prstGeom prst="rect">
            <a:avLst/>
          </a:prstGeom>
        </p:spPr>
      </p:pic>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Complejidad comparada</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869680" cy="914400"/>
        </p:xfrm>
        <a:graphic>
          <a:graphicData uri="http://schemas.openxmlformats.org/drawingml/2006/table">
            <a:tbl>
              <a:tblPr/>
              <a:tblGrid>
                <a:gridCol w="2651760"/>
                <a:gridCol w="2286000"/>
                <a:gridCol w="1737360"/>
                <a:gridCol w="2194560"/>
              </a:tblGrid>
              <a:tr h="457200">
                <a:tc>
                  <a:txBody>
                    <a:bodyPr/>
                    <a:lstStyle/>
                    <a:p>
                      <a:pPr indent="0" marL="0">
                        <a:buNone/>
                      </a:pPr>
                      <a:r>
                        <a:rPr lang="en-US" sz="1400" b="1" dirty="0">
                          <a:solidFill>
                            <a:schemeClr val="bg1"/>
                          </a:solidFill>
                        </a:rPr>
                        <a:t>Operación</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Arreglo / ArrayList</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Lista simple</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Lista doble (nuestra)</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Insertar al final</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O(1) amortizado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O(1)</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Insertar al inicio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O(1)</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O(1)</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Eliminar último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O(1)</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O(1)</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Eliminar primero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O(1)</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O(1)</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Editar último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O(1)</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O(1)</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Acceso por índice</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O(1)</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O(n/2)</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Memoria extra / elemento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 puntero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2 punteros</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029200"/>
            <a:ext cx="3657600" cy="274320"/>
          </a:xfrm>
          <a:prstGeom prst="rect">
            <a:avLst/>
          </a:prstGeom>
          <a:noFill/>
          <a:ln/>
        </p:spPr>
        <p:txBody>
          <a:bodyPr wrap="square" lIns="0" tIns="0" rIns="0" bIns="0" rtlCol="0" anchor="t"/>
          <a:lstStyle/>
          <a:p>
            <a:pPr indent="0" marL="0">
              <a:buNone/>
            </a:pPr>
            <a:r>
              <a:rPr lang="en-US" sz="1100" dirty="0">
                <a:solidFill>
                  <a:schemeClr val="accent5"/>
                </a:solidFill>
              </a:rPr>
              <a:t>* sin puntero a la cola</a:t>
            </a:r>
            <a:endParaRPr lang="en-US" sz="1100" dirty="0"/>
          </a:p>
        </p:txBody>
      </p:sp>
      <p:sp>
        <p:nvSpPr>
          <p:cNvPr id="5" name="Shape 2"/>
          <p:cNvSpPr/>
          <p:nvPr/>
        </p:nvSpPr>
        <p:spPr>
          <a:xfrm>
            <a:off x="9692640" y="1280160"/>
            <a:ext cx="1920240" cy="3657600"/>
          </a:xfrm>
          <a:prstGeom prst="roundRect">
            <a:avLst>
              <a:gd name="adj" fmla="val 3810"/>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9921240" y="1444752"/>
            <a:ext cx="1463040" cy="365760"/>
          </a:xfrm>
          <a:prstGeom prst="rect">
            <a:avLst/>
          </a:prstGeom>
          <a:noFill/>
          <a:ln/>
        </p:spPr>
        <p:txBody>
          <a:bodyPr wrap="square" lIns="0" tIns="0" rIns="0" bIns="0" rtlCol="0" anchor="t"/>
          <a:lstStyle/>
          <a:p>
            <a:pPr indent="0" marL="0">
              <a:buNone/>
            </a:pPr>
            <a:r>
              <a:rPr lang="en-US" sz="1700" b="1" dirty="0">
                <a:solidFill>
                  <a:schemeClr val="tx1"/>
                </a:solidFill>
              </a:rPr>
              <a:t>El historial</a:t>
            </a:r>
            <a:endParaRPr lang="en-US" sz="1700" dirty="0"/>
          </a:p>
        </p:txBody>
      </p:sp>
      <p:sp>
        <p:nvSpPr>
          <p:cNvPr id="7" name="Text 4"/>
          <p:cNvSpPr txBox="1"/>
          <p:nvPr/>
        </p:nvSpPr>
        <p:spPr>
          <a:xfrm>
            <a:off x="9921240" y="1847088"/>
            <a:ext cx="1463040" cy="2971800"/>
          </a:xfrm>
          <a:prstGeom prst="rect">
            <a:avLst/>
          </a:prstGeom>
          <a:noFill/>
          <a:ln/>
        </p:spPr>
        <p:txBody>
          <a:bodyPr wrap="square" lIns="0" tIns="0" rIns="0" bIns="0" rtlCol="0" anchor="t"/>
          <a:lstStyle/>
          <a:p>
            <a:pPr indent="0" marL="0">
              <a:buNone/>
            </a:pPr>
            <a:r>
              <a:rPr lang="en-US" sz="1400" dirty="0">
                <a:solidFill>
                  <a:schemeClr val="tx2"/>
                </a:solidFill>
              </a:rPr>
              <a:t>Inserta, edita y elimina al final, y recorre en orden: todas sus operaciones frecuentes son O(1).</a:t>
            </a:r>
            <a:endParaRPr lang="en-US" sz="1400" dirty="0"/>
          </a:p>
        </p:txBody>
      </p:sp>
      <p:sp>
        <p:nvSpPr>
          <p:cNvPr id="8" name="Shape 5"/>
          <p:cNvSpPr/>
          <p:nvPr/>
        </p:nvSpPr>
        <p:spPr>
          <a:xfrm>
            <a:off x="548640" y="5440680"/>
            <a:ext cx="11064240" cy="685800"/>
          </a:xfrm>
          <a:prstGeom prst="roundRect">
            <a:avLst>
              <a:gd name="adj" fmla="val 10667"/>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777240" y="5440680"/>
            <a:ext cx="10607040" cy="685800"/>
          </a:xfrm>
          <a:prstGeom prst="rect">
            <a:avLst/>
          </a:prstGeom>
          <a:noFill/>
          <a:ln/>
        </p:spPr>
        <p:txBody>
          <a:bodyPr wrap="square" lIns="0" tIns="0" rIns="0" bIns="0" rtlCol="0" anchor="ctr"/>
          <a:lstStyle/>
          <a:p>
            <a:pPr indent="0" marL="0">
              <a:buNone/>
            </a:pPr>
            <a:r>
              <a:rPr lang="en-US" sz="1600" b="1" dirty="0">
                <a:solidFill>
                  <a:schemeClr val="bg1"/>
                </a:solidFill>
              </a:rPr>
              <a:t>El Tablero sigue siendo Pieza[8][8]: ahí sí se necesita acceso directo O(1) por fila y columna.</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Pruebas: invariantes tras cada operación</a:t>
            </a:r>
            <a:endParaRPr lang="en-US" sz="3200" dirty="0"/>
          </a:p>
        </p:txBody>
      </p:sp>
      <p:sp>
        <p:nvSpPr>
          <p:cNvPr id="3" name="bloque de código"/>
          <p:cNvSpPr/>
          <p:nvPr/>
        </p:nvSpPr>
        <p:spPr>
          <a:xfrm>
            <a:off x="548640" y="1280160"/>
            <a:ext cx="6309360" cy="3032760"/>
          </a:xfrm>
          <a:prstGeom prst="roundRect">
            <a:avLst>
              <a:gd name="adj" fmla="val 1809"/>
            </a:avLst>
          </a:prstGeom>
          <a:solidFill>
            <a:schemeClr val="tx2"/>
          </a:solidFill>
          <a:ln w="12700">
            <a:solidFill>
              <a:schemeClr val="tx2"/>
            </a:solidFill>
            <a:prstDash val="solid"/>
          </a:ln>
        </p:spPr>
      </p:sp>
      <p:sp>
        <p:nvSpPr>
          <p:cNvPr id="4" name="Text 2"/>
          <p:cNvSpPr txBox="1"/>
          <p:nvPr/>
        </p:nvSpPr>
        <p:spPr>
          <a:xfrm>
            <a:off x="749808" y="1444752"/>
            <a:ext cx="5943600" cy="275844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boolean verificarInvariantes()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(tamanio == 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cabeza == null &amp;&amp; cola == null;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(cabeza.anterior != null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cola.siguiente != null) return false;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int contados = 0; Nodo&lt;T&gt; previo = null;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for (Nodo&lt;T&gt; n = cabeza; n != null; n = n.siguiente)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(n.anterior != previo) return false;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previo = 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(++contados &gt; tamanio) return false; </a:t>
            </a:r>
            <a:pPr indent="0" marL="0">
              <a:buNone/>
            </a:pPr>
            <a:r>
              <a:rPr lang="en-US" sz="1300" dirty="0">
                <a:solidFill>
                  <a:schemeClr val="accent1"/>
                </a:solidFill>
                <a:latin typeface="Courier New" pitchFamily="34" charset="0"/>
                <a:ea typeface="Courier New" pitchFamily="34" charset="-122"/>
                <a:cs typeface="Courier New" pitchFamily="34" charset="-120"/>
              </a:rPr>
              <a:t>// ciclo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contados == tamanio &amp;&amp; previo == cola;</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5" name="Text 3"/>
          <p:cNvSpPr txBox="1"/>
          <p:nvPr/>
        </p:nvSpPr>
        <p:spPr>
          <a:xfrm>
            <a:off x="548640" y="4526280"/>
            <a:ext cx="6309360" cy="320040"/>
          </a:xfrm>
          <a:prstGeom prst="rect">
            <a:avLst/>
          </a:prstGeom>
          <a:noFill/>
          <a:ln/>
        </p:spPr>
        <p:txBody>
          <a:bodyPr wrap="square" lIns="0" tIns="0" rIns="0" bIns="0" rtlCol="0" anchor="t"/>
          <a:lstStyle/>
          <a:p>
            <a:pPr indent="0" marL="0">
              <a:buNone/>
            </a:pPr>
            <a:r>
              <a:rPr lang="en-US" sz="1200" dirty="0">
                <a:solidFill>
                  <a:schemeClr val="accent5"/>
                </a:solidFill>
              </a:rPr>
              <a:t>Visibilidad de paquete: solo la usan las pruebas (test/dominio/estructuras).</a:t>
            </a:r>
            <a:endParaRPr lang="en-US" sz="1200" dirty="0"/>
          </a:p>
        </p:txBody>
      </p:sp>
      <p:sp>
        <p:nvSpPr>
          <p:cNvPr id="6" name="Shape 4"/>
          <p:cNvSpPr/>
          <p:nvPr/>
        </p:nvSpPr>
        <p:spPr>
          <a:xfrm>
            <a:off x="548640" y="4983480"/>
            <a:ext cx="630936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31520" y="5074920"/>
            <a:ext cx="6035040" cy="45720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java -cp "out;out-test" dominio.estructuras.PruebasListaDoblementeEnlazada</a:t>
            </a:r>
            <a:endParaRPr lang="en-US" sz="1200" dirty="0"/>
          </a:p>
        </p:txBody>
      </p:sp>
      <p:sp>
        <p:nvSpPr>
          <p:cNvPr id="8" name="Text 6"/>
          <p:cNvSpPr txBox="1"/>
          <p:nvPr/>
        </p:nvSpPr>
        <p:spPr>
          <a:xfrm>
            <a:off x="731520" y="5577840"/>
            <a:ext cx="6035040" cy="365760"/>
          </a:xfrm>
          <a:prstGeom prst="rect">
            <a:avLst/>
          </a:prstGeom>
          <a:noFill/>
          <a:ln/>
        </p:spPr>
        <p:txBody>
          <a:bodyPr wrap="square" lIns="0" tIns="0" rIns="0" bIns="0" rtlCol="0" anchor="t"/>
          <a:lstStyle/>
          <a:p>
            <a:pPr indent="0" marL="0">
              <a:buNone/>
            </a:pPr>
            <a:r>
              <a:rPr lang="en-US" sz="1300" dirty="0">
                <a:solidFill>
                  <a:schemeClr val="tx2"/>
                </a:solidFill>
              </a:rPr>
              <a:t>Sin JUnit ni dependencias externas.</a:t>
            </a:r>
            <a:endParaRPr lang="en-US" sz="1300" dirty="0"/>
          </a:p>
        </p:txBody>
      </p:sp>
      <p:sp>
        <p:nvSpPr>
          <p:cNvPr id="9" name="Shape 7"/>
          <p:cNvSpPr/>
          <p:nvPr/>
        </p:nvSpPr>
        <p:spPr>
          <a:xfrm>
            <a:off x="7132320" y="1280160"/>
            <a:ext cx="4480560" cy="4846320"/>
          </a:xfrm>
          <a:prstGeom prst="roundRect">
            <a:avLst>
              <a:gd name="adj" fmla="val 1633"/>
            </a:avLst>
          </a:prstGeom>
          <a:solidFill>
            <a:schemeClr val="tx1"/>
          </a:solidFill>
          <a:ln w="12700">
            <a:solidFill>
              <a:schemeClr val="tx1"/>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7406640" y="1463040"/>
            <a:ext cx="40233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15 / 15</a:t>
            </a:r>
            <a:endParaRPr lang="en-US" sz="5400" dirty="0"/>
          </a:p>
        </p:txBody>
      </p:sp>
      <p:sp>
        <p:nvSpPr>
          <p:cNvPr id="11" name="Text 9"/>
          <p:cNvSpPr txBox="1"/>
          <p:nvPr/>
        </p:nvSpPr>
        <p:spPr>
          <a:xfrm>
            <a:off x="7406640" y="2377440"/>
            <a:ext cx="4023360" cy="365760"/>
          </a:xfrm>
          <a:prstGeom prst="rect">
            <a:avLst/>
          </a:prstGeom>
          <a:noFill/>
          <a:ln/>
        </p:spPr>
        <p:txBody>
          <a:bodyPr wrap="square" lIns="0" tIns="0" rIns="0" bIns="0" rtlCol="0" anchor="t"/>
          <a:lstStyle/>
          <a:p>
            <a:pPr indent="0" marL="0">
              <a:buNone/>
            </a:pPr>
            <a:r>
              <a:rPr lang="en-US" sz="1700" dirty="0">
                <a:solidFill>
                  <a:schemeClr val="bg1"/>
                </a:solidFill>
              </a:rPr>
              <a:t>pruebas superadas</a:t>
            </a:r>
            <a:endParaRPr lang="en-US" sz="1700" dirty="0"/>
          </a:p>
        </p:txBody>
      </p:sp>
      <p:sp>
        <p:nvSpPr>
          <p:cNvPr id="12" name="Text 10"/>
          <p:cNvSpPr txBox="1"/>
          <p:nvPr/>
        </p:nvSpPr>
        <p:spPr>
          <a:xfrm>
            <a:off x="7406640" y="2880360"/>
            <a:ext cx="406908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Crear: extremos, un nodo, insertarEn</a:t>
            </a:r>
            <a:endParaRPr lang="en-US" sz="1400" dirty="0"/>
          </a:p>
          <a:p>
            <a:pPr marL="342900" indent="-342900">
              <a:spcAft>
                <a:spcPts val="600"/>
              </a:spcAft>
              <a:buSzPct val="100000"/>
              <a:buChar char="•"/>
            </a:pPr>
            <a:r>
              <a:rPr lang="en-US" sz="1400" dirty="0">
                <a:solidFill>
                  <a:schemeClr val="bg1"/>
                </a:solidFill>
              </a:rPr>
              <a:t>Consultar: obtener en ambas mitades</a:t>
            </a:r>
            <a:endParaRPr lang="en-US" sz="1400" dirty="0"/>
          </a:p>
          <a:p>
            <a:pPr marL="342900" indent="-342900">
              <a:spcAft>
                <a:spcPts val="600"/>
              </a:spcAft>
              <a:buSzPct val="100000"/>
              <a:buChar char="•"/>
            </a:pPr>
            <a:r>
              <a:rPr lang="en-US" sz="1400" dirty="0">
                <a:solidFill>
                  <a:schemeClr val="bg1"/>
                </a:solidFill>
              </a:rPr>
              <a:t>Editar sin cambiar la estructura</a:t>
            </a:r>
            <a:endParaRPr lang="en-US" sz="1400" dirty="0"/>
          </a:p>
          <a:p>
            <a:pPr marL="342900" indent="-342900">
              <a:spcAft>
                <a:spcPts val="600"/>
              </a:spcAft>
              <a:buSzPct val="100000"/>
              <a:buChar char="•"/>
            </a:pPr>
            <a:r>
              <a:rPr lang="en-US" sz="1400" dirty="0">
                <a:solidFill>
                  <a:schemeClr val="bg1"/>
                </a:solidFill>
              </a:rPr>
              <a:t>Eliminar: extremos, medio, vaciar</a:t>
            </a:r>
            <a:endParaRPr lang="en-US" sz="1400" dirty="0"/>
          </a:p>
          <a:p>
            <a:pPr marL="342900" indent="-342900">
              <a:spcAft>
                <a:spcPts val="600"/>
              </a:spcAft>
              <a:buSzPct val="100000"/>
              <a:buChar char="•"/>
            </a:pPr>
            <a:r>
              <a:rPr lang="en-US" sz="1400" dirty="0">
                <a:solidFill>
                  <a:schemeClr val="bg1"/>
                </a:solidFill>
              </a:rPr>
              <a:t>Precondiciones no corrompen la lista</a:t>
            </a:r>
            <a:endParaRPr lang="en-US" sz="1400" dirty="0"/>
          </a:p>
          <a:p>
            <a:pPr marL="342900" indent="-342900">
              <a:spcAft>
                <a:spcPts val="600"/>
              </a:spcAft>
              <a:buSzPct val="100000"/>
              <a:buChar char="•"/>
            </a:pPr>
            <a:r>
              <a:rPr lang="en-US" sz="1400" dirty="0">
                <a:solidFill>
                  <a:schemeClr val="bg1"/>
                </a:solidFill>
              </a:rPr>
              <a:t>Iteradores inverso y fail-fast</a:t>
            </a:r>
            <a:endParaRPr lang="en-US" sz="1400" dirty="0"/>
          </a:p>
          <a:p>
            <a:pPr marL="342900" indent="-342900">
              <a:spcAft>
                <a:spcPts val="600"/>
              </a:spcAft>
              <a:buSzPct val="100000"/>
              <a:buChar char="•"/>
            </a:pPr>
            <a:r>
              <a:rPr lang="en-US" sz="1400" dirty="0">
                <a:solidFill>
                  <a:schemeClr val="bg1"/>
                </a:solidFill>
              </a:rPr>
              <a:t>Partida real: captura, regreso y mate h5xf7#</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Decisiones de diseño</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931920"/>
                <a:gridCol w="7132320"/>
              </a:tblGrid>
              <a:tr h="512064">
                <a:tc>
                  <a:txBody>
                    <a:bodyPr/>
                    <a:lstStyle/>
                    <a:p>
                      <a:pPr indent="0" marL="0">
                        <a:buNone/>
                      </a:pPr>
                      <a:r>
                        <a:rPr lang="en-US" sz="1400" b="1" dirty="0">
                          <a:solidFill>
                            <a:schemeClr val="bg1"/>
                          </a:solidFill>
                        </a:rPr>
                        <a:t>Decisión</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Motivo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tx2"/>
                    </a:solidFill>
                  </a:tcPr>
                </a:tc>
              </a:tr>
              <a:tr h="512064">
                <a:tc>
                  <a:txBody>
                    <a:bodyPr/>
                    <a:lstStyle/>
                    <a:p>
                      <a:pPr indent="0" marL="0">
                        <a:buNone/>
                      </a:pPr>
                      <a:r>
                        <a:rPr lang="en-US" sz="1400" dirty="0">
                          <a:solidFill>
                            <a:schemeClr val="tx1"/>
                          </a:solidFill>
                        </a:rPr>
                        <a:t>Interfaz TADLista&lt;T&gt; separada</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Programar contra el contrato; la implementación se puede cambiar</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Nodo private static anidado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Punteros inaccesibles desde fuera; sin referencia oculta a la lista</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Un solo método desenlazar</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Toda la eliminación en un lugar: 4 casos con 2 if</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nodoEn bidireccional</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Aprovecha el doble enlace: a lo sumo n/2 pasos</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Excepciones en precondiciones</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Fallar rápido; la lista nunca queda inconsistente</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Iteradores fail-fast</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Detectan modificaciones durante el recorrido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Movimiento inmutable + conEstado</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Editar reemplaza el dato completo; nadie altera una jugada guardada</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Historial restringe el TDA</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Solo expone operaciones válidas en ajedrez</a:t>
                      </a:r>
                      <a:endParaRPr lang="en-US" sz="1400" dirty="0"/>
                    </a:p>
                  </a:txBody>
                  <a:tcPr marL="91440" marR="91440" marT="0" marB="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Conclusiones</a:t>
            </a:r>
            <a:endParaRPr lang="en-US" sz="3600" dirty="0"/>
          </a:p>
        </p:txBody>
      </p:sp>
      <p:sp>
        <p:nvSpPr>
          <p:cNvPr id="3" name="Shape 1"/>
          <p:cNvSpPr/>
          <p:nvPr/>
        </p:nvSpPr>
        <p:spPr>
          <a:xfrm>
            <a:off x="548640" y="1737360"/>
            <a:ext cx="2606040" cy="3383280"/>
          </a:xfrm>
          <a:prstGeom prst="roundRect">
            <a:avLst>
              <a:gd name="adj" fmla="val 2807"/>
            </a:avLst>
          </a:prstGeom>
          <a:solidFill>
            <a:schemeClr val="tx2"/>
          </a:solidFill>
          <a:ln w="12700">
            <a:solidFill>
              <a:schemeClr val="tx2"/>
            </a:solidFill>
            <a:prstDash val="solid"/>
          </a:ln>
        </p:spPr>
      </p:sp>
      <p:sp>
        <p:nvSpPr>
          <p:cNvPr id="4" name="Shape 2"/>
          <p:cNvSpPr/>
          <p:nvPr/>
        </p:nvSpPr>
        <p:spPr>
          <a:xfrm>
            <a:off x="822960" y="2057400"/>
            <a:ext cx="868680" cy="868680"/>
          </a:xfrm>
          <a:prstGeom prst="ellipse">
            <a:avLst/>
          </a:prstGeom>
          <a:solidFill>
            <a:schemeClr val="accent6"/>
          </a:solidFill>
          <a:ln w="12700">
            <a:solidFill>
              <a:schemeClr val="accent6"/>
            </a:solidFill>
            <a:prstDash val="solid"/>
          </a:ln>
        </p:spPr>
      </p:sp>
      <p:pic>
        <p:nvPicPr>
          <p:cNvPr id="5" name="Image 0" descr="rey blanco">    </p:cNvPr>
          <p:cNvPicPr>
            <a:picLocks noChangeAspect="1"/>
          </p:cNvPicPr>
          <p:nvPr/>
        </p:nvPicPr>
        <p:blipFill>
          <a:blip r:embed="rId1"/>
          <a:stretch>
            <a:fillRect/>
          </a:stretch>
        </p:blipFill>
        <p:spPr>
          <a:xfrm>
            <a:off x="979322" y="2213762"/>
            <a:ext cx="555955" cy="555955"/>
          </a:xfrm>
          <a:prstGeom prst="rect">
            <a:avLst/>
          </a:prstGeom>
        </p:spPr>
      </p:pic>
      <p:sp>
        <p:nvSpPr>
          <p:cNvPr id="6" name="Text 3"/>
          <p:cNvSpPr txBox="1"/>
          <p:nvPr/>
        </p:nvSpPr>
        <p:spPr>
          <a:xfrm>
            <a:off x="822960" y="3108960"/>
            <a:ext cx="2057400" cy="777240"/>
          </a:xfrm>
          <a:prstGeom prst="rect">
            <a:avLst/>
          </a:prstGeom>
          <a:noFill/>
          <a:ln/>
        </p:spPr>
        <p:txBody>
          <a:bodyPr wrap="square" lIns="0" tIns="0" rIns="0" bIns="0" rtlCol="0" anchor="t"/>
          <a:lstStyle/>
          <a:p>
            <a:pPr indent="0" marL="0">
              <a:buNone/>
            </a:pPr>
            <a:r>
              <a:rPr lang="en-US" sz="2000" b="1" dirty="0">
                <a:solidFill>
                  <a:schemeClr val="accent1"/>
                </a:solidFill>
              </a:rPr>
              <a:t>TDA real</a:t>
            </a:r>
            <a:endParaRPr lang="en-US" sz="2000" dirty="0"/>
          </a:p>
        </p:txBody>
      </p:sp>
      <p:sp>
        <p:nvSpPr>
          <p:cNvPr id="7" name="Text 4"/>
          <p:cNvSpPr txBox="1"/>
          <p:nvPr/>
        </p:nvSpPr>
        <p:spPr>
          <a:xfrm>
            <a:off x="822960" y="3931920"/>
            <a:ext cx="2057400" cy="1051560"/>
          </a:xfrm>
          <a:prstGeom prst="rect">
            <a:avLst/>
          </a:prstGeom>
          <a:noFill/>
          <a:ln/>
        </p:spPr>
        <p:txBody>
          <a:bodyPr wrap="square" lIns="0" tIns="0" rIns="0" bIns="0" rtlCol="0" anchor="t"/>
          <a:lstStyle/>
          <a:p>
            <a:pPr indent="0" marL="0">
              <a:buNone/>
            </a:pPr>
            <a:r>
              <a:rPr lang="en-US" sz="1500" dirty="0">
                <a:solidFill>
                  <a:schemeClr val="bg1"/>
                </a:solidFill>
              </a:rPr>
              <a:t>Contrato público, variables y métodos privados.</a:t>
            </a:r>
            <a:endParaRPr lang="en-US" sz="1500" dirty="0"/>
          </a:p>
        </p:txBody>
      </p:sp>
      <p:sp>
        <p:nvSpPr>
          <p:cNvPr id="8" name="Shape 5"/>
          <p:cNvSpPr/>
          <p:nvPr/>
        </p:nvSpPr>
        <p:spPr>
          <a:xfrm>
            <a:off x="3367735" y="1737360"/>
            <a:ext cx="2606040" cy="3383280"/>
          </a:xfrm>
          <a:prstGeom prst="roundRect">
            <a:avLst>
              <a:gd name="adj" fmla="val 2807"/>
            </a:avLst>
          </a:prstGeom>
          <a:solidFill>
            <a:schemeClr val="tx2"/>
          </a:solidFill>
          <a:ln w="12700">
            <a:solidFill>
              <a:schemeClr val="tx2"/>
            </a:solidFill>
            <a:prstDash val="solid"/>
          </a:ln>
        </p:spPr>
      </p:sp>
      <p:sp>
        <p:nvSpPr>
          <p:cNvPr id="9" name="Shape 6"/>
          <p:cNvSpPr/>
          <p:nvPr/>
        </p:nvSpPr>
        <p:spPr>
          <a:xfrm>
            <a:off x="3642055" y="2057400"/>
            <a:ext cx="868680" cy="868680"/>
          </a:xfrm>
          <a:prstGeom prst="ellipse">
            <a:avLst/>
          </a:prstGeom>
          <a:solidFill>
            <a:schemeClr val="accent6"/>
          </a:solidFill>
          <a:ln w="12700">
            <a:solidFill>
              <a:schemeClr val="accent6"/>
            </a:solidFill>
            <a:prstDash val="solid"/>
          </a:ln>
        </p:spPr>
      </p:sp>
      <p:pic>
        <p:nvPicPr>
          <p:cNvPr id="10" name="Image 1" descr="torre blanco">    </p:cNvPr>
          <p:cNvPicPr>
            <a:picLocks noChangeAspect="1"/>
          </p:cNvPicPr>
          <p:nvPr/>
        </p:nvPicPr>
        <p:blipFill>
          <a:blip r:embed="rId2"/>
          <a:stretch>
            <a:fillRect/>
          </a:stretch>
        </p:blipFill>
        <p:spPr>
          <a:xfrm>
            <a:off x="3798418" y="2213762"/>
            <a:ext cx="555955" cy="555955"/>
          </a:xfrm>
          <a:prstGeom prst="rect">
            <a:avLst/>
          </a:prstGeom>
        </p:spPr>
      </p:pic>
      <p:sp>
        <p:nvSpPr>
          <p:cNvPr id="11" name="Text 7"/>
          <p:cNvSpPr txBox="1"/>
          <p:nvPr/>
        </p:nvSpPr>
        <p:spPr>
          <a:xfrm>
            <a:off x="3642055" y="3108960"/>
            <a:ext cx="2057400" cy="777240"/>
          </a:xfrm>
          <a:prstGeom prst="rect">
            <a:avLst/>
          </a:prstGeom>
          <a:noFill/>
          <a:ln/>
        </p:spPr>
        <p:txBody>
          <a:bodyPr wrap="square" lIns="0" tIns="0" rIns="0" bIns="0" rtlCol="0" anchor="t"/>
          <a:lstStyle/>
          <a:p>
            <a:pPr indent="0" marL="0">
              <a:buNone/>
            </a:pPr>
            <a:r>
              <a:rPr lang="en-US" sz="2000" b="1" dirty="0">
                <a:solidFill>
                  <a:schemeClr val="accent1"/>
                </a:solidFill>
              </a:rPr>
              <a:t>Punteros seguros</a:t>
            </a:r>
            <a:endParaRPr lang="en-US" sz="2000" dirty="0"/>
          </a:p>
        </p:txBody>
      </p:sp>
      <p:sp>
        <p:nvSpPr>
          <p:cNvPr id="12" name="Text 8"/>
          <p:cNvSpPr txBox="1"/>
          <p:nvPr/>
        </p:nvSpPr>
        <p:spPr>
          <a:xfrm>
            <a:off x="3642055" y="3931920"/>
            <a:ext cx="2057400" cy="1051560"/>
          </a:xfrm>
          <a:prstGeom prst="rect">
            <a:avLst/>
          </a:prstGeom>
          <a:noFill/>
          <a:ln/>
        </p:spPr>
        <p:txBody>
          <a:bodyPr wrap="square" lIns="0" tIns="0" rIns="0" bIns="0" rtlCol="0" anchor="t"/>
          <a:lstStyle/>
          <a:p>
            <a:pPr indent="0" marL="0">
              <a:buNone/>
            </a:pPr>
            <a:r>
              <a:rPr lang="en-US" sz="1500" dirty="0">
                <a:solidFill>
                  <a:schemeClr val="bg1"/>
                </a:solidFill>
              </a:rPr>
              <a:t>Solo la lista mueve anterior y siguiente; invariantes verificados.</a:t>
            </a:r>
            <a:endParaRPr lang="en-US" sz="1500" dirty="0"/>
          </a:p>
        </p:txBody>
      </p:sp>
      <p:sp>
        <p:nvSpPr>
          <p:cNvPr id="13" name="Shape 9"/>
          <p:cNvSpPr/>
          <p:nvPr/>
        </p:nvSpPr>
        <p:spPr>
          <a:xfrm>
            <a:off x="6186830" y="1737360"/>
            <a:ext cx="2606040" cy="3383280"/>
          </a:xfrm>
          <a:prstGeom prst="roundRect">
            <a:avLst>
              <a:gd name="adj" fmla="val 2807"/>
            </a:avLst>
          </a:prstGeom>
          <a:solidFill>
            <a:schemeClr val="tx2"/>
          </a:solidFill>
          <a:ln w="12700">
            <a:solidFill>
              <a:schemeClr val="tx2"/>
            </a:solidFill>
            <a:prstDash val="solid"/>
          </a:ln>
        </p:spPr>
      </p:sp>
      <p:sp>
        <p:nvSpPr>
          <p:cNvPr id="14" name="Shape 10"/>
          <p:cNvSpPr/>
          <p:nvPr/>
        </p:nvSpPr>
        <p:spPr>
          <a:xfrm>
            <a:off x="6461150" y="2057400"/>
            <a:ext cx="868680" cy="868680"/>
          </a:xfrm>
          <a:prstGeom prst="ellipse">
            <a:avLst/>
          </a:prstGeom>
          <a:solidFill>
            <a:schemeClr val="accent6"/>
          </a:solidFill>
          <a:ln w="12700">
            <a:solidFill>
              <a:schemeClr val="accent6"/>
            </a:solidFill>
            <a:prstDash val="solid"/>
          </a:ln>
        </p:spPr>
      </p:sp>
      <p:pic>
        <p:nvPicPr>
          <p:cNvPr id="15" name="Image 2" descr="caballo blanco">    </p:cNvPr>
          <p:cNvPicPr>
            <a:picLocks noChangeAspect="1"/>
          </p:cNvPicPr>
          <p:nvPr/>
        </p:nvPicPr>
        <p:blipFill>
          <a:blip r:embed="rId3"/>
          <a:stretch>
            <a:fillRect/>
          </a:stretch>
        </p:blipFill>
        <p:spPr>
          <a:xfrm>
            <a:off x="6617513" y="2213762"/>
            <a:ext cx="555955" cy="555955"/>
          </a:xfrm>
          <a:prstGeom prst="rect">
            <a:avLst/>
          </a:prstGeom>
        </p:spPr>
      </p:pic>
      <p:sp>
        <p:nvSpPr>
          <p:cNvPr id="16" name="Text 11"/>
          <p:cNvSpPr txBox="1"/>
          <p:nvPr/>
        </p:nvSpPr>
        <p:spPr>
          <a:xfrm>
            <a:off x="6461150" y="3108960"/>
            <a:ext cx="2057400" cy="777240"/>
          </a:xfrm>
          <a:prstGeom prst="rect">
            <a:avLst/>
          </a:prstGeom>
          <a:noFill/>
          <a:ln/>
        </p:spPr>
        <p:txBody>
          <a:bodyPr wrap="square" lIns="0" tIns="0" rIns="0" bIns="0" rtlCol="0" anchor="t"/>
          <a:lstStyle/>
          <a:p>
            <a:pPr indent="0" marL="0">
              <a:buNone/>
            </a:pPr>
            <a:r>
              <a:rPr lang="en-US" sz="2000" b="1" dirty="0">
                <a:solidFill>
                  <a:schemeClr val="accent1"/>
                </a:solidFill>
              </a:rPr>
              <a:t>O(1) donde importa</a:t>
            </a:r>
            <a:endParaRPr lang="en-US" sz="2000" dirty="0"/>
          </a:p>
        </p:txBody>
      </p:sp>
      <p:sp>
        <p:nvSpPr>
          <p:cNvPr id="17" name="Text 12"/>
          <p:cNvSpPr txBox="1"/>
          <p:nvPr/>
        </p:nvSpPr>
        <p:spPr>
          <a:xfrm>
            <a:off x="6461150" y="3931920"/>
            <a:ext cx="2057400" cy="1051560"/>
          </a:xfrm>
          <a:prstGeom prst="rect">
            <a:avLst/>
          </a:prstGeom>
          <a:noFill/>
          <a:ln/>
        </p:spPr>
        <p:txBody>
          <a:bodyPr wrap="square" lIns="0" tIns="0" rIns="0" bIns="0" rtlCol="0" anchor="t"/>
          <a:lstStyle/>
          <a:p>
            <a:pPr indent="0" marL="0">
              <a:buNone/>
            </a:pPr>
            <a:r>
              <a:rPr lang="en-US" sz="1500" dirty="0">
                <a:solidFill>
                  <a:schemeClr val="bg1"/>
                </a:solidFill>
              </a:rPr>
              <a:t>Registrar, anotar y regresar jugadas sin recorrer.</a:t>
            </a:r>
            <a:endParaRPr lang="en-US" sz="1500" dirty="0"/>
          </a:p>
        </p:txBody>
      </p:sp>
      <p:sp>
        <p:nvSpPr>
          <p:cNvPr id="18" name="Shape 13"/>
          <p:cNvSpPr/>
          <p:nvPr/>
        </p:nvSpPr>
        <p:spPr>
          <a:xfrm>
            <a:off x="9005926" y="1737360"/>
            <a:ext cx="2606040" cy="3383280"/>
          </a:xfrm>
          <a:prstGeom prst="roundRect">
            <a:avLst>
              <a:gd name="adj" fmla="val 2807"/>
            </a:avLst>
          </a:prstGeom>
          <a:solidFill>
            <a:schemeClr val="tx2"/>
          </a:solidFill>
          <a:ln w="12700">
            <a:solidFill>
              <a:schemeClr val="tx2"/>
            </a:solidFill>
            <a:prstDash val="solid"/>
          </a:ln>
        </p:spPr>
      </p:sp>
      <p:sp>
        <p:nvSpPr>
          <p:cNvPr id="19" name="Shape 14"/>
          <p:cNvSpPr/>
          <p:nvPr/>
        </p:nvSpPr>
        <p:spPr>
          <a:xfrm>
            <a:off x="9280246" y="2057400"/>
            <a:ext cx="868680" cy="868680"/>
          </a:xfrm>
          <a:prstGeom prst="ellipse">
            <a:avLst/>
          </a:prstGeom>
          <a:solidFill>
            <a:schemeClr val="accent6"/>
          </a:solidFill>
          <a:ln w="12700">
            <a:solidFill>
              <a:schemeClr val="accent6"/>
            </a:solidFill>
            <a:prstDash val="solid"/>
          </a:ln>
        </p:spPr>
      </p:sp>
      <p:pic>
        <p:nvPicPr>
          <p:cNvPr id="20" name="Image 3" descr="reina blanco">    </p:cNvPr>
          <p:cNvPicPr>
            <a:picLocks noChangeAspect="1"/>
          </p:cNvPicPr>
          <p:nvPr/>
        </p:nvPicPr>
        <p:blipFill>
          <a:blip r:embed="rId4"/>
          <a:stretch>
            <a:fillRect/>
          </a:stretch>
        </p:blipFill>
        <p:spPr>
          <a:xfrm>
            <a:off x="9436608" y="2213762"/>
            <a:ext cx="555955" cy="555955"/>
          </a:xfrm>
          <a:prstGeom prst="rect">
            <a:avLst/>
          </a:prstGeom>
        </p:spPr>
      </p:pic>
      <p:sp>
        <p:nvSpPr>
          <p:cNvPr id="21" name="Text 15"/>
          <p:cNvSpPr txBox="1"/>
          <p:nvPr/>
        </p:nvSpPr>
        <p:spPr>
          <a:xfrm>
            <a:off x="9280246" y="3108960"/>
            <a:ext cx="2057400" cy="777240"/>
          </a:xfrm>
          <a:prstGeom prst="rect">
            <a:avLst/>
          </a:prstGeom>
          <a:noFill/>
          <a:ln/>
        </p:spPr>
        <p:txBody>
          <a:bodyPr wrap="square" lIns="0" tIns="0" rIns="0" bIns="0" rtlCol="0" anchor="t"/>
          <a:lstStyle/>
          <a:p>
            <a:pPr indent="0" marL="0">
              <a:buNone/>
            </a:pPr>
            <a:r>
              <a:rPr lang="en-US" sz="2000" b="1" dirty="0">
                <a:solidFill>
                  <a:schemeClr val="accent1"/>
                </a:solidFill>
              </a:rPr>
              <a:t>Integrado al juego</a:t>
            </a:r>
            <a:endParaRPr lang="en-US" sz="2000" dirty="0"/>
          </a:p>
        </p:txBody>
      </p:sp>
      <p:sp>
        <p:nvSpPr>
          <p:cNvPr id="22" name="Text 16"/>
          <p:cNvSpPr txBox="1"/>
          <p:nvPr/>
        </p:nvSpPr>
        <p:spPr>
          <a:xfrm>
            <a:off x="9280246" y="3931920"/>
            <a:ext cx="2057400" cy="1051560"/>
          </a:xfrm>
          <a:prstGeom prst="rect">
            <a:avLst/>
          </a:prstGeom>
          <a:noFill/>
          <a:ln/>
        </p:spPr>
        <p:txBody>
          <a:bodyPr wrap="square" lIns="0" tIns="0" rIns="0" bIns="0" rtlCol="0" anchor="t"/>
          <a:lstStyle/>
          <a:p>
            <a:pPr indent="0" marL="0">
              <a:buNone/>
            </a:pPr>
            <a:r>
              <a:rPr lang="en-US" sz="1500" dirty="0">
                <a:solidFill>
                  <a:schemeClr val="bg1"/>
                </a:solidFill>
              </a:rPr>
              <a:t>Crear, editar, eliminar y recorrer tienen un uso concreto.</a:t>
            </a:r>
            <a:endParaRPr lang="en-US" sz="1500" dirty="0"/>
          </a:p>
        </p:txBody>
      </p:sp>
      <p:sp>
        <p:nvSpPr>
          <p:cNvPr id="23" name="Text 17"/>
          <p:cNvSpPr txBox="1"/>
          <p:nvPr/>
        </p:nvSpPr>
        <p:spPr>
          <a:xfrm>
            <a:off x="548640" y="5486400"/>
            <a:ext cx="11064240" cy="54864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Gracias · ¿Preguntas?</a:t>
            </a:r>
            <a:endParaRPr lang="en-US" sz="2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Chess Java">
  <a:themeElements>
    <a:clrScheme name="Chess Java">
      <a:dk1>
        <a:srgbClr val="1B1E23"/>
      </a:dk1>
      <a:lt1>
        <a:srgbClr val="FFFFFF"/>
      </a:lt1>
      <a:dk2>
        <a:srgbClr val="2F3640"/>
      </a:dk2>
      <a:lt2>
        <a:srgbClr val="F1F3F5"/>
      </a:lt2>
      <a:accent1>
        <a:srgbClr val="C9962B"/>
      </a:accent1>
      <a:accent2>
        <a:srgbClr val="4E7D4F"/>
      </a:accent2>
      <a:accent3>
        <a:srgbClr val="B23A48"/>
      </a:accent3>
      <a:accent4>
        <a:srgbClr val="3F6E9E"/>
      </a:accent4>
      <a:accent5>
        <a:srgbClr val="7A828C"/>
      </a:accent5>
      <a:accent6>
        <a:srgbClr val="EAD9B0"/>
      </a:accent6>
      <a:hlink>
        <a:srgbClr val="3F6E9E"/>
      </a:hlink>
      <a:folHlink>
        <a:srgbClr val="6D2E46"/>
      </a:folHlink>
    </a:clrScheme>
    <a:fontScheme name="Chess Jav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TDA Lista doblemente enlazada en Chess Java</dc:title>
  <dc:subject>PptxGenJS Presentation</dc:subject>
  <dc:creator>Grupo Java POO</dc:creator>
  <cp:lastModifiedBy>Grupo Java POO</cp:lastModifiedBy>
  <cp:revision>1</cp:revision>
  <dcterms:created xsi:type="dcterms:W3CDTF">2026-10-17T06:11:41Z</dcterms:created>
  <dcterms:modified xsi:type="dcterms:W3CDTF">2026-10-17T06:11:41Z</dcterms:modified>
</cp:coreProperties>
</file>